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1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24384000" cy="13716000"/>
  <p:notesSz cx="6858000" cy="9144000"/>
  <p:embeddedFontLst>
    <p:embeddedFont>
      <p:font typeface="Helvetica Neue" panose="020B0604020202020204" charset="0"/>
      <p:regular r:id="rId13"/>
      <p:bold r:id="rId14"/>
      <p:italic r:id="rId15"/>
      <p:bold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696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7E13E09-0D9A-48CB-9212-153354401433}">
  <a:tblStyle styleId="{C7E13E09-0D9A-48CB-9212-153354401433}" styleName="Table_0">
    <a:wholeTbl>
      <a:tcTxStyle b="off" i="off">
        <a:font>
          <a:latin typeface="Helvetica"/>
          <a:ea typeface="Helvetica"/>
          <a:cs typeface="Helvetica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569" autoAdjust="0"/>
  </p:normalViewPr>
  <p:slideViewPr>
    <p:cSldViewPr snapToGrid="0">
      <p:cViewPr varScale="1">
        <p:scale>
          <a:sx n="53" d="100"/>
          <a:sy n="53" d="100"/>
        </p:scale>
        <p:origin x="798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>
          <a:extLst>
            <a:ext uri="{FF2B5EF4-FFF2-40B4-BE49-F238E27FC236}">
              <a16:creationId xmlns:a16="http://schemas.microsoft.com/office/drawing/2014/main" id="{5C70C662-85C1-3BA9-5881-4A8999196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:notes">
            <a:extLst>
              <a:ext uri="{FF2B5EF4-FFF2-40B4-BE49-F238E27FC236}">
                <a16:creationId xmlns:a16="http://schemas.microsoft.com/office/drawing/2014/main" id="{F62DD2C1-4C5A-ED88-5759-546FAB499BC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2:notes">
            <a:extLst>
              <a:ext uri="{FF2B5EF4-FFF2-40B4-BE49-F238E27FC236}">
                <a16:creationId xmlns:a16="http://schemas.microsoft.com/office/drawing/2014/main" id="{542E010C-8C6B-645C-E8A7-77CC3F859E8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945027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>
          <a:extLst>
            <a:ext uri="{FF2B5EF4-FFF2-40B4-BE49-F238E27FC236}">
              <a16:creationId xmlns:a16="http://schemas.microsoft.com/office/drawing/2014/main" id="{BC331CE6-0B58-9A4B-2E94-162FDA6C23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:notes">
            <a:extLst>
              <a:ext uri="{FF2B5EF4-FFF2-40B4-BE49-F238E27FC236}">
                <a16:creationId xmlns:a16="http://schemas.microsoft.com/office/drawing/2014/main" id="{A85A99D4-35C8-0684-AA84-67F98925E5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2:notes">
            <a:extLst>
              <a:ext uri="{FF2B5EF4-FFF2-40B4-BE49-F238E27FC236}">
                <a16:creationId xmlns:a16="http://schemas.microsoft.com/office/drawing/2014/main" id="{11335024-C7E0-95C0-EC90-10A04926E58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096788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>
          <a:extLst>
            <a:ext uri="{FF2B5EF4-FFF2-40B4-BE49-F238E27FC236}">
              <a16:creationId xmlns:a16="http://schemas.microsoft.com/office/drawing/2014/main" id="{AE9C96F6-2F51-AE54-0836-4BF5CFF7BA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:notes">
            <a:extLst>
              <a:ext uri="{FF2B5EF4-FFF2-40B4-BE49-F238E27FC236}">
                <a16:creationId xmlns:a16="http://schemas.microsoft.com/office/drawing/2014/main" id="{042CD4C3-A0D5-C8F2-8B08-1D8A37DF2E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2:notes">
            <a:extLst>
              <a:ext uri="{FF2B5EF4-FFF2-40B4-BE49-F238E27FC236}">
                <a16:creationId xmlns:a16="http://schemas.microsoft.com/office/drawing/2014/main" id="{B23EC69E-72A4-2D62-EEF1-AD74E9EA1C7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580734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>
          <a:extLst>
            <a:ext uri="{FF2B5EF4-FFF2-40B4-BE49-F238E27FC236}">
              <a16:creationId xmlns:a16="http://schemas.microsoft.com/office/drawing/2014/main" id="{37707A8B-8A46-17FA-41C8-BD055448D4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:notes">
            <a:extLst>
              <a:ext uri="{FF2B5EF4-FFF2-40B4-BE49-F238E27FC236}">
                <a16:creationId xmlns:a16="http://schemas.microsoft.com/office/drawing/2014/main" id="{D4EEC726-9DB6-E321-EAB2-72E3797E1CC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2:notes">
            <a:extLst>
              <a:ext uri="{FF2B5EF4-FFF2-40B4-BE49-F238E27FC236}">
                <a16:creationId xmlns:a16="http://schemas.microsoft.com/office/drawing/2014/main" id="{33226F16-0BA6-AF28-B1C9-2F62AC2DF8D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267883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>
          <a:extLst>
            <a:ext uri="{FF2B5EF4-FFF2-40B4-BE49-F238E27FC236}">
              <a16:creationId xmlns:a16="http://schemas.microsoft.com/office/drawing/2014/main" id="{F0A9696E-1788-A7DB-4A49-87A932681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:notes">
            <a:extLst>
              <a:ext uri="{FF2B5EF4-FFF2-40B4-BE49-F238E27FC236}">
                <a16:creationId xmlns:a16="http://schemas.microsoft.com/office/drawing/2014/main" id="{212AE51B-EE88-B41D-985A-F91BCF5BEB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2:notes">
            <a:extLst>
              <a:ext uri="{FF2B5EF4-FFF2-40B4-BE49-F238E27FC236}">
                <a16:creationId xmlns:a16="http://schemas.microsoft.com/office/drawing/2014/main" id="{283414F2-E5A2-B569-8963-632A206B6A7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846686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>
          <a:extLst>
            <a:ext uri="{FF2B5EF4-FFF2-40B4-BE49-F238E27FC236}">
              <a16:creationId xmlns:a16="http://schemas.microsoft.com/office/drawing/2014/main" id="{6C5EE78E-1817-7235-7847-B6010BB86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:notes">
            <a:extLst>
              <a:ext uri="{FF2B5EF4-FFF2-40B4-BE49-F238E27FC236}">
                <a16:creationId xmlns:a16="http://schemas.microsoft.com/office/drawing/2014/main" id="{1499056F-7B27-3748-E78E-1964E7B59C8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2:notes">
            <a:extLst>
              <a:ext uri="{FF2B5EF4-FFF2-40B4-BE49-F238E27FC236}">
                <a16:creationId xmlns:a16="http://schemas.microsoft.com/office/drawing/2014/main" id="{88E60979-7455-251C-7630-0A3F4C14662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693284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>
          <a:extLst>
            <a:ext uri="{FF2B5EF4-FFF2-40B4-BE49-F238E27FC236}">
              <a16:creationId xmlns:a16="http://schemas.microsoft.com/office/drawing/2014/main" id="{2FB6CE77-A9B7-F92D-0970-F7AA69143C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:notes">
            <a:extLst>
              <a:ext uri="{FF2B5EF4-FFF2-40B4-BE49-F238E27FC236}">
                <a16:creationId xmlns:a16="http://schemas.microsoft.com/office/drawing/2014/main" id="{6C448C80-2974-CA01-7751-2B72BBD93EF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2:notes">
            <a:extLst>
              <a:ext uri="{FF2B5EF4-FFF2-40B4-BE49-F238E27FC236}">
                <a16:creationId xmlns:a16="http://schemas.microsoft.com/office/drawing/2014/main" id="{DFB3754D-1B72-DA9E-0424-E6045F3F34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662706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>
          <a:extLst>
            <a:ext uri="{FF2B5EF4-FFF2-40B4-BE49-F238E27FC236}">
              <a16:creationId xmlns:a16="http://schemas.microsoft.com/office/drawing/2014/main" id="{DE8AE856-873A-193F-4063-1B49D3AEA4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:notes">
            <a:extLst>
              <a:ext uri="{FF2B5EF4-FFF2-40B4-BE49-F238E27FC236}">
                <a16:creationId xmlns:a16="http://schemas.microsoft.com/office/drawing/2014/main" id="{DA51672B-25AC-2695-1C48-04521E9EDB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2:notes">
            <a:extLst>
              <a:ext uri="{FF2B5EF4-FFF2-40B4-BE49-F238E27FC236}">
                <a16:creationId xmlns:a16="http://schemas.microsoft.com/office/drawing/2014/main" id="{038200B2-33EA-DCC5-7B64-F089361110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860396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Обложка" type="tx">
  <p:cSld name="TITLE_AND_BOD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2" descr="Изображение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"/>
          <p:cNvSpPr/>
          <p:nvPr/>
        </p:nvSpPr>
        <p:spPr>
          <a:xfrm>
            <a:off x="994219" y="1105429"/>
            <a:ext cx="22395562" cy="1150514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" name="Google Shape;18;p2" descr="сбор гум.помощи-05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48086" y="1924345"/>
            <a:ext cx="1532263" cy="17729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" name="Google Shape;19;p2"/>
          <p:cNvCxnSpPr/>
          <p:nvPr/>
        </p:nvCxnSpPr>
        <p:spPr>
          <a:xfrm>
            <a:off x="12180424" y="1924344"/>
            <a:ext cx="2" cy="1680348"/>
          </a:xfrm>
          <a:prstGeom prst="straightConnector1">
            <a:avLst/>
          </a:prstGeom>
          <a:noFill/>
          <a:ln w="25400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20" name="Google Shape;20;p2"/>
          <p:cNvCxnSpPr/>
          <p:nvPr/>
        </p:nvCxnSpPr>
        <p:spPr>
          <a:xfrm>
            <a:off x="17285159" y="1924344"/>
            <a:ext cx="2" cy="1680348"/>
          </a:xfrm>
          <a:prstGeom prst="straightConnector1">
            <a:avLst/>
          </a:prstGeom>
          <a:noFill/>
          <a:ln w="25400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21" name="Google Shape;21;p2"/>
          <p:cNvCxnSpPr/>
          <p:nvPr/>
        </p:nvCxnSpPr>
        <p:spPr>
          <a:xfrm>
            <a:off x="22358092" y="1924344"/>
            <a:ext cx="2" cy="1680348"/>
          </a:xfrm>
          <a:prstGeom prst="straightConnector1">
            <a:avLst/>
          </a:prstGeom>
          <a:noFill/>
          <a:ln w="25400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22" name="Google Shape;22;p2"/>
          <p:cNvSpPr txBox="1">
            <a:spLocks noGrp="1"/>
          </p:cNvSpPr>
          <p:nvPr>
            <p:ph type="body" idx="1"/>
          </p:nvPr>
        </p:nvSpPr>
        <p:spPr>
          <a:xfrm>
            <a:off x="4261479" y="2224144"/>
            <a:ext cx="7162818" cy="1408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" name="Google Shape;23;p2"/>
          <p:cNvSpPr txBox="1">
            <a:spLocks noGrp="1"/>
          </p:cNvSpPr>
          <p:nvPr>
            <p:ph type="body" idx="2"/>
          </p:nvPr>
        </p:nvSpPr>
        <p:spPr>
          <a:xfrm>
            <a:off x="12479957" y="2224145"/>
            <a:ext cx="4505671" cy="1080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2"/>
          <p:cNvSpPr txBox="1">
            <a:spLocks noGrp="1"/>
          </p:cNvSpPr>
          <p:nvPr>
            <p:ph type="body" idx="3"/>
          </p:nvPr>
        </p:nvSpPr>
        <p:spPr>
          <a:xfrm>
            <a:off x="17592002" y="2224145"/>
            <a:ext cx="4505670" cy="1080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2"/>
          <p:cNvSpPr txBox="1">
            <a:spLocks noGrp="1"/>
          </p:cNvSpPr>
          <p:nvPr>
            <p:ph type="body" idx="4"/>
          </p:nvPr>
        </p:nvSpPr>
        <p:spPr>
          <a:xfrm>
            <a:off x="2029011" y="4568039"/>
            <a:ext cx="20325978" cy="3962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2"/>
          <p:cNvSpPr txBox="1">
            <a:spLocks noGrp="1"/>
          </p:cNvSpPr>
          <p:nvPr>
            <p:ph type="body" idx="5"/>
          </p:nvPr>
        </p:nvSpPr>
        <p:spPr>
          <a:xfrm>
            <a:off x="2029011" y="9494374"/>
            <a:ext cx="9995707" cy="17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7" name="Google Shape;27;p2" descr="Изображение"/>
          <p:cNvPicPr preferRelativeResize="0"/>
          <p:nvPr/>
        </p:nvPicPr>
        <p:blipFill rotWithShape="1">
          <a:blip r:embed="rId5">
            <a:alphaModFix amt="27474"/>
          </a:blip>
          <a:srcRect/>
          <a:stretch/>
        </p:blipFill>
        <p:spPr>
          <a:xfrm>
            <a:off x="13288396" y="1662907"/>
            <a:ext cx="16546249" cy="17791536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2"/>
          <p:cNvSpPr txBox="1">
            <a:spLocks noGrp="1"/>
          </p:cNvSpPr>
          <p:nvPr>
            <p:ph type="sldNum" idx="12"/>
          </p:nvPr>
        </p:nvSpPr>
        <p:spPr>
          <a:xfrm>
            <a:off x="22203054" y="12835871"/>
            <a:ext cx="504546" cy="483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кст_1">
  <p:cSld name="Текст_1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"/>
          <p:cNvSpPr txBox="1">
            <a:spLocks noGrp="1"/>
          </p:cNvSpPr>
          <p:nvPr>
            <p:ph type="body" idx="1"/>
          </p:nvPr>
        </p:nvSpPr>
        <p:spPr>
          <a:xfrm>
            <a:off x="1071390" y="2793806"/>
            <a:ext cx="20083102" cy="15824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3"/>
          <p:cNvSpPr txBox="1">
            <a:spLocks noGrp="1"/>
          </p:cNvSpPr>
          <p:nvPr>
            <p:ph type="body" idx="2"/>
          </p:nvPr>
        </p:nvSpPr>
        <p:spPr>
          <a:xfrm>
            <a:off x="1125837" y="4725596"/>
            <a:ext cx="9073420" cy="3535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3"/>
          <p:cNvSpPr txBox="1">
            <a:spLocks noGrp="1"/>
          </p:cNvSpPr>
          <p:nvPr>
            <p:ph type="sldNum" idx="12"/>
          </p:nvPr>
        </p:nvSpPr>
        <p:spPr>
          <a:xfrm>
            <a:off x="22203054" y="12835871"/>
            <a:ext cx="504546" cy="483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 descr="сбор гум.помощи-06.png"/>
          <p:cNvPicPr preferRelativeResize="0"/>
          <p:nvPr/>
        </p:nvPicPr>
        <p:blipFill rotWithShape="1">
          <a:blip r:embed="rId4">
            <a:alphaModFix/>
          </a:blip>
          <a:srcRect t="4" b="3"/>
          <a:stretch/>
        </p:blipFill>
        <p:spPr>
          <a:xfrm>
            <a:off x="0" y="-1"/>
            <a:ext cx="24384000" cy="13716001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/>
          <p:nvPr/>
        </p:nvSpPr>
        <p:spPr>
          <a:xfrm>
            <a:off x="265362" y="269797"/>
            <a:ext cx="23853276" cy="1320476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32538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" name="Google Shape;8;p1"/>
          <p:cNvCxnSpPr/>
          <p:nvPr/>
        </p:nvCxnSpPr>
        <p:spPr>
          <a:xfrm>
            <a:off x="6597370" y="928726"/>
            <a:ext cx="3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9" name="Google Shape;9;p1"/>
          <p:cNvCxnSpPr/>
          <p:nvPr/>
        </p:nvCxnSpPr>
        <p:spPr>
          <a:xfrm>
            <a:off x="12198830" y="928726"/>
            <a:ext cx="3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0" name="Google Shape;10;p1"/>
          <p:cNvCxnSpPr/>
          <p:nvPr/>
        </p:nvCxnSpPr>
        <p:spPr>
          <a:xfrm>
            <a:off x="23287736" y="928726"/>
            <a:ext cx="2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pic>
        <p:nvPicPr>
          <p:cNvPr id="11" name="Google Shape;11;p1" descr="сбор гум.помощи-05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95264" y="1094998"/>
            <a:ext cx="774820" cy="896554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"/>
          <p:cNvSpPr txBox="1">
            <a:spLocks noGrp="1"/>
          </p:cNvSpPr>
          <p:nvPr>
            <p:ph type="body" idx="1"/>
          </p:nvPr>
        </p:nvSpPr>
        <p:spPr>
          <a:xfrm>
            <a:off x="1071390" y="2793806"/>
            <a:ext cx="20083102" cy="15824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title"/>
          </p:nvPr>
        </p:nvSpPr>
        <p:spPr>
          <a:xfrm>
            <a:off x="3653366" y="2743200"/>
            <a:ext cx="19507201" cy="930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  <a:defRPr sz="8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  <a:defRPr sz="8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  <a:defRPr sz="8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  <a:defRPr sz="8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  <a:defRPr sz="8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  <a:defRPr sz="8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  <a:defRPr sz="8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  <a:defRPr sz="8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  <a:defRPr sz="8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22203054" y="12835871"/>
            <a:ext cx="504546" cy="483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5"/>
          <p:cNvSpPr txBox="1">
            <a:spLocks noGrp="1"/>
          </p:cNvSpPr>
          <p:nvPr>
            <p:ph type="body" idx="1"/>
          </p:nvPr>
        </p:nvSpPr>
        <p:spPr>
          <a:xfrm>
            <a:off x="4282220" y="2113130"/>
            <a:ext cx="7930521" cy="1408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3125"/>
              </a:lnSpc>
              <a:spcBef>
                <a:spcPts val="0"/>
              </a:spcBef>
              <a:spcAft>
                <a:spcPts val="0"/>
              </a:spcAft>
              <a:buClr>
                <a:srgbClr val="2253A1"/>
              </a:buClr>
              <a:buSzPts val="3200"/>
              <a:buNone/>
            </a:pPr>
            <a:r>
              <a:rPr lang="ru-RU" sz="280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Передовая инженерная школа</a:t>
            </a:r>
          </a:p>
          <a:p>
            <a:pPr marL="0" lvl="0" indent="0" algn="l" rtl="0">
              <a:lnSpc>
                <a:spcPct val="153125"/>
              </a:lnSpc>
              <a:spcBef>
                <a:spcPts val="0"/>
              </a:spcBef>
              <a:spcAft>
                <a:spcPts val="0"/>
              </a:spcAft>
              <a:buClr>
                <a:srgbClr val="2253A1"/>
              </a:buClr>
              <a:buSzPts val="3200"/>
              <a:buNone/>
            </a:pPr>
            <a:r>
              <a:rPr lang="ru-RU" sz="280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«Интеллектуальные системы тераностики»</a:t>
            </a:r>
          </a:p>
        </p:txBody>
      </p:sp>
      <p:sp>
        <p:nvSpPr>
          <p:cNvPr id="48" name="Google Shape;48;p5"/>
          <p:cNvSpPr txBox="1">
            <a:spLocks noGrp="1"/>
          </p:cNvSpPr>
          <p:nvPr>
            <p:ph type="body" idx="2"/>
          </p:nvPr>
        </p:nvSpPr>
        <p:spPr>
          <a:xfrm>
            <a:off x="12649536" y="2224145"/>
            <a:ext cx="4505671" cy="1080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53A1"/>
              </a:buClr>
              <a:buSzPts val="2400"/>
              <a:buFont typeface="Helvetica Neue"/>
              <a:buNone/>
            </a:pPr>
            <a:r>
              <a:rPr lang="ru-RU" sz="200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ФГАОУ ВО Первый МГМУ им. И. М. Сеченова</a:t>
            </a:r>
          </a:p>
        </p:txBody>
      </p:sp>
      <p:sp>
        <p:nvSpPr>
          <p:cNvPr id="49" name="Google Shape;49;p5"/>
          <p:cNvSpPr txBox="1">
            <a:spLocks noGrp="1"/>
          </p:cNvSpPr>
          <p:nvPr>
            <p:ph type="body" idx="3"/>
          </p:nvPr>
        </p:nvSpPr>
        <p:spPr>
          <a:xfrm>
            <a:off x="17592002" y="2389374"/>
            <a:ext cx="4505670" cy="1080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53A1"/>
              </a:buClr>
              <a:buSzPts val="2400"/>
              <a:buFont typeface="Helvetica Neue"/>
              <a:buNone/>
            </a:pPr>
            <a:r>
              <a:rPr lang="ru-RU" sz="200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Москва 2026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53A1"/>
              </a:buClr>
              <a:buSzPts val="2400"/>
              <a:buFont typeface="Helvetica Neue"/>
              <a:buNone/>
            </a:pPr>
            <a:endParaRPr sz="2000">
              <a:solidFill>
                <a:schemeClr val="accent5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 0">
            <a:extLst>
              <a:ext uri="{FF2B5EF4-FFF2-40B4-BE49-F238E27FC236}">
                <a16:creationId xmlns:a16="http://schemas.microsoft.com/office/drawing/2014/main" id="{FBF99BBE-9BF1-4C99-B2F2-AA083147EE83}"/>
              </a:ext>
            </a:extLst>
          </p:cNvPr>
          <p:cNvSpPr/>
          <p:nvPr/>
        </p:nvSpPr>
        <p:spPr>
          <a:xfrm>
            <a:off x="2065731" y="5147060"/>
            <a:ext cx="13152497" cy="39282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R="0" lvl="0" algn="l" defTabSz="18288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Pct val="100000"/>
              <a:tabLst/>
              <a:defRPr/>
            </a:pPr>
            <a:r>
              <a:rPr kumimoji="0" lang="ru-RU" sz="6600" b="0" i="0" u="none" strike="noStrike" kern="0" cap="none" spc="0" normalizeH="0" baseline="0" noProof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Calibri"/>
              </a:rPr>
              <a:t>Оценка производительности и неопределённости медицинских ИИ-систем</a:t>
            </a:r>
          </a:p>
        </p:txBody>
      </p:sp>
      <p:sp>
        <p:nvSpPr>
          <p:cNvPr id="10" name="Text 1">
            <a:extLst>
              <a:ext uri="{FF2B5EF4-FFF2-40B4-BE49-F238E27FC236}">
                <a16:creationId xmlns:a16="http://schemas.microsoft.com/office/drawing/2014/main" id="{23C641EC-98D8-4B1B-996E-4F845DAD9445}"/>
              </a:ext>
            </a:extLst>
          </p:cNvPr>
          <p:cNvSpPr/>
          <p:nvPr/>
        </p:nvSpPr>
        <p:spPr>
          <a:xfrm>
            <a:off x="2065731" y="9909699"/>
            <a:ext cx="8309910" cy="1107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err="1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Выполнил</a:t>
            </a:r>
            <a:r>
              <a:rPr lang="en-US" sz="240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: </a:t>
            </a:r>
            <a:r>
              <a:rPr lang="ru-RU" sz="240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Исаев Владимир Андреевич</a:t>
            </a:r>
            <a:r>
              <a:rPr lang="en-US" sz="240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, группа </a:t>
            </a:r>
            <a:r>
              <a:rPr lang="ru-RU" sz="240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636-02</a:t>
            </a:r>
          </a:p>
          <a:p>
            <a:pPr marL="0" indent="0" algn="l">
              <a:lnSpc>
                <a:spcPct val="130000"/>
              </a:lnSpc>
              <a:buNone/>
            </a:pPr>
            <a:r>
              <a:rPr lang="en-US" sz="240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Научный руководитель: </a:t>
            </a:r>
            <a:r>
              <a:rPr lang="ru-RU" sz="240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Андриков Денис Анатольевич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9C1B66EB-B54F-A7EF-7D9D-1FB06474B8C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455974" y="5340773"/>
            <a:ext cx="10288725" cy="2769444"/>
          </a:xfrm>
          <a:prstGeom prst="rect">
            <a:avLst/>
          </a:prstGeom>
        </p:spPr>
      </p:pic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FD6E63AE-669C-9485-3EED-E150BBC1DF1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39302" y="5340773"/>
            <a:ext cx="10288725" cy="2769444"/>
          </a:xfrm>
          <a:prstGeom prst="rect">
            <a:avLst/>
          </a:prstGeom>
        </p:spPr>
      </p:pic>
      <p:sp>
        <p:nvSpPr>
          <p:cNvPr id="17" name="Google Shape;48;p5">
            <a:extLst>
              <a:ext uri="{FF2B5EF4-FFF2-40B4-BE49-F238E27FC236}">
                <a16:creationId xmlns:a16="http://schemas.microsoft.com/office/drawing/2014/main" id="{306727DB-E211-4B9F-864A-008D178E4FB9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2449508" y="908767"/>
            <a:ext cx="3884763" cy="1080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53A1"/>
              </a:buClr>
              <a:buSzPts val="2400"/>
              <a:buFont typeface="Helvetica Neue"/>
              <a:buNone/>
            </a:pPr>
            <a:r>
              <a:rPr lang="ru-RU" sz="24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ФГАОУ ВО Первый МГМУ им. И. М. Сеченова</a:t>
            </a:r>
          </a:p>
        </p:txBody>
      </p:sp>
      <p:sp>
        <p:nvSpPr>
          <p:cNvPr id="64" name="Google Shape;48;p5">
            <a:extLst>
              <a:ext uri="{FF2B5EF4-FFF2-40B4-BE49-F238E27FC236}">
                <a16:creationId xmlns:a16="http://schemas.microsoft.com/office/drawing/2014/main" id="{9BAA9800-E3BF-4EE2-A6ED-FB3FC79296BB}"/>
              </a:ext>
            </a:extLst>
          </p:cNvPr>
          <p:cNvSpPr txBox="1">
            <a:spLocks/>
          </p:cNvSpPr>
          <p:nvPr/>
        </p:nvSpPr>
        <p:spPr>
          <a:xfrm>
            <a:off x="7040053" y="908767"/>
            <a:ext cx="4887974" cy="12024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ru-RU" sz="24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Оценка производительности и неопределённости медицинских ИИ-систем</a:t>
            </a:r>
          </a:p>
        </p:txBody>
      </p:sp>
      <p:sp>
        <p:nvSpPr>
          <p:cNvPr id="66" name="Google Shape;48;p5">
            <a:extLst>
              <a:ext uri="{FF2B5EF4-FFF2-40B4-BE49-F238E27FC236}">
                <a16:creationId xmlns:a16="http://schemas.microsoft.com/office/drawing/2014/main" id="{E6E896C5-8CDC-49DD-8B22-99905AEA24F6}"/>
              </a:ext>
            </a:extLst>
          </p:cNvPr>
          <p:cNvSpPr txBox="1">
            <a:spLocks/>
          </p:cNvSpPr>
          <p:nvPr/>
        </p:nvSpPr>
        <p:spPr>
          <a:xfrm>
            <a:off x="12633809" y="1175736"/>
            <a:ext cx="4546300" cy="5468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114300" indent="0">
              <a:spcBef>
                <a:spcPts val="0"/>
              </a:spcBef>
              <a:buNone/>
            </a:pPr>
            <a:r>
              <a:rPr lang="ru-RU" sz="24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Цель и задачи проекта</a:t>
            </a:r>
          </a:p>
        </p:txBody>
      </p:sp>
      <p:sp>
        <p:nvSpPr>
          <p:cNvPr id="6" name="TextBox 63">
            <a:extLst>
              <a:ext uri="{FF2B5EF4-FFF2-40B4-BE49-F238E27FC236}">
                <a16:creationId xmlns:a16="http://schemas.microsoft.com/office/drawing/2014/main" id="{2122B0B2-3056-1DB1-D876-66921DEC40CC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1072138" y="2322260"/>
            <a:ext cx="7981169" cy="1171070"/>
          </a:xfrm>
          <a:prstGeom prst="rect">
            <a:avLst/>
          </a:prstGeom>
        </p:spPr>
        <p:txBody>
          <a:bodyPr/>
          <a:lstStyle>
            <a:lvl1pPr marL="0" indent="0" defTabSz="25400">
              <a:spcBef>
                <a:spcPts val="2400"/>
              </a:spcBef>
              <a:buSzTx/>
              <a:buNone/>
              <a:defRPr sz="4800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rPr lang="ru-RU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Цель и задачи проекта</a:t>
            </a:r>
            <a:endParaRPr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13A1EA17-AB97-C749-B8BC-51F0CC446474}"/>
              </a:ext>
            </a:extLst>
          </p:cNvPr>
          <p:cNvSpPr/>
          <p:nvPr/>
        </p:nvSpPr>
        <p:spPr>
          <a:xfrm>
            <a:off x="1986773" y="5392417"/>
            <a:ext cx="1945147" cy="70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000">
                <a:solidFill>
                  <a:schemeClr val="tx1"/>
                </a:solidFill>
                <a:latin typeface="Calibri" panose="020F0502020204030204" pitchFamily="34" charset="0"/>
                <a:ea typeface="Roboto Slab" pitchFamily="34" charset="-122"/>
                <a:cs typeface="Calibri" panose="020F0502020204030204" pitchFamily="34" charset="0"/>
              </a:rPr>
              <a:t>Цель</a:t>
            </a:r>
            <a:endParaRPr lang="en-US" sz="48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60DE88BF-662D-62C2-E8F2-838819E4A777}"/>
              </a:ext>
            </a:extLst>
          </p:cNvPr>
          <p:cNvSpPr/>
          <p:nvPr/>
        </p:nvSpPr>
        <p:spPr>
          <a:xfrm>
            <a:off x="1986773" y="6150153"/>
            <a:ext cx="9607819" cy="16321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2800">
                <a:solidFill>
                  <a:schemeClr val="tx1"/>
                </a:solidFill>
                <a:latin typeface="Calibri" panose="020F0502020204030204" pitchFamily="34" charset="0"/>
                <a:ea typeface="Roboto Slab" pitchFamily="2" charset="0"/>
                <a:cs typeface="Calibri" panose="020F0502020204030204" pitchFamily="34" charset="0"/>
              </a:rPr>
              <a:t>Исследовать методы оценки </a:t>
            </a:r>
            <a:r>
              <a:rPr lang="en-US" sz="2800" err="1">
                <a:solidFill>
                  <a:schemeClr val="tx1"/>
                </a:solidFill>
                <a:latin typeface="Calibri" panose="020F0502020204030204" pitchFamily="34" charset="0"/>
                <a:ea typeface="Roboto Slab" pitchFamily="2" charset="0"/>
                <a:cs typeface="Calibri" panose="020F0502020204030204" pitchFamily="34" charset="0"/>
              </a:rPr>
              <a:t>производительности</a:t>
            </a:r>
            <a:r>
              <a:rPr lang="en-US" sz="2800">
                <a:solidFill>
                  <a:schemeClr val="tx1"/>
                </a:solidFill>
                <a:latin typeface="Calibri" panose="020F0502020204030204" pitchFamily="34" charset="0"/>
                <a:ea typeface="Roboto Slab" pitchFamily="2" charset="0"/>
                <a:cs typeface="Calibri" panose="020F0502020204030204" pitchFamily="34" charset="0"/>
              </a:rPr>
              <a:t> </a:t>
            </a:r>
            <a:r>
              <a:rPr lang="ru-RU" sz="2800">
                <a:solidFill>
                  <a:schemeClr val="tx1"/>
                </a:solidFill>
                <a:latin typeface="Calibri" panose="020F0502020204030204" pitchFamily="34" charset="0"/>
                <a:ea typeface="Roboto Slab" pitchFamily="2" charset="0"/>
                <a:cs typeface="Calibri" panose="020F0502020204030204" pitchFamily="34" charset="0"/>
              </a:rPr>
              <a:t>ИИ</a:t>
            </a:r>
            <a:r>
              <a:rPr lang="en-US" sz="2800">
                <a:solidFill>
                  <a:schemeClr val="tx1"/>
                </a:solidFill>
                <a:latin typeface="Calibri" panose="020F0502020204030204" pitchFamily="34" charset="0"/>
                <a:ea typeface="Roboto Slab" pitchFamily="2" charset="0"/>
                <a:cs typeface="Calibri" panose="020F0502020204030204" pitchFamily="34" charset="0"/>
              </a:rPr>
              <a:t>‑устройств и разработать методику количественной оценки неопределённости.</a:t>
            </a:r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C1734056-DB7E-E848-90B1-ABD998D77AD7}"/>
              </a:ext>
            </a:extLst>
          </p:cNvPr>
          <p:cNvSpPr/>
          <p:nvPr/>
        </p:nvSpPr>
        <p:spPr>
          <a:xfrm>
            <a:off x="12861327" y="5425521"/>
            <a:ext cx="1531330" cy="661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000">
                <a:solidFill>
                  <a:schemeClr val="tx1"/>
                </a:solidFill>
                <a:latin typeface="Calibri" panose="020F0502020204030204" pitchFamily="34" charset="0"/>
                <a:ea typeface="Roboto Slab" pitchFamily="34" charset="-122"/>
                <a:cs typeface="Calibri" panose="020F0502020204030204" pitchFamily="34" charset="0"/>
              </a:rPr>
              <a:t>Задачи</a:t>
            </a:r>
            <a:endParaRPr lang="en-US" sz="48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9C3DDB7F-8195-7DA3-93B3-80568D2116F0}"/>
              </a:ext>
            </a:extLst>
          </p:cNvPr>
          <p:cNvSpPr/>
          <p:nvPr/>
        </p:nvSpPr>
        <p:spPr>
          <a:xfrm>
            <a:off x="12861327" y="6098509"/>
            <a:ext cx="9535900" cy="16837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2800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Систематизировать типы клинических задач, сопоставить метрики, изучить MIDRC‑MetricTree, проанализировать ограничения и предложить визуализацию неопределённости.</a:t>
            </a:r>
            <a:endParaRPr lang="en-US" sz="28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Shape 5">
            <a:extLst>
              <a:ext uri="{FF2B5EF4-FFF2-40B4-BE49-F238E27FC236}">
                <a16:creationId xmlns:a16="http://schemas.microsoft.com/office/drawing/2014/main" id="{4A9018EC-6B2C-D041-9F4E-E24445DD7F26}"/>
              </a:ext>
            </a:extLst>
          </p:cNvPr>
          <p:cNvSpPr/>
          <p:nvPr/>
        </p:nvSpPr>
        <p:spPr>
          <a:xfrm flipV="1">
            <a:off x="1639301" y="8642267"/>
            <a:ext cx="21105397" cy="87174"/>
          </a:xfrm>
          <a:prstGeom prst="roundRect">
            <a:avLst>
              <a:gd name="adj" fmla="val 120215"/>
            </a:avLst>
          </a:prstGeom>
          <a:solidFill>
            <a:srgbClr val="15213F">
              <a:alpha val="50000"/>
            </a:srgbClr>
          </a:solidFill>
          <a:ln/>
        </p:spPr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8649DD5-B665-8BE7-496D-32E2265CFA74}"/>
              </a:ext>
            </a:extLst>
          </p:cNvPr>
          <p:cNvSpPr txBox="1"/>
          <p:nvPr/>
        </p:nvSpPr>
        <p:spPr>
          <a:xfrm>
            <a:off x="1639302" y="8970178"/>
            <a:ext cx="21105397" cy="23362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2800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Эти задачи особенно важны для медицинского ИИ, поскольку от качества метрик и корректной оценки неопределённости напрямую зависят безопасность клинических решений, доверие врачей к системе и возможность её внедрения в реальную практику. Понимание не только того, насколько хорошо модель работает, но и насколько надёжны её прогнозы, помогает снижать риски ошибок и делать использование ИИ более ответственным и прозрачным.</a:t>
            </a:r>
            <a:endParaRPr lang="en-US" sz="2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>
          <a:extLst>
            <a:ext uri="{FF2B5EF4-FFF2-40B4-BE49-F238E27FC236}">
              <a16:creationId xmlns:a16="http://schemas.microsoft.com/office/drawing/2014/main" id="{C763D302-186C-2F5A-C7B5-0492ABD8CE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48;p5">
            <a:extLst>
              <a:ext uri="{FF2B5EF4-FFF2-40B4-BE49-F238E27FC236}">
                <a16:creationId xmlns:a16="http://schemas.microsoft.com/office/drawing/2014/main" id="{B212F444-EC54-707B-AA15-92D18C2FC285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2449508" y="908767"/>
            <a:ext cx="3884763" cy="1080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53A1"/>
              </a:buClr>
              <a:buSzPts val="2400"/>
              <a:buFont typeface="Helvetica Neue"/>
              <a:buNone/>
            </a:pPr>
            <a:r>
              <a:rPr lang="ru-RU" sz="24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ФГАОУ ВО Первый МГМУ им. И. М. Сеченова</a:t>
            </a:r>
          </a:p>
        </p:txBody>
      </p:sp>
      <p:sp>
        <p:nvSpPr>
          <p:cNvPr id="66" name="Google Shape;48;p5">
            <a:extLst>
              <a:ext uri="{FF2B5EF4-FFF2-40B4-BE49-F238E27FC236}">
                <a16:creationId xmlns:a16="http://schemas.microsoft.com/office/drawing/2014/main" id="{644DBD9D-4C0A-4AF6-60FA-CDB86A0EE36E}"/>
              </a:ext>
            </a:extLst>
          </p:cNvPr>
          <p:cNvSpPr txBox="1">
            <a:spLocks/>
          </p:cNvSpPr>
          <p:nvPr/>
        </p:nvSpPr>
        <p:spPr>
          <a:xfrm>
            <a:off x="12612624" y="1094341"/>
            <a:ext cx="4546300" cy="928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114300" indent="0">
              <a:spcBef>
                <a:spcPts val="0"/>
              </a:spcBef>
              <a:buNone/>
            </a:pPr>
            <a:r>
              <a:rPr lang="ru-RU" sz="24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Основные типы задач медицинского ИИ</a:t>
            </a:r>
          </a:p>
        </p:txBody>
      </p:sp>
      <p:sp>
        <p:nvSpPr>
          <p:cNvPr id="4" name="TextBox 63">
            <a:extLst>
              <a:ext uri="{FF2B5EF4-FFF2-40B4-BE49-F238E27FC236}">
                <a16:creationId xmlns:a16="http://schemas.microsoft.com/office/drawing/2014/main" id="{C304FA91-21E0-4E39-8041-29BA0CD8E2E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1100774" y="2308308"/>
            <a:ext cx="12370289" cy="85460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defTabSz="25400">
              <a:spcBef>
                <a:spcPts val="2400"/>
              </a:spcBef>
              <a:buSzTx/>
              <a:buNone/>
              <a:defRPr sz="4800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rPr lang="ru-RU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Основные типы задач медицинского ИИ</a:t>
            </a:r>
            <a:endParaRPr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4D2A1DDE-38BF-037A-E1CF-0FD52E9CED66}"/>
              </a:ext>
            </a:extLst>
          </p:cNvPr>
          <p:cNvSpPr/>
          <p:nvPr/>
        </p:nvSpPr>
        <p:spPr>
          <a:xfrm>
            <a:off x="1167384" y="3700295"/>
            <a:ext cx="22049231" cy="22795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2800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Большинство медицинских задач ИИ делится на четыре категории: </a:t>
            </a:r>
            <a:r>
              <a:rPr lang="en-US" sz="2800" b="1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классификация, сегментация, детекция и прогнозирование</a:t>
            </a:r>
            <a:r>
              <a:rPr lang="en-US" sz="2800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. Каждая категория требует специальных метрик и подходов к валидации, поскольку разные клинические контексты предъявляют разные требования к допустимым ошибкам и интерпретируемости.</a:t>
            </a:r>
            <a:endParaRPr lang="en-US" sz="28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2" name="Image 0" descr="preencoded.png">
            <a:extLst>
              <a:ext uri="{FF2B5EF4-FFF2-40B4-BE49-F238E27FC236}">
                <a16:creationId xmlns:a16="http://schemas.microsoft.com/office/drawing/2014/main" id="{FD13D70A-BB1B-317D-B6BF-33B589D810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7384" y="5915450"/>
            <a:ext cx="867602" cy="867602"/>
          </a:xfrm>
          <a:prstGeom prst="rect">
            <a:avLst/>
          </a:prstGeom>
        </p:spPr>
      </p:pic>
      <p:sp>
        <p:nvSpPr>
          <p:cNvPr id="14" name="Text 2">
            <a:extLst>
              <a:ext uri="{FF2B5EF4-FFF2-40B4-BE49-F238E27FC236}">
                <a16:creationId xmlns:a16="http://schemas.microsoft.com/office/drawing/2014/main" id="{D9E7AB3C-C6FC-87D4-06FF-7B462B5F52C6}"/>
              </a:ext>
            </a:extLst>
          </p:cNvPr>
          <p:cNvSpPr/>
          <p:nvPr/>
        </p:nvSpPr>
        <p:spPr>
          <a:xfrm>
            <a:off x="1167384" y="6968673"/>
            <a:ext cx="3657811" cy="643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b="1">
                <a:solidFill>
                  <a:schemeClr val="tx1"/>
                </a:solidFill>
                <a:latin typeface="Calibri" panose="020F0502020204030204" pitchFamily="34" charset="0"/>
                <a:ea typeface="Roboto Slab" pitchFamily="34" charset="-122"/>
                <a:cs typeface="Calibri" panose="020F0502020204030204" pitchFamily="34" charset="0"/>
              </a:rPr>
              <a:t>Классификация</a:t>
            </a:r>
            <a:endParaRPr lang="en-US" sz="3600" b="1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Text 3">
            <a:extLst>
              <a:ext uri="{FF2B5EF4-FFF2-40B4-BE49-F238E27FC236}">
                <a16:creationId xmlns:a16="http://schemas.microsoft.com/office/drawing/2014/main" id="{AD2D583B-543B-F59D-EB6F-36DF2A3DDD86}"/>
              </a:ext>
            </a:extLst>
          </p:cNvPr>
          <p:cNvSpPr/>
          <p:nvPr/>
        </p:nvSpPr>
        <p:spPr>
          <a:xfrm>
            <a:off x="1167384" y="7611692"/>
            <a:ext cx="10884408" cy="14585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2800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Определение класса (напр., пневмония на рентгене). </a:t>
            </a:r>
            <a:r>
              <a:rPr lang="en-US" sz="2800" err="1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Метрики</a:t>
            </a:r>
            <a:r>
              <a:rPr lang="en-US" sz="2800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: Accuracy, Precision, Recall, F1, ROC‑AUC.</a:t>
            </a:r>
            <a:endParaRPr lang="en-US" sz="28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6" name="Image 1" descr="preencoded.png">
            <a:extLst>
              <a:ext uri="{FF2B5EF4-FFF2-40B4-BE49-F238E27FC236}">
                <a16:creationId xmlns:a16="http://schemas.microsoft.com/office/drawing/2014/main" id="{C2C532E8-B7CA-B1FD-5C6B-649951A5CCC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645312" y="6028829"/>
            <a:ext cx="829056" cy="829056"/>
          </a:xfrm>
          <a:prstGeom prst="rect">
            <a:avLst/>
          </a:prstGeom>
        </p:spPr>
      </p:pic>
      <p:sp>
        <p:nvSpPr>
          <p:cNvPr id="18" name="Text 4">
            <a:extLst>
              <a:ext uri="{FF2B5EF4-FFF2-40B4-BE49-F238E27FC236}">
                <a16:creationId xmlns:a16="http://schemas.microsoft.com/office/drawing/2014/main" id="{53A79341-89AA-9C6F-C8FA-E61A08B938E2}"/>
              </a:ext>
            </a:extLst>
          </p:cNvPr>
          <p:cNvSpPr/>
          <p:nvPr/>
        </p:nvSpPr>
        <p:spPr>
          <a:xfrm>
            <a:off x="12612624" y="6983711"/>
            <a:ext cx="3107869" cy="627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b="1">
                <a:solidFill>
                  <a:schemeClr val="tx1"/>
                </a:solidFill>
                <a:latin typeface="Calibri" panose="020F0502020204030204" pitchFamily="34" charset="0"/>
                <a:ea typeface="Roboto Slab" pitchFamily="34" charset="-122"/>
                <a:cs typeface="Calibri" panose="020F0502020204030204" pitchFamily="34" charset="0"/>
              </a:rPr>
              <a:t>Сегментация</a:t>
            </a:r>
            <a:endParaRPr lang="en-US" sz="3200" b="1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Text 5">
            <a:extLst>
              <a:ext uri="{FF2B5EF4-FFF2-40B4-BE49-F238E27FC236}">
                <a16:creationId xmlns:a16="http://schemas.microsoft.com/office/drawing/2014/main" id="{A9BA1945-6146-DD07-467E-858B8725C97A}"/>
              </a:ext>
            </a:extLst>
          </p:cNvPr>
          <p:cNvSpPr/>
          <p:nvPr/>
        </p:nvSpPr>
        <p:spPr>
          <a:xfrm>
            <a:off x="12645312" y="7617671"/>
            <a:ext cx="11091226" cy="12707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2800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Выделение границ (напр., опухоль на МРТ). Метрики: Dice, IoU, Hausdorff.</a:t>
            </a:r>
            <a:endParaRPr lang="en-US" sz="28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0" name="Image 2" descr="preencoded.png">
            <a:extLst>
              <a:ext uri="{FF2B5EF4-FFF2-40B4-BE49-F238E27FC236}">
                <a16:creationId xmlns:a16="http://schemas.microsoft.com/office/drawing/2014/main" id="{CE01A997-06EA-6DC5-4ADD-6ECACC3D6C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0774" y="9540005"/>
            <a:ext cx="1000822" cy="1000822"/>
          </a:xfrm>
          <a:prstGeom prst="rect">
            <a:avLst/>
          </a:prstGeom>
        </p:spPr>
      </p:pic>
      <p:sp>
        <p:nvSpPr>
          <p:cNvPr id="21" name="Text 6">
            <a:extLst>
              <a:ext uri="{FF2B5EF4-FFF2-40B4-BE49-F238E27FC236}">
                <a16:creationId xmlns:a16="http://schemas.microsoft.com/office/drawing/2014/main" id="{E59F8249-5C27-0EBC-384C-38B5E16F643A}"/>
              </a:ext>
            </a:extLst>
          </p:cNvPr>
          <p:cNvSpPr/>
          <p:nvPr/>
        </p:nvSpPr>
        <p:spPr>
          <a:xfrm>
            <a:off x="1167384" y="10540827"/>
            <a:ext cx="1983170" cy="665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b="1">
                <a:solidFill>
                  <a:schemeClr val="tx1"/>
                </a:solidFill>
                <a:latin typeface="Calibri" panose="020F0502020204030204" pitchFamily="34" charset="0"/>
                <a:ea typeface="Roboto Slab" pitchFamily="34" charset="-122"/>
                <a:cs typeface="Calibri" panose="020F0502020204030204" pitchFamily="34" charset="0"/>
              </a:rPr>
              <a:t>Детекция</a:t>
            </a:r>
            <a:endParaRPr lang="en-US" sz="3600" b="1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Text 7">
            <a:extLst>
              <a:ext uri="{FF2B5EF4-FFF2-40B4-BE49-F238E27FC236}">
                <a16:creationId xmlns:a16="http://schemas.microsoft.com/office/drawing/2014/main" id="{E25E6787-3102-2773-DB60-A17AE87D5775}"/>
              </a:ext>
            </a:extLst>
          </p:cNvPr>
          <p:cNvSpPr/>
          <p:nvPr/>
        </p:nvSpPr>
        <p:spPr>
          <a:xfrm>
            <a:off x="1167384" y="11206011"/>
            <a:ext cx="8127938" cy="9642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2800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Поиск и локализация очагов. Метрики: Precision, Recall, mAP.</a:t>
            </a:r>
            <a:endParaRPr lang="en-US" sz="28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3" name="Image 3" descr="preencoded.png">
            <a:extLst>
              <a:ext uri="{FF2B5EF4-FFF2-40B4-BE49-F238E27FC236}">
                <a16:creationId xmlns:a16="http://schemas.microsoft.com/office/drawing/2014/main" id="{FCED6F92-7C72-B4B3-8F90-03A9E57276B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645312" y="9580492"/>
            <a:ext cx="963495" cy="963495"/>
          </a:xfrm>
          <a:prstGeom prst="rect">
            <a:avLst/>
          </a:prstGeom>
        </p:spPr>
      </p:pic>
      <p:sp>
        <p:nvSpPr>
          <p:cNvPr id="24" name="Text 8">
            <a:extLst>
              <a:ext uri="{FF2B5EF4-FFF2-40B4-BE49-F238E27FC236}">
                <a16:creationId xmlns:a16="http://schemas.microsoft.com/office/drawing/2014/main" id="{4E584185-8AE5-3D32-3AC4-74336C6CF478}"/>
              </a:ext>
            </a:extLst>
          </p:cNvPr>
          <p:cNvSpPr/>
          <p:nvPr/>
        </p:nvSpPr>
        <p:spPr>
          <a:xfrm>
            <a:off x="12687842" y="10518752"/>
            <a:ext cx="3649835" cy="687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b="1">
                <a:solidFill>
                  <a:schemeClr val="tx1"/>
                </a:solidFill>
                <a:latin typeface="Calibri" panose="020F0502020204030204" pitchFamily="34" charset="0"/>
                <a:ea typeface="Roboto Slab" pitchFamily="34" charset="-122"/>
                <a:cs typeface="Calibri" panose="020F0502020204030204" pitchFamily="34" charset="0"/>
              </a:rPr>
              <a:t>Прогнозирование</a:t>
            </a:r>
            <a:endParaRPr lang="en-US" sz="3600" b="1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Text 9">
            <a:extLst>
              <a:ext uri="{FF2B5EF4-FFF2-40B4-BE49-F238E27FC236}">
                <a16:creationId xmlns:a16="http://schemas.microsoft.com/office/drawing/2014/main" id="{8ED6B178-DA6A-FCBE-F058-D569D0E92B55}"/>
              </a:ext>
            </a:extLst>
          </p:cNvPr>
          <p:cNvSpPr/>
          <p:nvPr/>
        </p:nvSpPr>
        <p:spPr>
          <a:xfrm>
            <a:off x="12687842" y="11207973"/>
            <a:ext cx="10179123" cy="12707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2800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Предсказание клинических событий. Метрики: ROC‑AUC, PR‑AUC, Brier Score, показатели калибровки.</a:t>
            </a:r>
            <a:endParaRPr lang="en-US" sz="28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Google Shape;48;p5">
            <a:extLst>
              <a:ext uri="{FF2B5EF4-FFF2-40B4-BE49-F238E27FC236}">
                <a16:creationId xmlns:a16="http://schemas.microsoft.com/office/drawing/2014/main" id="{59C40E76-813F-1618-EFE2-B46E43A6727E}"/>
              </a:ext>
            </a:extLst>
          </p:cNvPr>
          <p:cNvSpPr txBox="1">
            <a:spLocks/>
          </p:cNvSpPr>
          <p:nvPr/>
        </p:nvSpPr>
        <p:spPr>
          <a:xfrm>
            <a:off x="7041188" y="909548"/>
            <a:ext cx="4730189" cy="1152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114300" indent="0">
              <a:spcBef>
                <a:spcPts val="0"/>
              </a:spcBef>
              <a:buNone/>
            </a:pPr>
            <a:r>
              <a:rPr lang="ru-RU" sz="24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Оценка производительности и неопределённости едицинских ИИ-систем</a:t>
            </a:r>
          </a:p>
        </p:txBody>
      </p:sp>
    </p:spTree>
    <p:extLst>
      <p:ext uri="{BB962C8B-B14F-4D97-AF65-F5344CB8AC3E}">
        <p14:creationId xmlns:p14="http://schemas.microsoft.com/office/powerpoint/2010/main" val="34825185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>
          <a:extLst>
            <a:ext uri="{FF2B5EF4-FFF2-40B4-BE49-F238E27FC236}">
              <a16:creationId xmlns:a16="http://schemas.microsoft.com/office/drawing/2014/main" id="{85725228-307F-9034-BFC1-A4BAD606F5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 0" descr="preencoded.png">
            <a:extLst>
              <a:ext uri="{FF2B5EF4-FFF2-40B4-BE49-F238E27FC236}">
                <a16:creationId xmlns:a16="http://schemas.microsoft.com/office/drawing/2014/main" id="{F7FA5897-9F38-4811-2AB8-87280A7A53BE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322173" y="9352917"/>
            <a:ext cx="6077446" cy="2712843"/>
          </a:xfrm>
          <a:prstGeom prst="rect">
            <a:avLst/>
          </a:prstGeom>
        </p:spPr>
      </p:pic>
      <p:sp>
        <p:nvSpPr>
          <p:cNvPr id="17" name="Google Shape;48;p5">
            <a:extLst>
              <a:ext uri="{FF2B5EF4-FFF2-40B4-BE49-F238E27FC236}">
                <a16:creationId xmlns:a16="http://schemas.microsoft.com/office/drawing/2014/main" id="{66903349-47FD-86DE-1363-422290924257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2449508" y="908767"/>
            <a:ext cx="3884763" cy="1080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53A1"/>
              </a:buClr>
              <a:buSzPts val="2400"/>
              <a:buFont typeface="Helvetica Neue"/>
              <a:buNone/>
            </a:pPr>
            <a:r>
              <a:rPr lang="ru-RU" sz="2400">
                <a:latin typeface="Calibri" panose="020F0502020204030204" pitchFamily="34" charset="0"/>
                <a:cs typeface="Calibri" panose="020F0502020204030204" pitchFamily="34" charset="0"/>
              </a:rPr>
              <a:t>ФГАОУ ВО Первый МГМУ им. И. М. Сеченова</a:t>
            </a:r>
          </a:p>
        </p:txBody>
      </p:sp>
      <p:sp>
        <p:nvSpPr>
          <p:cNvPr id="64" name="Google Shape;48;p5">
            <a:extLst>
              <a:ext uri="{FF2B5EF4-FFF2-40B4-BE49-F238E27FC236}">
                <a16:creationId xmlns:a16="http://schemas.microsoft.com/office/drawing/2014/main" id="{8E98665E-3C98-F819-1A69-9E26F4AB7DB6}"/>
              </a:ext>
            </a:extLst>
          </p:cNvPr>
          <p:cNvSpPr txBox="1">
            <a:spLocks/>
          </p:cNvSpPr>
          <p:nvPr/>
        </p:nvSpPr>
        <p:spPr>
          <a:xfrm>
            <a:off x="7041188" y="909305"/>
            <a:ext cx="4963382" cy="1175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114300" indent="0">
              <a:spcBef>
                <a:spcPts val="0"/>
              </a:spcBef>
              <a:buNone/>
            </a:pPr>
            <a:r>
              <a:rPr lang="ru-RU" sz="2400">
                <a:latin typeface="Calibri" panose="020F0502020204030204" pitchFamily="34" charset="0"/>
                <a:cs typeface="Calibri" panose="020F0502020204030204" pitchFamily="34" charset="0"/>
              </a:rPr>
              <a:t>Оценка производительности и неопределённости медицинских ИИ-систем</a:t>
            </a:r>
          </a:p>
        </p:txBody>
      </p:sp>
      <p:sp>
        <p:nvSpPr>
          <p:cNvPr id="66" name="Google Shape;48;p5">
            <a:extLst>
              <a:ext uri="{FF2B5EF4-FFF2-40B4-BE49-F238E27FC236}">
                <a16:creationId xmlns:a16="http://schemas.microsoft.com/office/drawing/2014/main" id="{CBA482CF-45C3-CE4F-700D-12DA15CE2847}"/>
              </a:ext>
            </a:extLst>
          </p:cNvPr>
          <p:cNvSpPr txBox="1">
            <a:spLocks/>
          </p:cNvSpPr>
          <p:nvPr/>
        </p:nvSpPr>
        <p:spPr>
          <a:xfrm>
            <a:off x="12711487" y="845882"/>
            <a:ext cx="4463816" cy="1175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114300" indent="0">
              <a:lnSpc>
                <a:spcPct val="104000"/>
              </a:lnSpc>
              <a:spcBef>
                <a:spcPts val="0"/>
              </a:spcBef>
              <a:buNone/>
            </a:pPr>
            <a:r>
              <a:rPr lang="en-US" sz="2400" err="1">
                <a:solidFill>
                  <a:schemeClr val="tx1"/>
                </a:solidFill>
                <a:latin typeface="Calibri" panose="020F0502020204030204" pitchFamily="34" charset="0"/>
                <a:ea typeface="Roboto Slab" pitchFamily="34" charset="-122"/>
                <a:cs typeface="Calibri" panose="020F0502020204030204" pitchFamily="34" charset="0"/>
              </a:rPr>
              <a:t>Классификация</a:t>
            </a:r>
            <a:r>
              <a:rPr lang="en-US" sz="2400">
                <a:solidFill>
                  <a:schemeClr val="tx1"/>
                </a:solidFill>
                <a:latin typeface="Calibri" panose="020F0502020204030204" pitchFamily="34" charset="0"/>
                <a:ea typeface="Roboto Slab" pitchFamily="34" charset="-122"/>
                <a:cs typeface="Calibri" panose="020F0502020204030204" pitchFamily="34" charset="0"/>
              </a:rPr>
              <a:t>: </a:t>
            </a:r>
            <a:r>
              <a:rPr lang="en-US" sz="2400" err="1">
                <a:solidFill>
                  <a:schemeClr val="tx1"/>
                </a:solidFill>
                <a:latin typeface="Calibri" panose="020F0502020204030204" pitchFamily="34" charset="0"/>
                <a:ea typeface="Roboto Slab" pitchFamily="34" charset="-122"/>
                <a:cs typeface="Calibri" panose="020F0502020204030204" pitchFamily="34" charset="0"/>
              </a:rPr>
              <a:t>ключевые</a:t>
            </a:r>
            <a:r>
              <a:rPr lang="en-US" sz="2400">
                <a:solidFill>
                  <a:schemeClr val="tx1"/>
                </a:solidFill>
                <a:latin typeface="Calibri" panose="020F0502020204030204" pitchFamily="34" charset="0"/>
                <a:ea typeface="Roboto Slab" pitchFamily="34" charset="-122"/>
                <a:cs typeface="Calibri" panose="020F0502020204030204" pitchFamily="34" charset="0"/>
              </a:rPr>
              <a:t> </a:t>
            </a:r>
            <a:r>
              <a:rPr lang="en-US" sz="2400" err="1">
                <a:solidFill>
                  <a:schemeClr val="tx1"/>
                </a:solidFill>
                <a:latin typeface="Calibri" panose="020F0502020204030204" pitchFamily="34" charset="0"/>
                <a:ea typeface="Roboto Slab" pitchFamily="34" charset="-122"/>
                <a:cs typeface="Calibri" panose="020F0502020204030204" pitchFamily="34" charset="0"/>
              </a:rPr>
              <a:t>метрики</a:t>
            </a:r>
            <a:r>
              <a:rPr lang="en-US" sz="2400">
                <a:solidFill>
                  <a:schemeClr val="tx1"/>
                </a:solidFill>
                <a:latin typeface="Calibri" panose="020F0502020204030204" pitchFamily="34" charset="0"/>
                <a:ea typeface="Roboto Slab" pitchFamily="34" charset="-122"/>
                <a:cs typeface="Calibri" panose="020F0502020204030204" pitchFamily="34" charset="0"/>
              </a:rPr>
              <a:t> и </a:t>
            </a:r>
            <a:r>
              <a:rPr lang="en-US" sz="2400" err="1">
                <a:solidFill>
                  <a:schemeClr val="tx1"/>
                </a:solidFill>
                <a:latin typeface="Calibri" panose="020F0502020204030204" pitchFamily="34" charset="0"/>
                <a:ea typeface="Roboto Slab" pitchFamily="34" charset="-122"/>
                <a:cs typeface="Calibri" panose="020F0502020204030204" pitchFamily="34" charset="0"/>
              </a:rPr>
              <a:t>практическое</a:t>
            </a:r>
            <a:r>
              <a:rPr lang="en-US" sz="2400">
                <a:solidFill>
                  <a:schemeClr val="tx1"/>
                </a:solidFill>
                <a:latin typeface="Calibri" panose="020F0502020204030204" pitchFamily="34" charset="0"/>
                <a:ea typeface="Roboto Slab" pitchFamily="34" charset="-122"/>
                <a:cs typeface="Calibri" panose="020F0502020204030204" pitchFamily="34" charset="0"/>
              </a:rPr>
              <a:t> </a:t>
            </a:r>
            <a:r>
              <a:rPr lang="en-US" sz="2400" err="1">
                <a:solidFill>
                  <a:schemeClr val="tx1"/>
                </a:solidFill>
                <a:latin typeface="Calibri" panose="020F0502020204030204" pitchFamily="34" charset="0"/>
                <a:ea typeface="Roboto Slab" pitchFamily="34" charset="-122"/>
                <a:cs typeface="Calibri" panose="020F0502020204030204" pitchFamily="34" charset="0"/>
              </a:rPr>
              <a:t>значение</a:t>
            </a:r>
            <a:endParaRPr lang="en-US" sz="24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Box 63">
            <a:extLst>
              <a:ext uri="{FF2B5EF4-FFF2-40B4-BE49-F238E27FC236}">
                <a16:creationId xmlns:a16="http://schemas.microsoft.com/office/drawing/2014/main" id="{E8B3C6C0-2DD5-227B-AB2A-894D902E00FA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1100774" y="2230251"/>
            <a:ext cx="20135700" cy="117532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defTabSz="25400">
              <a:spcBef>
                <a:spcPts val="2400"/>
              </a:spcBef>
              <a:buSzTx/>
              <a:buNone/>
              <a:defRPr sz="4800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lnSpc>
                <a:spcPct val="104000"/>
              </a:lnSpc>
            </a:pPr>
            <a:r>
              <a:rPr lang="en-US" err="1">
                <a:solidFill>
                  <a:schemeClr val="tx1"/>
                </a:solidFill>
                <a:latin typeface="Calibri" panose="020F0502020204030204" pitchFamily="34" charset="0"/>
                <a:ea typeface="Roboto Slab" pitchFamily="34" charset="-122"/>
                <a:cs typeface="Calibri" panose="020F0502020204030204" pitchFamily="34" charset="0"/>
              </a:rPr>
              <a:t>Классификация</a:t>
            </a:r>
            <a:r>
              <a:rPr lang="en-US">
                <a:solidFill>
                  <a:schemeClr val="tx1"/>
                </a:solidFill>
                <a:latin typeface="Calibri" panose="020F0502020204030204" pitchFamily="34" charset="0"/>
                <a:ea typeface="Roboto Slab" pitchFamily="34" charset="-122"/>
                <a:cs typeface="Calibri" panose="020F0502020204030204" pitchFamily="34" charset="0"/>
              </a:rPr>
              <a:t>: </a:t>
            </a:r>
            <a:r>
              <a:rPr lang="en-US" err="1">
                <a:solidFill>
                  <a:schemeClr val="tx1"/>
                </a:solidFill>
                <a:latin typeface="Calibri" panose="020F0502020204030204" pitchFamily="34" charset="0"/>
                <a:ea typeface="Roboto Slab" pitchFamily="34" charset="-122"/>
                <a:cs typeface="Calibri" panose="020F0502020204030204" pitchFamily="34" charset="0"/>
              </a:rPr>
              <a:t>ключевые</a:t>
            </a:r>
            <a:r>
              <a:rPr lang="en-US">
                <a:solidFill>
                  <a:schemeClr val="tx1"/>
                </a:solidFill>
                <a:latin typeface="Calibri" panose="020F0502020204030204" pitchFamily="34" charset="0"/>
                <a:ea typeface="Roboto Slab" pitchFamily="34" charset="-122"/>
                <a:cs typeface="Calibri" panose="020F0502020204030204" pitchFamily="34" charset="0"/>
              </a:rPr>
              <a:t> </a:t>
            </a:r>
            <a:r>
              <a:rPr lang="en-US" err="1">
                <a:solidFill>
                  <a:schemeClr val="tx1"/>
                </a:solidFill>
                <a:latin typeface="Calibri" panose="020F0502020204030204" pitchFamily="34" charset="0"/>
                <a:ea typeface="Roboto Slab" pitchFamily="34" charset="-122"/>
                <a:cs typeface="Calibri" panose="020F0502020204030204" pitchFamily="34" charset="0"/>
              </a:rPr>
              <a:t>метрики</a:t>
            </a:r>
            <a:r>
              <a:rPr lang="en-US">
                <a:solidFill>
                  <a:schemeClr val="tx1"/>
                </a:solidFill>
                <a:latin typeface="Calibri" panose="020F0502020204030204" pitchFamily="34" charset="0"/>
                <a:ea typeface="Roboto Slab" pitchFamily="34" charset="-122"/>
                <a:cs typeface="Calibri" panose="020F0502020204030204" pitchFamily="34" charset="0"/>
              </a:rPr>
              <a:t> и </a:t>
            </a:r>
            <a:r>
              <a:rPr lang="en-US" err="1">
                <a:solidFill>
                  <a:schemeClr val="tx1"/>
                </a:solidFill>
                <a:latin typeface="Calibri" panose="020F0502020204030204" pitchFamily="34" charset="0"/>
                <a:ea typeface="Roboto Slab" pitchFamily="34" charset="-122"/>
                <a:cs typeface="Calibri" panose="020F0502020204030204" pitchFamily="34" charset="0"/>
              </a:rPr>
              <a:t>практическое</a:t>
            </a:r>
            <a:r>
              <a:rPr lang="en-US">
                <a:solidFill>
                  <a:schemeClr val="tx1"/>
                </a:solidFill>
                <a:latin typeface="Calibri" panose="020F0502020204030204" pitchFamily="34" charset="0"/>
                <a:ea typeface="Roboto Slab" pitchFamily="34" charset="-122"/>
                <a:cs typeface="Calibri" panose="020F0502020204030204" pitchFamily="34" charset="0"/>
              </a:rPr>
              <a:t> </a:t>
            </a:r>
            <a:r>
              <a:rPr lang="en-US" err="1">
                <a:solidFill>
                  <a:schemeClr val="tx1"/>
                </a:solidFill>
                <a:latin typeface="Calibri" panose="020F0502020204030204" pitchFamily="34" charset="0"/>
                <a:ea typeface="Roboto Slab" pitchFamily="34" charset="-122"/>
                <a:cs typeface="Calibri" panose="020F0502020204030204" pitchFamily="34" charset="0"/>
              </a:rPr>
              <a:t>значение</a:t>
            </a:r>
            <a:endParaRPr lang="en-US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F8E04B-7AA0-9AA0-3C13-268D061B559D}"/>
              </a:ext>
            </a:extLst>
          </p:cNvPr>
          <p:cNvSpPr txBox="1"/>
          <p:nvPr/>
        </p:nvSpPr>
        <p:spPr>
          <a:xfrm>
            <a:off x="1124957" y="3977564"/>
            <a:ext cx="21759226" cy="119006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2800" err="1">
                <a:solidFill>
                  <a:srgbClr val="15213F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Классификация</a:t>
            </a:r>
            <a:r>
              <a:rPr lang="en-US" sz="2800">
                <a:solidFill>
                  <a:srgbClr val="15213F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 в </a:t>
            </a:r>
            <a:r>
              <a:rPr lang="en-US" sz="2800" err="1">
                <a:solidFill>
                  <a:srgbClr val="15213F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медицине</a:t>
            </a:r>
            <a:r>
              <a:rPr lang="en-US" sz="2800">
                <a:solidFill>
                  <a:srgbClr val="15213F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 </a:t>
            </a:r>
            <a:r>
              <a:rPr lang="ru-RU" sz="2800">
                <a:solidFill>
                  <a:srgbClr val="15213F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-</a:t>
            </a:r>
            <a:r>
              <a:rPr lang="en-US" sz="2800">
                <a:solidFill>
                  <a:srgbClr val="15213F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 </a:t>
            </a:r>
            <a:r>
              <a:rPr lang="en-US" sz="2800" err="1">
                <a:solidFill>
                  <a:srgbClr val="15213F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широко</a:t>
            </a:r>
            <a:r>
              <a:rPr lang="en-US" sz="2800">
                <a:solidFill>
                  <a:srgbClr val="15213F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 </a:t>
            </a:r>
            <a:r>
              <a:rPr lang="en-US" sz="2800" err="1">
                <a:solidFill>
                  <a:srgbClr val="15213F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распространённая</a:t>
            </a:r>
            <a:r>
              <a:rPr lang="en-US" sz="2800">
                <a:solidFill>
                  <a:srgbClr val="15213F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 </a:t>
            </a:r>
            <a:r>
              <a:rPr lang="en-US" sz="2800" err="1">
                <a:solidFill>
                  <a:srgbClr val="15213F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задача</a:t>
            </a:r>
            <a:r>
              <a:rPr lang="en-US" sz="2800">
                <a:solidFill>
                  <a:srgbClr val="15213F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 </a:t>
            </a:r>
            <a:r>
              <a:rPr lang="en-US" sz="2800" b="1">
                <a:solidFill>
                  <a:srgbClr val="15213F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(</a:t>
            </a:r>
            <a:r>
              <a:rPr lang="en-US" sz="2800" b="1" err="1">
                <a:solidFill>
                  <a:srgbClr val="15213F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диагностика</a:t>
            </a:r>
            <a:r>
              <a:rPr lang="en-US" sz="2800" b="1">
                <a:solidFill>
                  <a:srgbClr val="15213F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, </a:t>
            </a:r>
            <a:r>
              <a:rPr lang="en-US" sz="2800" b="1" err="1">
                <a:solidFill>
                  <a:srgbClr val="15213F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стадирование</a:t>
            </a:r>
            <a:r>
              <a:rPr lang="en-US" sz="2800" b="1">
                <a:solidFill>
                  <a:srgbClr val="15213F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). </a:t>
            </a:r>
            <a:r>
              <a:rPr lang="en-US" sz="2800" err="1">
                <a:solidFill>
                  <a:srgbClr val="15213F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Важно</a:t>
            </a:r>
            <a:r>
              <a:rPr lang="en-US" sz="2800">
                <a:solidFill>
                  <a:srgbClr val="15213F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 </a:t>
            </a:r>
            <a:r>
              <a:rPr lang="en-US" sz="2800" err="1">
                <a:solidFill>
                  <a:srgbClr val="15213F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учитывать</a:t>
            </a:r>
            <a:r>
              <a:rPr lang="en-US" sz="2800">
                <a:solidFill>
                  <a:srgbClr val="15213F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 </a:t>
            </a:r>
            <a:r>
              <a:rPr lang="en-US" sz="2800" err="1">
                <a:solidFill>
                  <a:srgbClr val="15213F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баланс</a:t>
            </a:r>
            <a:r>
              <a:rPr lang="en-US" sz="2800">
                <a:solidFill>
                  <a:srgbClr val="15213F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 </a:t>
            </a:r>
            <a:r>
              <a:rPr lang="en-US" sz="2800" err="1">
                <a:solidFill>
                  <a:srgbClr val="15213F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классов</a:t>
            </a:r>
            <a:r>
              <a:rPr lang="en-US" sz="2800">
                <a:solidFill>
                  <a:srgbClr val="15213F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 и </a:t>
            </a:r>
            <a:r>
              <a:rPr lang="en-US" sz="2800" err="1">
                <a:solidFill>
                  <a:srgbClr val="15213F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клиническую</a:t>
            </a:r>
            <a:r>
              <a:rPr lang="en-US" sz="2800">
                <a:solidFill>
                  <a:srgbClr val="15213F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 </a:t>
            </a:r>
            <a:r>
              <a:rPr lang="en-US" sz="2800" err="1">
                <a:solidFill>
                  <a:srgbClr val="15213F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стоимость</a:t>
            </a:r>
            <a:r>
              <a:rPr lang="en-US" sz="2800">
                <a:solidFill>
                  <a:srgbClr val="15213F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 </a:t>
            </a:r>
            <a:r>
              <a:rPr lang="en-US" sz="2800" err="1">
                <a:solidFill>
                  <a:srgbClr val="15213F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ошибок</a:t>
            </a:r>
            <a:r>
              <a:rPr lang="en-US" sz="2800">
                <a:solidFill>
                  <a:srgbClr val="15213F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. </a:t>
            </a:r>
            <a:r>
              <a:rPr lang="en-US" sz="2800" err="1">
                <a:solidFill>
                  <a:srgbClr val="15213F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Вводимые</a:t>
            </a:r>
            <a:r>
              <a:rPr lang="en-US" sz="2800">
                <a:solidFill>
                  <a:srgbClr val="15213F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 </a:t>
            </a:r>
            <a:r>
              <a:rPr lang="en-US" sz="2800" err="1">
                <a:solidFill>
                  <a:srgbClr val="15213F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метрики</a:t>
            </a:r>
            <a:r>
              <a:rPr lang="en-US" sz="2800">
                <a:solidFill>
                  <a:srgbClr val="15213F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:</a:t>
            </a:r>
            <a:endParaRPr lang="en-US" sz="28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Image 0" descr="preencoded.png">
            <a:extLst>
              <a:ext uri="{FF2B5EF4-FFF2-40B4-BE49-F238E27FC236}">
                <a16:creationId xmlns:a16="http://schemas.microsoft.com/office/drawing/2014/main" id="{D8E1C0DD-1AC4-7694-B269-95D8BB7BDCC0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53277" y="5835525"/>
            <a:ext cx="6077446" cy="2712843"/>
          </a:xfrm>
          <a:prstGeom prst="rect">
            <a:avLst/>
          </a:prstGeom>
        </p:spPr>
      </p:pic>
      <p:pic>
        <p:nvPicPr>
          <p:cNvPr id="8" name="Image 0" descr="preencoded.png">
            <a:extLst>
              <a:ext uri="{FF2B5EF4-FFF2-40B4-BE49-F238E27FC236}">
                <a16:creationId xmlns:a16="http://schemas.microsoft.com/office/drawing/2014/main" id="{8DDC9AE6-FC16-5290-57A6-F9C0B782C651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84381" y="5835525"/>
            <a:ext cx="6077446" cy="2712843"/>
          </a:xfrm>
          <a:prstGeom prst="rect">
            <a:avLst/>
          </a:prstGeom>
        </p:spPr>
      </p:pic>
      <p:pic>
        <p:nvPicPr>
          <p:cNvPr id="9" name="Image 0" descr="preencoded.png">
            <a:extLst>
              <a:ext uri="{FF2B5EF4-FFF2-40B4-BE49-F238E27FC236}">
                <a16:creationId xmlns:a16="http://schemas.microsoft.com/office/drawing/2014/main" id="{F054492A-C1E5-01EE-0130-BD92930CFBBA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322173" y="5835525"/>
            <a:ext cx="6077446" cy="2712843"/>
          </a:xfrm>
          <a:prstGeom prst="rect">
            <a:avLst/>
          </a:prstGeom>
        </p:spPr>
      </p:pic>
      <p:pic>
        <p:nvPicPr>
          <p:cNvPr id="11" name="Image 0" descr="preencoded.png">
            <a:extLst>
              <a:ext uri="{FF2B5EF4-FFF2-40B4-BE49-F238E27FC236}">
                <a16:creationId xmlns:a16="http://schemas.microsoft.com/office/drawing/2014/main" id="{49C7F249-9A25-B7AE-996D-9452DAECE948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84381" y="9352917"/>
            <a:ext cx="6077446" cy="2712843"/>
          </a:xfrm>
          <a:prstGeom prst="rect">
            <a:avLst/>
          </a:prstGeom>
        </p:spPr>
      </p:pic>
      <p:pic>
        <p:nvPicPr>
          <p:cNvPr id="12" name="Image 0" descr="preencoded.png">
            <a:extLst>
              <a:ext uri="{FF2B5EF4-FFF2-40B4-BE49-F238E27FC236}">
                <a16:creationId xmlns:a16="http://schemas.microsoft.com/office/drawing/2014/main" id="{F48DF930-A538-412F-F583-9836EBE4793E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53277" y="9352917"/>
            <a:ext cx="6077446" cy="271284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AB46B4B-E1E1-B686-184D-0A2B6B9D4028}"/>
              </a:ext>
            </a:extLst>
          </p:cNvPr>
          <p:cNvSpPr txBox="1"/>
          <p:nvPr/>
        </p:nvSpPr>
        <p:spPr>
          <a:xfrm>
            <a:off x="2449508" y="6665240"/>
            <a:ext cx="4591680" cy="13468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3000"/>
              </a:lnSpc>
              <a:buSzPct val="100000"/>
            </a:pPr>
            <a:r>
              <a:rPr lang="en-US" sz="3200">
                <a:solidFill>
                  <a:srgbClr val="15213F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доля корректных предскзаний</a:t>
            </a:r>
            <a:endParaRPr lang="en-US" sz="32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4B58A87-A478-BB8A-B043-286DCC25A15E}"/>
              </a:ext>
            </a:extLst>
          </p:cNvPr>
          <p:cNvSpPr txBox="1"/>
          <p:nvPr/>
        </p:nvSpPr>
        <p:spPr>
          <a:xfrm>
            <a:off x="2449508" y="5915086"/>
            <a:ext cx="20180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>
                <a:solidFill>
                  <a:srgbClr val="15213F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Accuracy</a:t>
            </a:r>
            <a:endParaRPr lang="ru-RU" sz="36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B750880-1A43-0D07-A0B4-D90F85D2B895}"/>
              </a:ext>
            </a:extLst>
          </p:cNvPr>
          <p:cNvSpPr txBox="1"/>
          <p:nvPr/>
        </p:nvSpPr>
        <p:spPr>
          <a:xfrm>
            <a:off x="9704854" y="5886572"/>
            <a:ext cx="22997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>
                <a:solidFill>
                  <a:srgbClr val="15213F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Precision</a:t>
            </a:r>
            <a:endParaRPr lang="ru-RU" sz="360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BDB684D-C925-50D1-A3ED-39233921C5B5}"/>
              </a:ext>
            </a:extLst>
          </p:cNvPr>
          <p:cNvSpPr txBox="1"/>
          <p:nvPr/>
        </p:nvSpPr>
        <p:spPr>
          <a:xfrm>
            <a:off x="16872071" y="5888804"/>
            <a:ext cx="423228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>
                <a:solidFill>
                  <a:srgbClr val="15213F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Recall (Sensitivity)</a:t>
            </a:r>
            <a:endParaRPr lang="ru-RU" sz="360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1B58483-3F9E-EAEB-8D2E-516ADF64943B}"/>
              </a:ext>
            </a:extLst>
          </p:cNvPr>
          <p:cNvSpPr txBox="1"/>
          <p:nvPr/>
        </p:nvSpPr>
        <p:spPr>
          <a:xfrm>
            <a:off x="2449508" y="9555031"/>
            <a:ext cx="2272944" cy="6679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>
                <a:solidFill>
                  <a:srgbClr val="15213F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Specificity</a:t>
            </a:r>
            <a:r>
              <a:rPr lang="en-US" sz="1400" b="1">
                <a:solidFill>
                  <a:srgbClr val="15213F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 </a:t>
            </a:r>
            <a:endParaRPr lang="ru-RU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B75ED4A-26D1-CD86-023E-D9AF54F32347}"/>
              </a:ext>
            </a:extLst>
          </p:cNvPr>
          <p:cNvSpPr txBox="1"/>
          <p:nvPr/>
        </p:nvSpPr>
        <p:spPr>
          <a:xfrm>
            <a:off x="9704854" y="9555032"/>
            <a:ext cx="210919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>
                <a:solidFill>
                  <a:srgbClr val="15213F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F1‑score</a:t>
            </a:r>
            <a:endParaRPr lang="ru-RU" sz="360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71EE1C5-D572-8244-3CE0-718CEE15CE1C}"/>
              </a:ext>
            </a:extLst>
          </p:cNvPr>
          <p:cNvSpPr txBox="1"/>
          <p:nvPr/>
        </p:nvSpPr>
        <p:spPr>
          <a:xfrm>
            <a:off x="16872071" y="9555031"/>
            <a:ext cx="20690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>
                <a:solidFill>
                  <a:srgbClr val="15213F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ROC‑AUC </a:t>
            </a:r>
            <a:endParaRPr lang="ru-RU" sz="360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9056C1E-6C7C-4AFE-E4CA-16B203AA2CAE}"/>
              </a:ext>
            </a:extLst>
          </p:cNvPr>
          <p:cNvSpPr txBox="1"/>
          <p:nvPr/>
        </p:nvSpPr>
        <p:spPr>
          <a:xfrm>
            <a:off x="9704854" y="6400979"/>
            <a:ext cx="5573268" cy="2001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3000"/>
              </a:lnSpc>
              <a:buSzPct val="100000"/>
            </a:pPr>
            <a:r>
              <a:rPr lang="en-US" sz="3200">
                <a:solidFill>
                  <a:srgbClr val="15213F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доля истинно положительных среди предсказанных положительных</a:t>
            </a:r>
            <a:endParaRPr lang="en-US" sz="32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5D59DE6-270B-1BF8-D746-B713E8AC3936}"/>
              </a:ext>
            </a:extLst>
          </p:cNvPr>
          <p:cNvSpPr txBox="1"/>
          <p:nvPr/>
        </p:nvSpPr>
        <p:spPr>
          <a:xfrm>
            <a:off x="16872071" y="6665240"/>
            <a:ext cx="5335524" cy="13468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3000"/>
              </a:lnSpc>
              <a:buSzPct val="100000"/>
            </a:pPr>
            <a:r>
              <a:rPr lang="en-US" sz="3200">
                <a:solidFill>
                  <a:srgbClr val="15213F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способность находить реальные случаи</a:t>
            </a:r>
            <a:endParaRPr lang="en-US" sz="32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D50558F-D985-B1BA-A3FD-5F7C1AED9287}"/>
              </a:ext>
            </a:extLst>
          </p:cNvPr>
          <p:cNvSpPr txBox="1"/>
          <p:nvPr/>
        </p:nvSpPr>
        <p:spPr>
          <a:xfrm>
            <a:off x="2449508" y="10222992"/>
            <a:ext cx="4902268" cy="13468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3000"/>
              </a:lnSpc>
              <a:buSzPct val="100000"/>
            </a:pPr>
            <a:r>
              <a:rPr lang="en-US" sz="3200">
                <a:solidFill>
                  <a:srgbClr val="15213F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распознавание отсутствия болезни</a:t>
            </a:r>
            <a:endParaRPr lang="en-US" sz="32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C9E224F-0201-6797-1474-9639778D8C22}"/>
              </a:ext>
            </a:extLst>
          </p:cNvPr>
          <p:cNvSpPr txBox="1"/>
          <p:nvPr/>
        </p:nvSpPr>
        <p:spPr>
          <a:xfrm>
            <a:off x="9704854" y="10222992"/>
            <a:ext cx="5290401" cy="13453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3000"/>
              </a:lnSpc>
              <a:buSzPct val="100000"/>
            </a:pPr>
            <a:r>
              <a:rPr lang="en-US" sz="3200">
                <a:solidFill>
                  <a:srgbClr val="15213F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гармоническое среднее Precision и Recall</a:t>
            </a:r>
            <a:endParaRPr lang="en-US" sz="32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3663CAC-B98F-8075-3405-33E796245221}"/>
              </a:ext>
            </a:extLst>
          </p:cNvPr>
          <p:cNvSpPr txBox="1"/>
          <p:nvPr/>
        </p:nvSpPr>
        <p:spPr>
          <a:xfrm>
            <a:off x="16866840" y="10379106"/>
            <a:ext cx="5062421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>
                <a:solidFill>
                  <a:srgbClr val="15213F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интегральная оценка разделяющей способности</a:t>
            </a:r>
            <a:endParaRPr lang="ru-RU" sz="3200"/>
          </a:p>
        </p:txBody>
      </p:sp>
    </p:spTree>
    <p:extLst>
      <p:ext uri="{BB962C8B-B14F-4D97-AF65-F5344CB8AC3E}">
        <p14:creationId xmlns:p14="http://schemas.microsoft.com/office/powerpoint/2010/main" val="17361239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>
          <a:extLst>
            <a:ext uri="{FF2B5EF4-FFF2-40B4-BE49-F238E27FC236}">
              <a16:creationId xmlns:a16="http://schemas.microsoft.com/office/drawing/2014/main" id="{5E2B00E4-F2EE-2791-40E6-9FBE0D5589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48;p5">
            <a:extLst>
              <a:ext uri="{FF2B5EF4-FFF2-40B4-BE49-F238E27FC236}">
                <a16:creationId xmlns:a16="http://schemas.microsoft.com/office/drawing/2014/main" id="{44B52023-2B4C-FB37-86DF-2CB5260BCD0A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2449508" y="908767"/>
            <a:ext cx="3884763" cy="1080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53A1"/>
              </a:buClr>
              <a:buSzPts val="2400"/>
              <a:buFont typeface="Helvetica Neue"/>
              <a:buNone/>
            </a:pPr>
            <a:r>
              <a:rPr lang="ru-RU" sz="24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ФГАОУ ВО Первый МГМУ им. И. М. Сеченова</a:t>
            </a:r>
          </a:p>
        </p:txBody>
      </p:sp>
      <p:sp>
        <p:nvSpPr>
          <p:cNvPr id="64" name="Google Shape;48;p5">
            <a:extLst>
              <a:ext uri="{FF2B5EF4-FFF2-40B4-BE49-F238E27FC236}">
                <a16:creationId xmlns:a16="http://schemas.microsoft.com/office/drawing/2014/main" id="{0B897820-1951-F605-E18E-A579CBAABC23}"/>
              </a:ext>
            </a:extLst>
          </p:cNvPr>
          <p:cNvSpPr txBox="1">
            <a:spLocks/>
          </p:cNvSpPr>
          <p:nvPr/>
        </p:nvSpPr>
        <p:spPr>
          <a:xfrm>
            <a:off x="7041188" y="908767"/>
            <a:ext cx="4963382" cy="12954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114300" indent="0">
              <a:spcBef>
                <a:spcPts val="0"/>
              </a:spcBef>
              <a:buNone/>
            </a:pPr>
            <a:r>
              <a:rPr lang="ru-RU" sz="24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Оценка производительности и неопределённости медицинских ИИ-систем</a:t>
            </a:r>
          </a:p>
        </p:txBody>
      </p:sp>
      <p:sp>
        <p:nvSpPr>
          <p:cNvPr id="66" name="Google Shape;48;p5">
            <a:extLst>
              <a:ext uri="{FF2B5EF4-FFF2-40B4-BE49-F238E27FC236}">
                <a16:creationId xmlns:a16="http://schemas.microsoft.com/office/drawing/2014/main" id="{79867FCB-5126-9F01-2A72-90EE4295F4F2}"/>
              </a:ext>
            </a:extLst>
          </p:cNvPr>
          <p:cNvSpPr txBox="1">
            <a:spLocks/>
          </p:cNvSpPr>
          <p:nvPr/>
        </p:nvSpPr>
        <p:spPr>
          <a:xfrm>
            <a:off x="12711487" y="908767"/>
            <a:ext cx="4573544" cy="12954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114300" indent="0">
              <a:lnSpc>
                <a:spcPct val="104000"/>
              </a:lnSpc>
              <a:spcBef>
                <a:spcPts val="0"/>
              </a:spcBef>
              <a:buNone/>
            </a:pPr>
            <a:r>
              <a:rPr lang="en-US" sz="2400" err="1">
                <a:solidFill>
                  <a:schemeClr val="tx1"/>
                </a:solidFill>
                <a:latin typeface="Calibri" panose="020F0502020204030204" pitchFamily="34" charset="0"/>
                <a:ea typeface="Roboto Slab" pitchFamily="34" charset="-122"/>
                <a:cs typeface="Calibri" panose="020F0502020204030204" pitchFamily="34" charset="0"/>
              </a:rPr>
              <a:t>Сегментация</a:t>
            </a:r>
            <a:r>
              <a:rPr lang="en-US" sz="2400">
                <a:solidFill>
                  <a:schemeClr val="tx1"/>
                </a:solidFill>
                <a:latin typeface="Calibri" panose="020F0502020204030204" pitchFamily="34" charset="0"/>
                <a:ea typeface="Roboto Slab" pitchFamily="34" charset="-122"/>
                <a:cs typeface="Calibri" panose="020F0502020204030204" pitchFamily="34" charset="0"/>
              </a:rPr>
              <a:t> и </a:t>
            </a:r>
            <a:r>
              <a:rPr lang="en-US" sz="2400" err="1">
                <a:solidFill>
                  <a:schemeClr val="tx1"/>
                </a:solidFill>
                <a:latin typeface="Calibri" panose="020F0502020204030204" pitchFamily="34" charset="0"/>
                <a:ea typeface="Roboto Slab" pitchFamily="34" charset="-122"/>
                <a:cs typeface="Calibri" panose="020F0502020204030204" pitchFamily="34" charset="0"/>
              </a:rPr>
              <a:t>детекция</a:t>
            </a:r>
            <a:r>
              <a:rPr lang="en-US" sz="2400">
                <a:solidFill>
                  <a:schemeClr val="tx1"/>
                </a:solidFill>
                <a:latin typeface="Calibri" panose="020F0502020204030204" pitchFamily="34" charset="0"/>
                <a:ea typeface="Roboto Slab" pitchFamily="34" charset="-122"/>
                <a:cs typeface="Calibri" panose="020F0502020204030204" pitchFamily="34" charset="0"/>
              </a:rPr>
              <a:t>: </a:t>
            </a:r>
            <a:r>
              <a:rPr lang="en-US" sz="2400" err="1">
                <a:solidFill>
                  <a:schemeClr val="tx1"/>
                </a:solidFill>
                <a:latin typeface="Calibri" panose="020F0502020204030204" pitchFamily="34" charset="0"/>
                <a:ea typeface="Roboto Slab" pitchFamily="34" charset="-122"/>
                <a:cs typeface="Calibri" panose="020F0502020204030204" pitchFamily="34" charset="0"/>
              </a:rPr>
              <a:t>метрики</a:t>
            </a:r>
            <a:r>
              <a:rPr lang="en-US" sz="2400">
                <a:solidFill>
                  <a:schemeClr val="tx1"/>
                </a:solidFill>
                <a:latin typeface="Calibri" panose="020F0502020204030204" pitchFamily="34" charset="0"/>
                <a:ea typeface="Roboto Slab" pitchFamily="34" charset="-122"/>
                <a:cs typeface="Calibri" panose="020F0502020204030204" pitchFamily="34" charset="0"/>
              </a:rPr>
              <a:t> </a:t>
            </a:r>
            <a:r>
              <a:rPr lang="en-US" sz="2400" err="1">
                <a:solidFill>
                  <a:schemeClr val="tx1"/>
                </a:solidFill>
                <a:latin typeface="Calibri" panose="020F0502020204030204" pitchFamily="34" charset="0"/>
                <a:ea typeface="Roboto Slab" pitchFamily="34" charset="-122"/>
                <a:cs typeface="Calibri" panose="020F0502020204030204" pitchFamily="34" charset="0"/>
              </a:rPr>
              <a:t>для</a:t>
            </a:r>
            <a:r>
              <a:rPr lang="en-US" sz="2400">
                <a:solidFill>
                  <a:schemeClr val="tx1"/>
                </a:solidFill>
                <a:latin typeface="Calibri" panose="020F0502020204030204" pitchFamily="34" charset="0"/>
                <a:ea typeface="Roboto Slab" pitchFamily="34" charset="-122"/>
                <a:cs typeface="Calibri" panose="020F0502020204030204" pitchFamily="34" charset="0"/>
              </a:rPr>
              <a:t> </a:t>
            </a:r>
            <a:r>
              <a:rPr lang="en-US" sz="2400" err="1">
                <a:solidFill>
                  <a:schemeClr val="tx1"/>
                </a:solidFill>
                <a:latin typeface="Calibri" panose="020F0502020204030204" pitchFamily="34" charset="0"/>
                <a:ea typeface="Roboto Slab" pitchFamily="34" charset="-122"/>
                <a:cs typeface="Calibri" panose="020F0502020204030204" pitchFamily="34" charset="0"/>
              </a:rPr>
              <a:t>точных</a:t>
            </a:r>
            <a:r>
              <a:rPr lang="en-US" sz="2400">
                <a:solidFill>
                  <a:schemeClr val="tx1"/>
                </a:solidFill>
                <a:latin typeface="Calibri" panose="020F0502020204030204" pitchFamily="34" charset="0"/>
                <a:ea typeface="Roboto Slab" pitchFamily="34" charset="-122"/>
                <a:cs typeface="Calibri" panose="020F0502020204030204" pitchFamily="34" charset="0"/>
              </a:rPr>
              <a:t> </a:t>
            </a:r>
            <a:r>
              <a:rPr lang="en-US" sz="2400" err="1">
                <a:solidFill>
                  <a:schemeClr val="tx1"/>
                </a:solidFill>
                <a:latin typeface="Calibri" panose="020F0502020204030204" pitchFamily="34" charset="0"/>
                <a:ea typeface="Roboto Slab" pitchFamily="34" charset="-122"/>
                <a:cs typeface="Calibri" panose="020F0502020204030204" pitchFamily="34" charset="0"/>
              </a:rPr>
              <a:t>границ</a:t>
            </a:r>
            <a:r>
              <a:rPr lang="en-US" sz="2400">
                <a:solidFill>
                  <a:schemeClr val="tx1"/>
                </a:solidFill>
                <a:latin typeface="Calibri" panose="020F0502020204030204" pitchFamily="34" charset="0"/>
                <a:ea typeface="Roboto Slab" pitchFamily="34" charset="-122"/>
                <a:cs typeface="Calibri" panose="020F0502020204030204" pitchFamily="34" charset="0"/>
              </a:rPr>
              <a:t> и </a:t>
            </a:r>
            <a:r>
              <a:rPr lang="en-US" sz="2400" err="1">
                <a:solidFill>
                  <a:schemeClr val="tx1"/>
                </a:solidFill>
                <a:latin typeface="Calibri" panose="020F0502020204030204" pitchFamily="34" charset="0"/>
                <a:ea typeface="Roboto Slab" pitchFamily="34" charset="-122"/>
                <a:cs typeface="Calibri" panose="020F0502020204030204" pitchFamily="34" charset="0"/>
              </a:rPr>
              <a:t>локализации</a:t>
            </a:r>
            <a:endParaRPr lang="en-US" sz="24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Box 63">
            <a:extLst>
              <a:ext uri="{FF2B5EF4-FFF2-40B4-BE49-F238E27FC236}">
                <a16:creationId xmlns:a16="http://schemas.microsoft.com/office/drawing/2014/main" id="{3A6153E7-BDAD-EE77-B482-36BC84B5BBB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1100773" y="2209359"/>
            <a:ext cx="22051835" cy="937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defTabSz="25400">
              <a:spcBef>
                <a:spcPts val="2400"/>
              </a:spcBef>
              <a:buSzTx/>
              <a:buNone/>
              <a:defRPr sz="4800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lnSpc>
                <a:spcPct val="104000"/>
              </a:lnSpc>
            </a:pPr>
            <a:r>
              <a:rPr lang="en-US" err="1">
                <a:solidFill>
                  <a:schemeClr val="tx1"/>
                </a:solidFill>
                <a:latin typeface="Calibri" panose="020F0502020204030204" pitchFamily="34" charset="0"/>
                <a:ea typeface="Roboto Slab" pitchFamily="34" charset="-122"/>
                <a:cs typeface="Calibri" panose="020F0502020204030204" pitchFamily="34" charset="0"/>
              </a:rPr>
              <a:t>Сегментация</a:t>
            </a:r>
            <a:r>
              <a:rPr lang="en-US">
                <a:solidFill>
                  <a:schemeClr val="tx1"/>
                </a:solidFill>
                <a:latin typeface="Calibri" panose="020F0502020204030204" pitchFamily="34" charset="0"/>
                <a:ea typeface="Roboto Slab" pitchFamily="34" charset="-122"/>
                <a:cs typeface="Calibri" panose="020F0502020204030204" pitchFamily="34" charset="0"/>
              </a:rPr>
              <a:t> и </a:t>
            </a:r>
            <a:r>
              <a:rPr lang="en-US" err="1">
                <a:solidFill>
                  <a:schemeClr val="tx1"/>
                </a:solidFill>
                <a:latin typeface="Calibri" panose="020F0502020204030204" pitchFamily="34" charset="0"/>
                <a:ea typeface="Roboto Slab" pitchFamily="34" charset="-122"/>
                <a:cs typeface="Calibri" panose="020F0502020204030204" pitchFamily="34" charset="0"/>
              </a:rPr>
              <a:t>детекция</a:t>
            </a:r>
            <a:r>
              <a:rPr lang="en-US">
                <a:solidFill>
                  <a:schemeClr val="tx1"/>
                </a:solidFill>
                <a:latin typeface="Calibri" panose="020F0502020204030204" pitchFamily="34" charset="0"/>
                <a:ea typeface="Roboto Slab" pitchFamily="34" charset="-122"/>
                <a:cs typeface="Calibri" panose="020F0502020204030204" pitchFamily="34" charset="0"/>
              </a:rPr>
              <a:t>: </a:t>
            </a:r>
            <a:r>
              <a:rPr lang="en-US" err="1">
                <a:solidFill>
                  <a:schemeClr val="tx1"/>
                </a:solidFill>
                <a:latin typeface="Calibri" panose="020F0502020204030204" pitchFamily="34" charset="0"/>
                <a:ea typeface="Roboto Slab" pitchFamily="34" charset="-122"/>
                <a:cs typeface="Calibri" panose="020F0502020204030204" pitchFamily="34" charset="0"/>
              </a:rPr>
              <a:t>метрики</a:t>
            </a:r>
            <a:r>
              <a:rPr lang="en-US">
                <a:solidFill>
                  <a:schemeClr val="tx1"/>
                </a:solidFill>
                <a:latin typeface="Calibri" panose="020F0502020204030204" pitchFamily="34" charset="0"/>
                <a:ea typeface="Roboto Slab" pitchFamily="34" charset="-122"/>
                <a:cs typeface="Calibri" panose="020F0502020204030204" pitchFamily="34" charset="0"/>
              </a:rPr>
              <a:t> </a:t>
            </a:r>
            <a:r>
              <a:rPr lang="en-US" err="1">
                <a:solidFill>
                  <a:schemeClr val="tx1"/>
                </a:solidFill>
                <a:latin typeface="Calibri" panose="020F0502020204030204" pitchFamily="34" charset="0"/>
                <a:ea typeface="Roboto Slab" pitchFamily="34" charset="-122"/>
                <a:cs typeface="Calibri" panose="020F0502020204030204" pitchFamily="34" charset="0"/>
              </a:rPr>
              <a:t>для</a:t>
            </a:r>
            <a:r>
              <a:rPr lang="en-US">
                <a:solidFill>
                  <a:schemeClr val="tx1"/>
                </a:solidFill>
                <a:latin typeface="Calibri" panose="020F0502020204030204" pitchFamily="34" charset="0"/>
                <a:ea typeface="Roboto Slab" pitchFamily="34" charset="-122"/>
                <a:cs typeface="Calibri" panose="020F0502020204030204" pitchFamily="34" charset="0"/>
              </a:rPr>
              <a:t> </a:t>
            </a:r>
            <a:r>
              <a:rPr lang="en-US" err="1">
                <a:solidFill>
                  <a:schemeClr val="tx1"/>
                </a:solidFill>
                <a:latin typeface="Calibri" panose="020F0502020204030204" pitchFamily="34" charset="0"/>
                <a:ea typeface="Roboto Slab" pitchFamily="34" charset="-122"/>
                <a:cs typeface="Calibri" panose="020F0502020204030204" pitchFamily="34" charset="0"/>
              </a:rPr>
              <a:t>точных</a:t>
            </a:r>
            <a:r>
              <a:rPr lang="en-US">
                <a:solidFill>
                  <a:schemeClr val="tx1"/>
                </a:solidFill>
                <a:latin typeface="Calibri" panose="020F0502020204030204" pitchFamily="34" charset="0"/>
                <a:ea typeface="Roboto Slab" pitchFamily="34" charset="-122"/>
                <a:cs typeface="Calibri" panose="020F0502020204030204" pitchFamily="34" charset="0"/>
              </a:rPr>
              <a:t> </a:t>
            </a:r>
            <a:r>
              <a:rPr lang="en-US" err="1">
                <a:solidFill>
                  <a:schemeClr val="tx1"/>
                </a:solidFill>
                <a:latin typeface="Calibri" panose="020F0502020204030204" pitchFamily="34" charset="0"/>
                <a:ea typeface="Roboto Slab" pitchFamily="34" charset="-122"/>
                <a:cs typeface="Calibri" panose="020F0502020204030204" pitchFamily="34" charset="0"/>
              </a:rPr>
              <a:t>границ</a:t>
            </a:r>
            <a:r>
              <a:rPr lang="en-US">
                <a:solidFill>
                  <a:schemeClr val="tx1"/>
                </a:solidFill>
                <a:latin typeface="Calibri" panose="020F0502020204030204" pitchFamily="34" charset="0"/>
                <a:ea typeface="Roboto Slab" pitchFamily="34" charset="-122"/>
                <a:cs typeface="Calibri" panose="020F0502020204030204" pitchFamily="34" charset="0"/>
              </a:rPr>
              <a:t> и </a:t>
            </a:r>
            <a:r>
              <a:rPr lang="en-US" err="1">
                <a:solidFill>
                  <a:schemeClr val="tx1"/>
                </a:solidFill>
                <a:latin typeface="Calibri" panose="020F0502020204030204" pitchFamily="34" charset="0"/>
                <a:ea typeface="Roboto Slab" pitchFamily="34" charset="-122"/>
                <a:cs typeface="Calibri" panose="020F0502020204030204" pitchFamily="34" charset="0"/>
              </a:rPr>
              <a:t>локализации</a:t>
            </a:r>
            <a:endParaRPr lang="en-US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A51AE7-BF86-CF69-DE88-34DEB4BAFFD1}"/>
              </a:ext>
            </a:extLst>
          </p:cNvPr>
          <p:cNvSpPr txBox="1"/>
          <p:nvPr/>
        </p:nvSpPr>
        <p:spPr>
          <a:xfrm>
            <a:off x="1100773" y="3635868"/>
            <a:ext cx="22412370" cy="119006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2800" err="1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Сегментация</a:t>
            </a:r>
            <a:r>
              <a:rPr lang="en-US" sz="2800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 </a:t>
            </a:r>
            <a:r>
              <a:rPr lang="en-US" sz="2800" err="1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требует</a:t>
            </a:r>
            <a:r>
              <a:rPr lang="en-US" sz="2800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 </a:t>
            </a:r>
            <a:r>
              <a:rPr lang="en-US" sz="2800" err="1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оценки</a:t>
            </a:r>
            <a:r>
              <a:rPr lang="en-US" sz="2800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 </a:t>
            </a:r>
            <a:r>
              <a:rPr lang="en-US" sz="2800" err="1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совпадения</a:t>
            </a:r>
            <a:r>
              <a:rPr lang="en-US" sz="2800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 </a:t>
            </a:r>
            <a:r>
              <a:rPr lang="en-US" sz="2800" err="1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областей</a:t>
            </a:r>
            <a:r>
              <a:rPr lang="en-US" sz="2800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 и </a:t>
            </a:r>
            <a:r>
              <a:rPr lang="en-US" sz="2800" err="1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точности</a:t>
            </a:r>
            <a:r>
              <a:rPr lang="en-US" sz="2800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 </a:t>
            </a:r>
            <a:r>
              <a:rPr lang="en-US" sz="2800" err="1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границ</a:t>
            </a:r>
            <a:r>
              <a:rPr lang="en-US" sz="2800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 — </a:t>
            </a:r>
            <a:r>
              <a:rPr lang="en-US" sz="2800" b="1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Dice и </a:t>
            </a:r>
            <a:r>
              <a:rPr lang="en-US" sz="2800" b="1" err="1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Hausdorff</a:t>
            </a:r>
            <a:r>
              <a:rPr lang="en-US" sz="2800" b="1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 </a:t>
            </a:r>
            <a:r>
              <a:rPr lang="en-US" sz="2800" err="1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дополняют</a:t>
            </a:r>
            <a:r>
              <a:rPr lang="en-US" sz="2800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 </a:t>
            </a:r>
            <a:r>
              <a:rPr lang="en-US" sz="2800" err="1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друг</a:t>
            </a:r>
            <a:r>
              <a:rPr lang="en-US" sz="2800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 </a:t>
            </a:r>
            <a:r>
              <a:rPr lang="en-US" sz="2800" err="1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друга</a:t>
            </a:r>
            <a:r>
              <a:rPr lang="en-US" sz="2800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. </a:t>
            </a:r>
            <a:r>
              <a:rPr lang="en-US" sz="2800" err="1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Детекция</a:t>
            </a:r>
            <a:r>
              <a:rPr lang="en-US" sz="2800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 </a:t>
            </a:r>
            <a:r>
              <a:rPr lang="en-US" sz="2800" err="1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должна</a:t>
            </a:r>
            <a:r>
              <a:rPr lang="en-US" sz="2800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 </a:t>
            </a:r>
            <a:r>
              <a:rPr lang="en-US" sz="2800" err="1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оценивать</a:t>
            </a:r>
            <a:r>
              <a:rPr lang="en-US" sz="2800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 и </a:t>
            </a:r>
            <a:r>
              <a:rPr lang="en-US" sz="2800" err="1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факт</a:t>
            </a:r>
            <a:r>
              <a:rPr lang="en-US" sz="2800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 </a:t>
            </a:r>
            <a:r>
              <a:rPr lang="en-US" sz="2800" err="1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нахождения</a:t>
            </a:r>
            <a:r>
              <a:rPr lang="en-US" sz="2800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, и </a:t>
            </a:r>
            <a:r>
              <a:rPr lang="en-US" sz="2800" err="1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координаты</a:t>
            </a:r>
            <a:r>
              <a:rPr lang="en-US" sz="2800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 — </a:t>
            </a:r>
            <a:r>
              <a:rPr lang="en-US" sz="2800" err="1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поэтому</a:t>
            </a:r>
            <a:r>
              <a:rPr lang="en-US" sz="2800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 </a:t>
            </a:r>
            <a:r>
              <a:rPr lang="en-US" sz="2800" b="1" err="1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mAP</a:t>
            </a:r>
            <a:r>
              <a:rPr lang="en-US" sz="2800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 </a:t>
            </a:r>
            <a:r>
              <a:rPr lang="en-US" sz="2800" err="1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вместе</a:t>
            </a:r>
            <a:r>
              <a:rPr lang="en-US" sz="2800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 с </a:t>
            </a:r>
            <a:r>
              <a:rPr lang="en-US" sz="2800" b="1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Precision/Recall </a:t>
            </a:r>
            <a:r>
              <a:rPr lang="en-US" sz="2800" err="1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отражают</a:t>
            </a:r>
            <a:r>
              <a:rPr lang="en-US" sz="2800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 </a:t>
            </a:r>
            <a:r>
              <a:rPr lang="en-US" sz="2800" err="1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реальную</a:t>
            </a:r>
            <a:r>
              <a:rPr lang="en-US" sz="2800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 </a:t>
            </a:r>
            <a:r>
              <a:rPr lang="en-US" sz="2800" err="1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эффективность</a:t>
            </a:r>
            <a:r>
              <a:rPr lang="en-US" sz="2800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 в </a:t>
            </a:r>
            <a:r>
              <a:rPr lang="en-US" sz="2800" err="1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клинике</a:t>
            </a:r>
            <a:r>
              <a:rPr lang="en-US" sz="2800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.</a:t>
            </a:r>
            <a:endParaRPr lang="en-US" sz="28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Рисунок 5" descr="Diagnostics 14 01183 g004">
            <a:extLst>
              <a:ext uri="{FF2B5EF4-FFF2-40B4-BE49-F238E27FC236}">
                <a16:creationId xmlns:a16="http://schemas.microsoft.com/office/drawing/2014/main" id="{CD25F675-35B0-5693-F4BA-EC36C96C96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7361" y="5054183"/>
            <a:ext cx="12124911" cy="7671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08591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>
          <a:extLst>
            <a:ext uri="{FF2B5EF4-FFF2-40B4-BE49-F238E27FC236}">
              <a16:creationId xmlns:a16="http://schemas.microsoft.com/office/drawing/2014/main" id="{6B9D4430-6A6F-B02D-61E9-972257E23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">
            <a:extLst>
              <a:ext uri="{FF2B5EF4-FFF2-40B4-BE49-F238E27FC236}">
                <a16:creationId xmlns:a16="http://schemas.microsoft.com/office/drawing/2014/main" id="{BC2BE0EA-4916-CC88-9B0A-9CC9ABDB4FC4}"/>
              </a:ext>
            </a:extLst>
          </p:cNvPr>
          <p:cNvSpPr/>
          <p:nvPr/>
        </p:nvSpPr>
        <p:spPr>
          <a:xfrm>
            <a:off x="11896978" y="6360321"/>
            <a:ext cx="45719" cy="6258029"/>
          </a:xfrm>
          <a:prstGeom prst="roundRect">
            <a:avLst>
              <a:gd name="adj" fmla="val 130228"/>
            </a:avLst>
          </a:prstGeom>
          <a:solidFill>
            <a:srgbClr val="CFD2D8"/>
          </a:solidFill>
          <a:ln/>
        </p:spPr>
      </p:sp>
      <p:sp>
        <p:nvSpPr>
          <p:cNvPr id="17" name="Google Shape;48;p5">
            <a:extLst>
              <a:ext uri="{FF2B5EF4-FFF2-40B4-BE49-F238E27FC236}">
                <a16:creationId xmlns:a16="http://schemas.microsoft.com/office/drawing/2014/main" id="{D1D5AD3A-DCC6-41DD-CBB1-DF4EE4E6257C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2449508" y="908767"/>
            <a:ext cx="3884763" cy="1080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53A1"/>
              </a:buClr>
              <a:buSzPts val="2400"/>
              <a:buFont typeface="Helvetica Neue"/>
              <a:buNone/>
            </a:pPr>
            <a:r>
              <a:rPr lang="ru-RU" sz="24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ФГАОУ ВО Первый МГМУ им. И. М. Сеченова</a:t>
            </a:r>
          </a:p>
        </p:txBody>
      </p:sp>
      <p:sp>
        <p:nvSpPr>
          <p:cNvPr id="64" name="Google Shape;48;p5">
            <a:extLst>
              <a:ext uri="{FF2B5EF4-FFF2-40B4-BE49-F238E27FC236}">
                <a16:creationId xmlns:a16="http://schemas.microsoft.com/office/drawing/2014/main" id="{755E6AB7-4961-8901-A787-665945FBD22C}"/>
              </a:ext>
            </a:extLst>
          </p:cNvPr>
          <p:cNvSpPr txBox="1">
            <a:spLocks/>
          </p:cNvSpPr>
          <p:nvPr/>
        </p:nvSpPr>
        <p:spPr>
          <a:xfrm>
            <a:off x="7041188" y="908767"/>
            <a:ext cx="4963382" cy="11848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114300" indent="0">
              <a:spcBef>
                <a:spcPts val="0"/>
              </a:spcBef>
              <a:buNone/>
            </a:pPr>
            <a:r>
              <a:rPr lang="ru-RU" sz="24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Оценка производительности и неопределённости медицинских ИИ-систем</a:t>
            </a:r>
          </a:p>
        </p:txBody>
      </p:sp>
      <p:sp>
        <p:nvSpPr>
          <p:cNvPr id="66" name="Google Shape;48;p5">
            <a:extLst>
              <a:ext uri="{FF2B5EF4-FFF2-40B4-BE49-F238E27FC236}">
                <a16:creationId xmlns:a16="http://schemas.microsoft.com/office/drawing/2014/main" id="{44DECD30-8822-D90F-8FBA-E915C7390AC8}"/>
              </a:ext>
            </a:extLst>
          </p:cNvPr>
          <p:cNvSpPr txBox="1">
            <a:spLocks/>
          </p:cNvSpPr>
          <p:nvPr/>
        </p:nvSpPr>
        <p:spPr>
          <a:xfrm>
            <a:off x="12711487" y="1016850"/>
            <a:ext cx="4546300" cy="9068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114300" indent="0">
              <a:lnSpc>
                <a:spcPct val="104000"/>
              </a:lnSpc>
              <a:spcBef>
                <a:spcPts val="0"/>
              </a:spcBef>
              <a:buNone/>
            </a:pPr>
            <a:r>
              <a:rPr lang="en-US" sz="2400" err="1">
                <a:solidFill>
                  <a:schemeClr val="tx1"/>
                </a:solidFill>
                <a:latin typeface="Calibri" panose="020F0502020204030204" pitchFamily="34" charset="0"/>
                <a:ea typeface="Roboto Slab" pitchFamily="34" charset="-122"/>
                <a:cs typeface="Calibri" panose="020F0502020204030204" pitchFamily="34" charset="0"/>
              </a:rPr>
              <a:t>Анализ</a:t>
            </a:r>
            <a:r>
              <a:rPr lang="en-US" sz="2400">
                <a:solidFill>
                  <a:schemeClr val="tx1"/>
                </a:solidFill>
                <a:latin typeface="Calibri" panose="020F0502020204030204" pitchFamily="34" charset="0"/>
                <a:ea typeface="Roboto Slab" pitchFamily="34" charset="-122"/>
                <a:cs typeface="Calibri" panose="020F0502020204030204" pitchFamily="34" charset="0"/>
              </a:rPr>
              <a:t> </a:t>
            </a:r>
            <a:r>
              <a:rPr lang="en-US" sz="2400" err="1">
                <a:solidFill>
                  <a:schemeClr val="tx1"/>
                </a:solidFill>
                <a:latin typeface="Calibri" panose="020F0502020204030204" pitchFamily="34" charset="0"/>
                <a:ea typeface="Roboto Slab" pitchFamily="34" charset="-122"/>
                <a:cs typeface="Calibri" panose="020F0502020204030204" pitchFamily="34" charset="0"/>
              </a:rPr>
              <a:t>инструмента</a:t>
            </a:r>
            <a:r>
              <a:rPr lang="en-US" sz="2400">
                <a:solidFill>
                  <a:schemeClr val="tx1"/>
                </a:solidFill>
                <a:latin typeface="Calibri" panose="020F0502020204030204" pitchFamily="34" charset="0"/>
                <a:ea typeface="Roboto Slab" pitchFamily="34" charset="-122"/>
                <a:cs typeface="Calibri" panose="020F0502020204030204" pitchFamily="34" charset="0"/>
              </a:rPr>
              <a:t> MIDRC‑</a:t>
            </a:r>
            <a:r>
              <a:rPr lang="en-US" sz="2400" err="1">
                <a:solidFill>
                  <a:schemeClr val="tx1"/>
                </a:solidFill>
                <a:latin typeface="Calibri" panose="020F0502020204030204" pitchFamily="34" charset="0"/>
                <a:ea typeface="Roboto Slab" pitchFamily="34" charset="-122"/>
                <a:cs typeface="Calibri" panose="020F0502020204030204" pitchFamily="34" charset="0"/>
              </a:rPr>
              <a:t>MetricTree</a:t>
            </a:r>
            <a:endParaRPr lang="en-US" sz="24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Box 63">
            <a:extLst>
              <a:ext uri="{FF2B5EF4-FFF2-40B4-BE49-F238E27FC236}">
                <a16:creationId xmlns:a16="http://schemas.microsoft.com/office/drawing/2014/main" id="{4E54C6A0-5B3C-CD26-89B0-AD453056AF8A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1100772" y="2193241"/>
            <a:ext cx="18194933" cy="115312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defTabSz="25400">
              <a:spcBef>
                <a:spcPts val="2400"/>
              </a:spcBef>
              <a:buSzTx/>
              <a:buNone/>
              <a:defRPr sz="4800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lnSpc>
                <a:spcPct val="104000"/>
              </a:lnSpc>
            </a:pPr>
            <a:r>
              <a:rPr lang="en-US" err="1">
                <a:solidFill>
                  <a:schemeClr val="tx1"/>
                </a:solidFill>
                <a:latin typeface="Calibri" panose="020F0502020204030204" pitchFamily="34" charset="0"/>
                <a:ea typeface="Roboto Slab" pitchFamily="34" charset="-122"/>
                <a:cs typeface="Calibri" panose="020F0502020204030204" pitchFamily="34" charset="0"/>
              </a:rPr>
              <a:t>Анализ</a:t>
            </a:r>
            <a:r>
              <a:rPr lang="en-US">
                <a:solidFill>
                  <a:schemeClr val="tx1"/>
                </a:solidFill>
                <a:latin typeface="Calibri" panose="020F0502020204030204" pitchFamily="34" charset="0"/>
                <a:ea typeface="Roboto Slab" pitchFamily="34" charset="-122"/>
                <a:cs typeface="Calibri" panose="020F0502020204030204" pitchFamily="34" charset="0"/>
              </a:rPr>
              <a:t> </a:t>
            </a:r>
            <a:r>
              <a:rPr lang="en-US" err="1">
                <a:solidFill>
                  <a:schemeClr val="tx1"/>
                </a:solidFill>
                <a:latin typeface="Calibri" panose="020F0502020204030204" pitchFamily="34" charset="0"/>
                <a:ea typeface="Roboto Slab" pitchFamily="34" charset="-122"/>
                <a:cs typeface="Calibri" panose="020F0502020204030204" pitchFamily="34" charset="0"/>
              </a:rPr>
              <a:t>инструмента</a:t>
            </a:r>
            <a:r>
              <a:rPr lang="en-US">
                <a:solidFill>
                  <a:schemeClr val="tx1"/>
                </a:solidFill>
                <a:latin typeface="Calibri" panose="020F0502020204030204" pitchFamily="34" charset="0"/>
                <a:ea typeface="Roboto Slab" pitchFamily="34" charset="-122"/>
                <a:cs typeface="Calibri" panose="020F0502020204030204" pitchFamily="34" charset="0"/>
              </a:rPr>
              <a:t> MIDRC‑</a:t>
            </a:r>
            <a:r>
              <a:rPr lang="en-US" err="1">
                <a:solidFill>
                  <a:schemeClr val="tx1"/>
                </a:solidFill>
                <a:latin typeface="Calibri" panose="020F0502020204030204" pitchFamily="34" charset="0"/>
                <a:ea typeface="Roboto Slab" pitchFamily="34" charset="-122"/>
                <a:cs typeface="Calibri" panose="020F0502020204030204" pitchFamily="34" charset="0"/>
              </a:rPr>
              <a:t>MetricTree</a:t>
            </a:r>
            <a:endParaRPr lang="en-US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F1E403-B42A-C13D-768D-02B4AC07BF78}"/>
              </a:ext>
            </a:extLst>
          </p:cNvPr>
          <p:cNvSpPr txBox="1"/>
          <p:nvPr/>
        </p:nvSpPr>
        <p:spPr>
          <a:xfrm>
            <a:off x="1100772" y="3905435"/>
            <a:ext cx="22307867" cy="119006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2800" b="1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MIDRC‑</a:t>
            </a:r>
            <a:r>
              <a:rPr lang="en-US" sz="2800" b="1" err="1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MetricTree</a:t>
            </a:r>
            <a:r>
              <a:rPr lang="en-US" sz="2800" b="1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 </a:t>
            </a:r>
            <a:r>
              <a:rPr lang="en-US" sz="2800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— </a:t>
            </a:r>
            <a:r>
              <a:rPr lang="en-US" sz="2800" err="1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дерево</a:t>
            </a:r>
            <a:r>
              <a:rPr lang="en-US" sz="2800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 </a:t>
            </a:r>
            <a:r>
              <a:rPr lang="en-US" sz="2800" err="1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решений</a:t>
            </a:r>
            <a:r>
              <a:rPr lang="en-US" sz="2800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 </a:t>
            </a:r>
            <a:r>
              <a:rPr lang="en-US" sz="2800" err="1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для</a:t>
            </a:r>
            <a:r>
              <a:rPr lang="en-US" sz="2800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 </a:t>
            </a:r>
            <a:r>
              <a:rPr lang="en-US" sz="2800" err="1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выбора</a:t>
            </a:r>
            <a:r>
              <a:rPr lang="en-US" sz="2800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 </a:t>
            </a:r>
            <a:r>
              <a:rPr lang="en-US" sz="2800" err="1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метрик</a:t>
            </a:r>
            <a:r>
              <a:rPr lang="en-US" sz="2800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. </a:t>
            </a:r>
            <a:r>
              <a:rPr lang="en-US" sz="2800" err="1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Исследователь</a:t>
            </a:r>
            <a:r>
              <a:rPr lang="en-US" sz="2800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 </a:t>
            </a:r>
            <a:r>
              <a:rPr lang="en-US" sz="2800" err="1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отвечает</a:t>
            </a:r>
            <a:r>
              <a:rPr lang="en-US" sz="2800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 </a:t>
            </a:r>
            <a:r>
              <a:rPr lang="en-US" sz="2800" err="1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последовательно</a:t>
            </a:r>
            <a:r>
              <a:rPr lang="en-US" sz="2800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 </a:t>
            </a:r>
            <a:r>
              <a:rPr lang="en-US" sz="2800" err="1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на</a:t>
            </a:r>
            <a:r>
              <a:rPr lang="en-US" sz="2800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 </a:t>
            </a:r>
            <a:r>
              <a:rPr lang="en-US" sz="2800" err="1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вопросы</a:t>
            </a:r>
            <a:r>
              <a:rPr lang="en-US" sz="2800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 о </a:t>
            </a:r>
            <a:r>
              <a:rPr lang="en-US" sz="2800" err="1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типе</a:t>
            </a:r>
            <a:r>
              <a:rPr lang="en-US" sz="2800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 </a:t>
            </a:r>
            <a:r>
              <a:rPr lang="en-US" sz="2800" err="1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задачи</a:t>
            </a:r>
            <a:r>
              <a:rPr lang="en-US" sz="2800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, </a:t>
            </a:r>
            <a:r>
              <a:rPr lang="en-US" sz="2800" err="1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формате</a:t>
            </a:r>
            <a:r>
              <a:rPr lang="en-US" sz="2800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 </a:t>
            </a:r>
            <a:r>
              <a:rPr lang="en-US" sz="2800" err="1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вывода</a:t>
            </a:r>
            <a:r>
              <a:rPr lang="en-US" sz="2800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, </a:t>
            </a:r>
            <a:r>
              <a:rPr lang="en-US" sz="2800" err="1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числе</a:t>
            </a:r>
            <a:r>
              <a:rPr lang="en-US" sz="2800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 </a:t>
            </a:r>
            <a:r>
              <a:rPr lang="en-US" sz="2800" err="1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классов</a:t>
            </a:r>
            <a:r>
              <a:rPr lang="en-US" sz="2800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, </a:t>
            </a:r>
            <a:r>
              <a:rPr lang="en-US" sz="2800" err="1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качестве</a:t>
            </a:r>
            <a:r>
              <a:rPr lang="en-US" sz="2800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 </a:t>
            </a:r>
            <a:r>
              <a:rPr lang="en-US" sz="2800" err="1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эталонной</a:t>
            </a:r>
            <a:r>
              <a:rPr lang="en-US" sz="2800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 </a:t>
            </a:r>
            <a:r>
              <a:rPr lang="en-US" sz="2800" err="1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разметки</a:t>
            </a:r>
            <a:r>
              <a:rPr lang="en-US" sz="2800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 и </a:t>
            </a:r>
            <a:r>
              <a:rPr lang="en-US" sz="2800" err="1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клинической</a:t>
            </a:r>
            <a:r>
              <a:rPr lang="en-US" sz="2800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 </a:t>
            </a:r>
            <a:r>
              <a:rPr lang="en-US" sz="2800" err="1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значимости</a:t>
            </a:r>
            <a:r>
              <a:rPr lang="en-US" sz="2800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 </a:t>
            </a:r>
            <a:r>
              <a:rPr lang="en-US" sz="2800" err="1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ошибок</a:t>
            </a:r>
            <a:r>
              <a:rPr lang="en-US" sz="2800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, </a:t>
            </a:r>
            <a:r>
              <a:rPr lang="en-US" sz="2800" err="1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после</a:t>
            </a:r>
            <a:r>
              <a:rPr lang="en-US" sz="2800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 </a:t>
            </a:r>
            <a:r>
              <a:rPr lang="en-US" sz="2800" err="1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чего</a:t>
            </a:r>
            <a:r>
              <a:rPr lang="en-US" sz="2800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 </a:t>
            </a:r>
            <a:r>
              <a:rPr lang="en-US" sz="2800" err="1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получает</a:t>
            </a:r>
            <a:r>
              <a:rPr lang="en-US" sz="2800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 </a:t>
            </a:r>
            <a:r>
              <a:rPr lang="en-US" sz="2800" err="1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рекомендуемый</a:t>
            </a:r>
            <a:r>
              <a:rPr lang="en-US" sz="2800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 </a:t>
            </a:r>
            <a:r>
              <a:rPr lang="en-US" sz="2800" err="1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набор</a:t>
            </a:r>
            <a:r>
              <a:rPr lang="en-US" sz="2800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 </a:t>
            </a:r>
            <a:r>
              <a:rPr lang="en-US" sz="2800" err="1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метрик</a:t>
            </a:r>
            <a:r>
              <a:rPr lang="en-US" sz="2800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.</a:t>
            </a:r>
            <a:endParaRPr lang="en-US" sz="28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hape 3">
            <a:extLst>
              <a:ext uri="{FF2B5EF4-FFF2-40B4-BE49-F238E27FC236}">
                <a16:creationId xmlns:a16="http://schemas.microsoft.com/office/drawing/2014/main" id="{E452EA04-D197-C891-9961-1ED84AD9AA9E}"/>
              </a:ext>
            </a:extLst>
          </p:cNvPr>
          <p:cNvSpPr/>
          <p:nvPr/>
        </p:nvSpPr>
        <p:spPr>
          <a:xfrm>
            <a:off x="10621503" y="6252575"/>
            <a:ext cx="994618" cy="45719"/>
          </a:xfrm>
          <a:prstGeom prst="roundRect">
            <a:avLst>
              <a:gd name="adj" fmla="val 130228"/>
            </a:avLst>
          </a:prstGeom>
          <a:solidFill>
            <a:srgbClr val="CFD2D8"/>
          </a:solidFill>
          <a:ln/>
        </p:spPr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633C2E8C-402A-A40A-8CA1-C1937F5DB053}"/>
              </a:ext>
            </a:extLst>
          </p:cNvPr>
          <p:cNvSpPr/>
          <p:nvPr/>
        </p:nvSpPr>
        <p:spPr>
          <a:xfrm>
            <a:off x="11599204" y="5975523"/>
            <a:ext cx="636835" cy="645542"/>
          </a:xfrm>
          <a:prstGeom prst="roundRect">
            <a:avLst>
              <a:gd name="adj" fmla="val 6668"/>
            </a:avLst>
          </a:prstGeom>
          <a:solidFill>
            <a:srgbClr val="E9ECF2"/>
          </a:solidFill>
          <a:ln/>
        </p:spPr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096CAE8D-587F-327E-F39B-B461C2241209}"/>
              </a:ext>
            </a:extLst>
          </p:cNvPr>
          <p:cNvSpPr/>
          <p:nvPr/>
        </p:nvSpPr>
        <p:spPr>
          <a:xfrm>
            <a:off x="9068640" y="6025454"/>
            <a:ext cx="1281784" cy="645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3200" b="1">
                <a:solidFill>
                  <a:schemeClr val="tx1"/>
                </a:solidFill>
                <a:latin typeface="Calibri" panose="020F0502020204030204" pitchFamily="34" charset="0"/>
                <a:ea typeface="Roboto Slab" pitchFamily="34" charset="-122"/>
                <a:cs typeface="Calibri" panose="020F0502020204030204" pitchFamily="34" charset="0"/>
              </a:rPr>
              <a:t>Шаг 1</a:t>
            </a:r>
            <a:endParaRPr lang="en-US" sz="3200" b="1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00D23C97-11EC-19AF-ACC1-4B250B3B8805}"/>
              </a:ext>
            </a:extLst>
          </p:cNvPr>
          <p:cNvSpPr/>
          <p:nvPr/>
        </p:nvSpPr>
        <p:spPr>
          <a:xfrm>
            <a:off x="983297" y="6549145"/>
            <a:ext cx="9367127" cy="10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r">
              <a:lnSpc>
                <a:spcPct val="133000"/>
              </a:lnSpc>
              <a:buNone/>
            </a:pPr>
            <a:r>
              <a:rPr lang="en-US" sz="2800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Определить тип задачи (классификация/сегментация/детекция/прогнозирование).</a:t>
            </a:r>
            <a:endParaRPr lang="en-US" sz="28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 11">
            <a:extLst>
              <a:ext uri="{FF2B5EF4-FFF2-40B4-BE49-F238E27FC236}">
                <a16:creationId xmlns:a16="http://schemas.microsoft.com/office/drawing/2014/main" id="{6DB0BD85-CA91-A1F0-76E8-40D00EC5A6B1}"/>
              </a:ext>
            </a:extLst>
          </p:cNvPr>
          <p:cNvSpPr/>
          <p:nvPr/>
        </p:nvSpPr>
        <p:spPr>
          <a:xfrm>
            <a:off x="13510144" y="7437293"/>
            <a:ext cx="1429078" cy="6414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b="1">
                <a:solidFill>
                  <a:schemeClr val="tx1"/>
                </a:solidFill>
                <a:latin typeface="Calibri" panose="020F0502020204030204" pitchFamily="34" charset="0"/>
                <a:ea typeface="Roboto Slab" pitchFamily="34" charset="-122"/>
                <a:cs typeface="Calibri" panose="020F0502020204030204" pitchFamily="34" charset="0"/>
              </a:rPr>
              <a:t>Шаг 2</a:t>
            </a:r>
            <a:endParaRPr lang="en-US" sz="3200" b="1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 12">
            <a:extLst>
              <a:ext uri="{FF2B5EF4-FFF2-40B4-BE49-F238E27FC236}">
                <a16:creationId xmlns:a16="http://schemas.microsoft.com/office/drawing/2014/main" id="{D3B924EB-39C2-BE2F-CDBB-E39D1DB30658}"/>
              </a:ext>
            </a:extLst>
          </p:cNvPr>
          <p:cNvSpPr/>
          <p:nvPr/>
        </p:nvSpPr>
        <p:spPr>
          <a:xfrm>
            <a:off x="13510144" y="7952153"/>
            <a:ext cx="7776928" cy="1293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2800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Указать формат вывода модели (бинарный, мультиклассовый, маски, bounding box).</a:t>
            </a:r>
            <a:endParaRPr lang="en-US" sz="28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 16">
            <a:extLst>
              <a:ext uri="{FF2B5EF4-FFF2-40B4-BE49-F238E27FC236}">
                <a16:creationId xmlns:a16="http://schemas.microsoft.com/office/drawing/2014/main" id="{2145B3A5-A5AD-8AD6-BC21-10421B1274D0}"/>
              </a:ext>
            </a:extLst>
          </p:cNvPr>
          <p:cNvSpPr/>
          <p:nvPr/>
        </p:nvSpPr>
        <p:spPr>
          <a:xfrm>
            <a:off x="8678354" y="8862386"/>
            <a:ext cx="1672070" cy="433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3200" b="1">
                <a:solidFill>
                  <a:schemeClr val="tx1"/>
                </a:solidFill>
                <a:latin typeface="Calibri" panose="020F0502020204030204" pitchFamily="34" charset="0"/>
                <a:ea typeface="Roboto Slab" pitchFamily="34" charset="-122"/>
                <a:cs typeface="Calibri" panose="020F0502020204030204" pitchFamily="34" charset="0"/>
              </a:rPr>
              <a:t>Шаг 3</a:t>
            </a:r>
            <a:endParaRPr lang="en-US" sz="3200" b="1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 17">
            <a:extLst>
              <a:ext uri="{FF2B5EF4-FFF2-40B4-BE49-F238E27FC236}">
                <a16:creationId xmlns:a16="http://schemas.microsoft.com/office/drawing/2014/main" id="{7D359565-5621-7CCB-0BDA-4AB82A88F25C}"/>
              </a:ext>
            </a:extLst>
          </p:cNvPr>
          <p:cNvSpPr/>
          <p:nvPr/>
        </p:nvSpPr>
        <p:spPr>
          <a:xfrm>
            <a:off x="3538081" y="9414187"/>
            <a:ext cx="6812343" cy="11900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r">
              <a:lnSpc>
                <a:spcPct val="133000"/>
              </a:lnSpc>
              <a:buNone/>
            </a:pPr>
            <a:r>
              <a:rPr lang="en-US" sz="2800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Оценить надёжность эталонной разметки и критичность ошибок.</a:t>
            </a:r>
            <a:endParaRPr lang="en-US" sz="28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Text 21">
            <a:extLst>
              <a:ext uri="{FF2B5EF4-FFF2-40B4-BE49-F238E27FC236}">
                <a16:creationId xmlns:a16="http://schemas.microsoft.com/office/drawing/2014/main" id="{7CC6D00F-3755-6ABC-A981-A36DE5E09B96}"/>
              </a:ext>
            </a:extLst>
          </p:cNvPr>
          <p:cNvSpPr/>
          <p:nvPr/>
        </p:nvSpPr>
        <p:spPr>
          <a:xfrm>
            <a:off x="13510144" y="10410407"/>
            <a:ext cx="1550566" cy="524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b="1">
                <a:solidFill>
                  <a:schemeClr val="tx1"/>
                </a:solidFill>
                <a:latin typeface="Calibri" panose="020F0502020204030204" pitchFamily="34" charset="0"/>
                <a:ea typeface="Roboto Slab" pitchFamily="34" charset="-122"/>
                <a:cs typeface="Calibri" panose="020F0502020204030204" pitchFamily="34" charset="0"/>
              </a:rPr>
              <a:t>Шаг 4</a:t>
            </a:r>
            <a:endParaRPr lang="en-US" sz="3200" b="1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 22">
            <a:extLst>
              <a:ext uri="{FF2B5EF4-FFF2-40B4-BE49-F238E27FC236}">
                <a16:creationId xmlns:a16="http://schemas.microsoft.com/office/drawing/2014/main" id="{C9FBFEB4-50D8-358D-0E92-4EE799FC1B12}"/>
              </a:ext>
            </a:extLst>
          </p:cNvPr>
          <p:cNvSpPr/>
          <p:nvPr/>
        </p:nvSpPr>
        <p:spPr>
          <a:xfrm>
            <a:off x="13510144" y="10952657"/>
            <a:ext cx="9944363" cy="1293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2800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Получить набор приоритетных метрик для итоговой оценки.</a:t>
            </a:r>
            <a:endParaRPr lang="en-US" sz="28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Shape 4">
            <a:extLst>
              <a:ext uri="{FF2B5EF4-FFF2-40B4-BE49-F238E27FC236}">
                <a16:creationId xmlns:a16="http://schemas.microsoft.com/office/drawing/2014/main" id="{140DE2FB-0D81-92C5-DF95-0D91CE4602AA}"/>
              </a:ext>
            </a:extLst>
          </p:cNvPr>
          <p:cNvSpPr/>
          <p:nvPr/>
        </p:nvSpPr>
        <p:spPr>
          <a:xfrm>
            <a:off x="11599203" y="7377395"/>
            <a:ext cx="636835" cy="645542"/>
          </a:xfrm>
          <a:prstGeom prst="roundRect">
            <a:avLst>
              <a:gd name="adj" fmla="val 6668"/>
            </a:avLst>
          </a:prstGeom>
          <a:solidFill>
            <a:srgbClr val="E9ECF2"/>
          </a:solidFill>
          <a:ln/>
        </p:spPr>
      </p:sp>
      <p:sp>
        <p:nvSpPr>
          <p:cNvPr id="15" name="Shape 4">
            <a:extLst>
              <a:ext uri="{FF2B5EF4-FFF2-40B4-BE49-F238E27FC236}">
                <a16:creationId xmlns:a16="http://schemas.microsoft.com/office/drawing/2014/main" id="{6919E6E7-D76C-C041-1BED-8B16ECF582C6}"/>
              </a:ext>
            </a:extLst>
          </p:cNvPr>
          <p:cNvSpPr/>
          <p:nvPr/>
        </p:nvSpPr>
        <p:spPr>
          <a:xfrm>
            <a:off x="11607612" y="8779268"/>
            <a:ext cx="636835" cy="645542"/>
          </a:xfrm>
          <a:prstGeom prst="roundRect">
            <a:avLst>
              <a:gd name="adj" fmla="val 3796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ru-RU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Shape 3">
            <a:extLst>
              <a:ext uri="{FF2B5EF4-FFF2-40B4-BE49-F238E27FC236}">
                <a16:creationId xmlns:a16="http://schemas.microsoft.com/office/drawing/2014/main" id="{F1562252-8966-0DD7-A541-CFD8EA7966FD}"/>
              </a:ext>
            </a:extLst>
          </p:cNvPr>
          <p:cNvSpPr/>
          <p:nvPr/>
        </p:nvSpPr>
        <p:spPr>
          <a:xfrm>
            <a:off x="10639790" y="9072109"/>
            <a:ext cx="994618" cy="45719"/>
          </a:xfrm>
          <a:prstGeom prst="roundRect">
            <a:avLst>
              <a:gd name="adj" fmla="val 130228"/>
            </a:avLst>
          </a:prstGeom>
          <a:solidFill>
            <a:srgbClr val="CFD2D8"/>
          </a:solidFill>
          <a:ln/>
        </p:spPr>
      </p:sp>
      <p:sp>
        <p:nvSpPr>
          <p:cNvPr id="18" name="Shape 3">
            <a:extLst>
              <a:ext uri="{FF2B5EF4-FFF2-40B4-BE49-F238E27FC236}">
                <a16:creationId xmlns:a16="http://schemas.microsoft.com/office/drawing/2014/main" id="{D16DB236-5938-161F-F6BB-1EB941C4258C}"/>
              </a:ext>
            </a:extLst>
          </p:cNvPr>
          <p:cNvSpPr/>
          <p:nvPr/>
        </p:nvSpPr>
        <p:spPr>
          <a:xfrm>
            <a:off x="12229111" y="7684377"/>
            <a:ext cx="994618" cy="45719"/>
          </a:xfrm>
          <a:prstGeom prst="roundRect">
            <a:avLst>
              <a:gd name="adj" fmla="val 130228"/>
            </a:avLst>
          </a:prstGeom>
          <a:solidFill>
            <a:srgbClr val="CFD2D8"/>
          </a:solidFill>
          <a:ln/>
        </p:spPr>
      </p:sp>
      <p:sp>
        <p:nvSpPr>
          <p:cNvPr id="19" name="Shape 4">
            <a:extLst>
              <a:ext uri="{FF2B5EF4-FFF2-40B4-BE49-F238E27FC236}">
                <a16:creationId xmlns:a16="http://schemas.microsoft.com/office/drawing/2014/main" id="{3686D1F1-2BA3-DB10-9976-2D99873A73F7}"/>
              </a:ext>
            </a:extLst>
          </p:cNvPr>
          <p:cNvSpPr/>
          <p:nvPr/>
        </p:nvSpPr>
        <p:spPr>
          <a:xfrm>
            <a:off x="11624280" y="10307115"/>
            <a:ext cx="636835" cy="645542"/>
          </a:xfrm>
          <a:prstGeom prst="roundRect">
            <a:avLst>
              <a:gd name="adj" fmla="val 6668"/>
            </a:avLst>
          </a:prstGeom>
          <a:solidFill>
            <a:srgbClr val="E9ECF2"/>
          </a:solidFill>
          <a:ln/>
        </p:spPr>
      </p:sp>
      <p:sp>
        <p:nvSpPr>
          <p:cNvPr id="20" name="Shape 3">
            <a:extLst>
              <a:ext uri="{FF2B5EF4-FFF2-40B4-BE49-F238E27FC236}">
                <a16:creationId xmlns:a16="http://schemas.microsoft.com/office/drawing/2014/main" id="{D73F0B36-276A-C859-8CBB-A63568ED0719}"/>
              </a:ext>
            </a:extLst>
          </p:cNvPr>
          <p:cNvSpPr/>
          <p:nvPr/>
        </p:nvSpPr>
        <p:spPr>
          <a:xfrm>
            <a:off x="12236038" y="10629886"/>
            <a:ext cx="994618" cy="45719"/>
          </a:xfrm>
          <a:prstGeom prst="roundRect">
            <a:avLst>
              <a:gd name="adj" fmla="val 130228"/>
            </a:avLst>
          </a:prstGeom>
          <a:solidFill>
            <a:srgbClr val="CFD2D8"/>
          </a:solidFill>
          <a:ln/>
        </p:spPr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052CF95-2644-1CCF-5B7F-98B5AE608B67}"/>
              </a:ext>
            </a:extLst>
          </p:cNvPr>
          <p:cNvSpPr txBox="1"/>
          <p:nvPr/>
        </p:nvSpPr>
        <p:spPr>
          <a:xfrm>
            <a:off x="11659271" y="5975523"/>
            <a:ext cx="516698" cy="6771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6" tIns="91436" rIns="91436" bIns="91436" numCol="1" spcCol="38100" rtlCol="0" anchor="t">
            <a:spAutoFit/>
          </a:bodyPr>
          <a:lstStyle/>
          <a:p>
            <a:pPr marL="0" marR="0" indent="0" algn="ctr" defTabSz="25400" rtl="0" fontAlgn="auto" latinLnBrk="0" hangingPunct="0">
              <a:lnSpc>
                <a:spcPct val="100000"/>
              </a:lnSpc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3200" b="0" i="0" u="none" strike="noStrike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/>
              </a:rPr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57A8FF9-72CB-345D-F030-9894DFCE374C}"/>
              </a:ext>
            </a:extLst>
          </p:cNvPr>
          <p:cNvSpPr txBox="1"/>
          <p:nvPr/>
        </p:nvSpPr>
        <p:spPr>
          <a:xfrm>
            <a:off x="11737232" y="10307115"/>
            <a:ext cx="438737" cy="6771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6" tIns="91436" rIns="91436" bIns="91436" numCol="1" spcCol="38100" rtlCol="0" anchor="t">
            <a:spAutoFit/>
          </a:bodyPr>
          <a:lstStyle/>
          <a:p>
            <a:pPr marL="0" marR="0" indent="0" algn="l" defTabSz="25400" rtl="0" fontAlgn="auto" latinLnBrk="0" hangingPunct="0">
              <a:lnSpc>
                <a:spcPct val="100000"/>
              </a:lnSpc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3200" b="0" i="0" u="none" strike="noStrike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/>
              </a:rPr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3730084-CA0D-5B74-7644-5F166C4432CD}"/>
              </a:ext>
            </a:extLst>
          </p:cNvPr>
          <p:cNvSpPr txBox="1"/>
          <p:nvPr/>
        </p:nvSpPr>
        <p:spPr>
          <a:xfrm>
            <a:off x="11737232" y="8747709"/>
            <a:ext cx="267338" cy="6771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6" tIns="91436" rIns="91436" bIns="91436" numCol="1" spcCol="38100" rtlCol="0" anchor="t">
            <a:spAutoFit/>
          </a:bodyPr>
          <a:lstStyle/>
          <a:p>
            <a:pPr marL="0" marR="0" indent="0" algn="l" defTabSz="25400" rtl="0" fontAlgn="auto" latinLnBrk="0" hangingPunct="0">
              <a:lnSpc>
                <a:spcPct val="100000"/>
              </a:lnSpc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3200" b="0" i="0" u="none" strike="noStrike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/>
              </a:rPr>
              <a:t>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1326F10-E51C-A777-BF84-5D0D358E698E}"/>
              </a:ext>
            </a:extLst>
          </p:cNvPr>
          <p:cNvSpPr txBox="1"/>
          <p:nvPr/>
        </p:nvSpPr>
        <p:spPr>
          <a:xfrm>
            <a:off x="11737232" y="7356917"/>
            <a:ext cx="267338" cy="6771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6" tIns="91436" rIns="91436" bIns="91436" numCol="1" spcCol="38100" rtlCol="0" anchor="t">
            <a:spAutoFit/>
          </a:bodyPr>
          <a:lstStyle/>
          <a:p>
            <a:pPr marL="0" marR="0" indent="0" algn="l" defTabSz="25400" rtl="0" fontAlgn="auto" latinLnBrk="0" hangingPunct="0">
              <a:lnSpc>
                <a:spcPct val="100000"/>
              </a:lnSpc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3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kumimoji="0" lang="ru-RU" sz="3200" b="0" i="0" u="none" strike="noStrike" cap="none" spc="0" normalizeH="0" baseline="0">
              <a:ln>
                <a:noFill/>
              </a:ln>
              <a:solidFill>
                <a:schemeClr val="tx1"/>
              </a:solidFill>
              <a:effectLst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451610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>
          <a:extLst>
            <a:ext uri="{FF2B5EF4-FFF2-40B4-BE49-F238E27FC236}">
              <a16:creationId xmlns:a16="http://schemas.microsoft.com/office/drawing/2014/main" id="{62E1188A-949D-2C3F-6FE4-607273AD87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 0" descr="preencoded.png">
            <a:extLst>
              <a:ext uri="{FF2B5EF4-FFF2-40B4-BE49-F238E27FC236}">
                <a16:creationId xmlns:a16="http://schemas.microsoft.com/office/drawing/2014/main" id="{5F9CD851-3A96-7ED2-37FC-1F7E48D0D28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516245" y="4261817"/>
            <a:ext cx="10730407" cy="4004704"/>
          </a:xfrm>
          <a:prstGeom prst="rect">
            <a:avLst/>
          </a:prstGeom>
        </p:spPr>
      </p:pic>
      <p:pic>
        <p:nvPicPr>
          <p:cNvPr id="9" name="Image 0" descr="preencoded.png">
            <a:extLst>
              <a:ext uri="{FF2B5EF4-FFF2-40B4-BE49-F238E27FC236}">
                <a16:creationId xmlns:a16="http://schemas.microsoft.com/office/drawing/2014/main" id="{7D8687D9-6974-D3AD-F086-E238F7A2C53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7348" y="4261817"/>
            <a:ext cx="10730407" cy="4004704"/>
          </a:xfrm>
          <a:prstGeom prst="rect">
            <a:avLst/>
          </a:prstGeom>
        </p:spPr>
      </p:pic>
      <p:sp>
        <p:nvSpPr>
          <p:cNvPr id="17" name="Google Shape;48;p5">
            <a:extLst>
              <a:ext uri="{FF2B5EF4-FFF2-40B4-BE49-F238E27FC236}">
                <a16:creationId xmlns:a16="http://schemas.microsoft.com/office/drawing/2014/main" id="{DBF07EF6-CBF6-C607-F5CF-F55A3050FEB1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2449508" y="908767"/>
            <a:ext cx="3884763" cy="1080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53A1"/>
              </a:buClr>
              <a:buSzPts val="2400"/>
              <a:buFont typeface="Helvetica Neue"/>
              <a:buNone/>
            </a:pPr>
            <a:r>
              <a:rPr lang="ru-RU" sz="24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ФГАОУ ВО Первый МГМУ им. И. М. Сеченова</a:t>
            </a:r>
          </a:p>
        </p:txBody>
      </p:sp>
      <p:sp>
        <p:nvSpPr>
          <p:cNvPr id="64" name="Google Shape;48;p5">
            <a:extLst>
              <a:ext uri="{FF2B5EF4-FFF2-40B4-BE49-F238E27FC236}">
                <a16:creationId xmlns:a16="http://schemas.microsoft.com/office/drawing/2014/main" id="{E36D311D-7ED9-8A88-7678-DF6DB316FFD0}"/>
              </a:ext>
            </a:extLst>
          </p:cNvPr>
          <p:cNvSpPr txBox="1">
            <a:spLocks/>
          </p:cNvSpPr>
          <p:nvPr/>
        </p:nvSpPr>
        <p:spPr>
          <a:xfrm>
            <a:off x="7041188" y="908767"/>
            <a:ext cx="4963382" cy="1178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114300" indent="0">
              <a:spcBef>
                <a:spcPts val="0"/>
              </a:spcBef>
              <a:buNone/>
            </a:pPr>
            <a:r>
              <a:rPr lang="ru-RU" sz="24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Оценка производительности и неопределённости медицинских ИИ-систем</a:t>
            </a:r>
          </a:p>
        </p:txBody>
      </p:sp>
      <p:sp>
        <p:nvSpPr>
          <p:cNvPr id="66" name="Google Shape;48;p5">
            <a:extLst>
              <a:ext uri="{FF2B5EF4-FFF2-40B4-BE49-F238E27FC236}">
                <a16:creationId xmlns:a16="http://schemas.microsoft.com/office/drawing/2014/main" id="{92B65F3B-4F8D-75D9-011B-A7BDA694143C}"/>
              </a:ext>
            </a:extLst>
          </p:cNvPr>
          <p:cNvSpPr txBox="1">
            <a:spLocks/>
          </p:cNvSpPr>
          <p:nvPr/>
        </p:nvSpPr>
        <p:spPr>
          <a:xfrm>
            <a:off x="12711487" y="1027517"/>
            <a:ext cx="4546300" cy="961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114300" indent="0">
              <a:lnSpc>
                <a:spcPct val="104000"/>
              </a:lnSpc>
              <a:spcBef>
                <a:spcPts val="0"/>
              </a:spcBef>
              <a:buNone/>
            </a:pPr>
            <a:r>
              <a:rPr lang="en-US" sz="2400" err="1">
                <a:solidFill>
                  <a:schemeClr val="tx1"/>
                </a:solidFill>
                <a:latin typeface="Calibri" panose="020F0502020204030204" pitchFamily="34" charset="0"/>
                <a:ea typeface="Roboto Slab" pitchFamily="34" charset="-122"/>
                <a:cs typeface="Calibri" panose="020F0502020204030204" pitchFamily="34" charset="0"/>
              </a:rPr>
              <a:t>Преимущества</a:t>
            </a:r>
            <a:r>
              <a:rPr lang="en-US" sz="2400">
                <a:solidFill>
                  <a:schemeClr val="tx1"/>
                </a:solidFill>
                <a:latin typeface="Calibri" panose="020F0502020204030204" pitchFamily="34" charset="0"/>
                <a:ea typeface="Roboto Slab" pitchFamily="34" charset="-122"/>
                <a:cs typeface="Calibri" panose="020F0502020204030204" pitchFamily="34" charset="0"/>
              </a:rPr>
              <a:t> и </a:t>
            </a:r>
            <a:r>
              <a:rPr lang="en-US" sz="2400" err="1">
                <a:solidFill>
                  <a:schemeClr val="tx1"/>
                </a:solidFill>
                <a:latin typeface="Calibri" panose="020F0502020204030204" pitchFamily="34" charset="0"/>
                <a:ea typeface="Roboto Slab" pitchFamily="34" charset="-122"/>
                <a:cs typeface="Calibri" panose="020F0502020204030204" pitchFamily="34" charset="0"/>
              </a:rPr>
              <a:t>ограничения</a:t>
            </a:r>
            <a:r>
              <a:rPr lang="en-US" sz="2400">
                <a:solidFill>
                  <a:schemeClr val="tx1"/>
                </a:solidFill>
                <a:latin typeface="Calibri" panose="020F0502020204030204" pitchFamily="34" charset="0"/>
                <a:ea typeface="Roboto Slab" pitchFamily="34" charset="-122"/>
                <a:cs typeface="Calibri" panose="020F0502020204030204" pitchFamily="34" charset="0"/>
              </a:rPr>
              <a:t> MIDRC‑</a:t>
            </a:r>
            <a:r>
              <a:rPr lang="en-US" sz="2400" err="1">
                <a:solidFill>
                  <a:schemeClr val="tx1"/>
                </a:solidFill>
                <a:latin typeface="Calibri" panose="020F0502020204030204" pitchFamily="34" charset="0"/>
                <a:ea typeface="Roboto Slab" pitchFamily="34" charset="-122"/>
                <a:cs typeface="Calibri" panose="020F0502020204030204" pitchFamily="34" charset="0"/>
              </a:rPr>
              <a:t>MetricTree</a:t>
            </a:r>
            <a:endParaRPr lang="en-US" sz="24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63">
            <a:extLst>
              <a:ext uri="{FF2B5EF4-FFF2-40B4-BE49-F238E27FC236}">
                <a16:creationId xmlns:a16="http://schemas.microsoft.com/office/drawing/2014/main" id="{A0B21CAE-CD0E-8DAF-D9B8-B2AB438AFA9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1137349" y="2230251"/>
            <a:ext cx="18213594" cy="131032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defTabSz="25400">
              <a:spcBef>
                <a:spcPts val="2400"/>
              </a:spcBef>
              <a:buSzTx/>
              <a:buNone/>
              <a:defRPr sz="4800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lnSpc>
                <a:spcPct val="104000"/>
              </a:lnSpc>
            </a:pPr>
            <a:r>
              <a:rPr lang="en-US" err="1">
                <a:solidFill>
                  <a:schemeClr val="tx1"/>
                </a:solidFill>
                <a:latin typeface="Calibri" panose="020F0502020204030204" pitchFamily="34" charset="0"/>
                <a:ea typeface="Roboto Slab" pitchFamily="34" charset="-122"/>
                <a:cs typeface="Calibri" panose="020F0502020204030204" pitchFamily="34" charset="0"/>
              </a:rPr>
              <a:t>Преимущества</a:t>
            </a:r>
            <a:r>
              <a:rPr lang="en-US">
                <a:solidFill>
                  <a:schemeClr val="tx1"/>
                </a:solidFill>
                <a:latin typeface="Calibri" panose="020F0502020204030204" pitchFamily="34" charset="0"/>
                <a:ea typeface="Roboto Slab" pitchFamily="34" charset="-122"/>
                <a:cs typeface="Calibri" panose="020F0502020204030204" pitchFamily="34" charset="0"/>
              </a:rPr>
              <a:t> и </a:t>
            </a:r>
            <a:r>
              <a:rPr lang="en-US" err="1">
                <a:solidFill>
                  <a:schemeClr val="tx1"/>
                </a:solidFill>
                <a:latin typeface="Calibri" panose="020F0502020204030204" pitchFamily="34" charset="0"/>
                <a:ea typeface="Roboto Slab" pitchFamily="34" charset="-122"/>
                <a:cs typeface="Calibri" panose="020F0502020204030204" pitchFamily="34" charset="0"/>
              </a:rPr>
              <a:t>ограничения</a:t>
            </a:r>
            <a:r>
              <a:rPr lang="en-US">
                <a:solidFill>
                  <a:schemeClr val="tx1"/>
                </a:solidFill>
                <a:latin typeface="Calibri" panose="020F0502020204030204" pitchFamily="34" charset="0"/>
                <a:ea typeface="Roboto Slab" pitchFamily="34" charset="-122"/>
                <a:cs typeface="Calibri" panose="020F0502020204030204" pitchFamily="34" charset="0"/>
              </a:rPr>
              <a:t> MIDRC‑</a:t>
            </a:r>
            <a:r>
              <a:rPr lang="en-US" err="1">
                <a:solidFill>
                  <a:schemeClr val="tx1"/>
                </a:solidFill>
                <a:latin typeface="Calibri" panose="020F0502020204030204" pitchFamily="34" charset="0"/>
                <a:ea typeface="Roboto Slab" pitchFamily="34" charset="-122"/>
                <a:cs typeface="Calibri" panose="020F0502020204030204" pitchFamily="34" charset="0"/>
              </a:rPr>
              <a:t>MetricTree</a:t>
            </a:r>
            <a:endParaRPr lang="en-US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D929A140-63A3-ADEA-BE4E-39DEFAD0CA24}"/>
              </a:ext>
            </a:extLst>
          </p:cNvPr>
          <p:cNvSpPr/>
          <p:nvPr/>
        </p:nvSpPr>
        <p:spPr>
          <a:xfrm>
            <a:off x="4779383" y="5353618"/>
            <a:ext cx="3446336" cy="687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000">
                <a:solidFill>
                  <a:schemeClr val="tx1"/>
                </a:solidFill>
                <a:latin typeface="Calibri" panose="020F0502020204030204" pitchFamily="34" charset="0"/>
                <a:ea typeface="Roboto Slab" pitchFamily="34" charset="-122"/>
                <a:cs typeface="Calibri" panose="020F0502020204030204" pitchFamily="34" charset="0"/>
              </a:rPr>
              <a:t>Преимущества</a:t>
            </a:r>
            <a:endParaRPr lang="en-US" sz="40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5ED75AB6-B332-31A4-8FD4-1EFB0BEE89BE}"/>
              </a:ext>
            </a:extLst>
          </p:cNvPr>
          <p:cNvSpPr/>
          <p:nvPr/>
        </p:nvSpPr>
        <p:spPr>
          <a:xfrm>
            <a:off x="2279530" y="6041243"/>
            <a:ext cx="9043690" cy="14648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2800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Стандартизация выбора метрик, удобная структура принятия решений, совместимость с разными типами задач и наборов данных.</a:t>
            </a:r>
            <a:endParaRPr lang="en-US" sz="28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28BFC138-71B8-FE72-40D2-FA5EFB9565B3}"/>
              </a:ext>
            </a:extLst>
          </p:cNvPr>
          <p:cNvSpPr/>
          <p:nvPr/>
        </p:nvSpPr>
        <p:spPr>
          <a:xfrm>
            <a:off x="16491711" y="5321204"/>
            <a:ext cx="3112904" cy="5482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000">
                <a:solidFill>
                  <a:schemeClr val="tx1"/>
                </a:solidFill>
                <a:latin typeface="Calibri" panose="020F0502020204030204" pitchFamily="34" charset="0"/>
                <a:ea typeface="Roboto Slab" pitchFamily="34" charset="-122"/>
                <a:cs typeface="Calibri" panose="020F0502020204030204" pitchFamily="34" charset="0"/>
              </a:rPr>
              <a:t>Ограничения</a:t>
            </a:r>
            <a:endParaRPr lang="en-US" sz="40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F84BDFE9-2A62-5E4A-829C-B737A62A9048}"/>
              </a:ext>
            </a:extLst>
          </p:cNvPr>
          <p:cNvSpPr/>
          <p:nvPr/>
        </p:nvSpPr>
        <p:spPr>
          <a:xfrm>
            <a:off x="13249167" y="6041243"/>
            <a:ext cx="9264562" cy="17097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2800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Фокус на производительности моделей; недостаточно внимания интерпретируемости, оценке неопределённости и смещения данных.</a:t>
            </a:r>
            <a:endParaRPr lang="en-US" sz="28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Shape 5">
            <a:extLst>
              <a:ext uri="{FF2B5EF4-FFF2-40B4-BE49-F238E27FC236}">
                <a16:creationId xmlns:a16="http://schemas.microsoft.com/office/drawing/2014/main" id="{D386FC28-0EBA-2C25-DB29-4DF8DF60BB6F}"/>
              </a:ext>
            </a:extLst>
          </p:cNvPr>
          <p:cNvSpPr/>
          <p:nvPr/>
        </p:nvSpPr>
        <p:spPr>
          <a:xfrm>
            <a:off x="1137348" y="9942643"/>
            <a:ext cx="22109304" cy="2676077"/>
          </a:xfrm>
          <a:prstGeom prst="roundRect">
            <a:avLst>
              <a:gd name="adj" fmla="val 1724"/>
            </a:avLst>
          </a:prstGeom>
          <a:solidFill>
            <a:srgbClr val="B6D6FC"/>
          </a:solidFill>
          <a:ln/>
        </p:spPr>
      </p:sp>
      <p:pic>
        <p:nvPicPr>
          <p:cNvPr id="16" name="Image 2" descr="preencoded.png">
            <a:extLst>
              <a:ext uri="{FF2B5EF4-FFF2-40B4-BE49-F238E27FC236}">
                <a16:creationId xmlns:a16="http://schemas.microsoft.com/office/drawing/2014/main" id="{F6972374-8BA3-380D-C6F9-0DC37CEB73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5036" y="10286561"/>
            <a:ext cx="414434" cy="331469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2936659C-ADC4-93B4-8FFC-98E8D7C7B270}"/>
              </a:ext>
            </a:extLst>
          </p:cNvPr>
          <p:cNvSpPr txBox="1"/>
          <p:nvPr/>
        </p:nvSpPr>
        <p:spPr>
          <a:xfrm>
            <a:off x="1907158" y="10112540"/>
            <a:ext cx="21161806" cy="23362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33000"/>
              </a:lnSpc>
              <a:buNone/>
            </a:pPr>
            <a:r>
              <a:rPr lang="en-US" sz="2800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Используйте MIDRC‑MetricTree как стартовую точку: сначала определите тип задачи, формат вывода и клинический риск ошибок, а затем уточните набор метрик под конкретный датасет. Избегайте слепого следования дереву без проверки качества разметки, дисбаланса классов и внешней валидации. Для надёжной оценки обязательно сочетайте рекомендации инструмента с предметной экспертизой и клиническим контекстом.</a:t>
            </a:r>
            <a:endParaRPr lang="en-US" sz="2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77591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>
          <a:extLst>
            <a:ext uri="{FF2B5EF4-FFF2-40B4-BE49-F238E27FC236}">
              <a16:creationId xmlns:a16="http://schemas.microsoft.com/office/drawing/2014/main" id="{8D815CD7-51C5-BEC8-B444-5DC4F44099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48;p5">
            <a:extLst>
              <a:ext uri="{FF2B5EF4-FFF2-40B4-BE49-F238E27FC236}">
                <a16:creationId xmlns:a16="http://schemas.microsoft.com/office/drawing/2014/main" id="{391B4CCB-8880-4F66-BA38-2BB0FFEFD8A4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2449508" y="908767"/>
            <a:ext cx="3884763" cy="1080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53A1"/>
              </a:buClr>
              <a:buSzPts val="2400"/>
              <a:buFont typeface="Helvetica Neue"/>
              <a:buNone/>
            </a:pPr>
            <a:r>
              <a:rPr lang="ru-RU" sz="24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ФГАОУ ВО Первый МГМУ им. И. М. Сеченова</a:t>
            </a:r>
          </a:p>
        </p:txBody>
      </p:sp>
      <p:sp>
        <p:nvSpPr>
          <p:cNvPr id="64" name="Google Shape;48;p5">
            <a:extLst>
              <a:ext uri="{FF2B5EF4-FFF2-40B4-BE49-F238E27FC236}">
                <a16:creationId xmlns:a16="http://schemas.microsoft.com/office/drawing/2014/main" id="{1D6B9324-ADBF-7BB5-2C70-DDFF9DCF71B6}"/>
              </a:ext>
            </a:extLst>
          </p:cNvPr>
          <p:cNvSpPr txBox="1">
            <a:spLocks/>
          </p:cNvSpPr>
          <p:nvPr/>
        </p:nvSpPr>
        <p:spPr>
          <a:xfrm>
            <a:off x="7032044" y="908767"/>
            <a:ext cx="4963382" cy="1080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114300" indent="0">
              <a:spcBef>
                <a:spcPts val="0"/>
              </a:spcBef>
              <a:buNone/>
            </a:pPr>
            <a:r>
              <a:rPr lang="ru-RU" sz="24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Оценка производительности и неопределённости медицинских ИИ-систем</a:t>
            </a:r>
          </a:p>
        </p:txBody>
      </p:sp>
      <p:sp>
        <p:nvSpPr>
          <p:cNvPr id="66" name="Google Shape;48;p5">
            <a:extLst>
              <a:ext uri="{FF2B5EF4-FFF2-40B4-BE49-F238E27FC236}">
                <a16:creationId xmlns:a16="http://schemas.microsoft.com/office/drawing/2014/main" id="{0BFFE2A2-6718-EE72-CF46-BD573F3006DB}"/>
              </a:ext>
            </a:extLst>
          </p:cNvPr>
          <p:cNvSpPr txBox="1">
            <a:spLocks/>
          </p:cNvSpPr>
          <p:nvPr/>
        </p:nvSpPr>
        <p:spPr>
          <a:xfrm>
            <a:off x="12693199" y="809009"/>
            <a:ext cx="4546300" cy="1280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lnSpc>
                <a:spcPct val="104000"/>
              </a:lnSpc>
              <a:spcBef>
                <a:spcPts val="0"/>
              </a:spcBef>
              <a:buNone/>
            </a:pPr>
            <a:r>
              <a:rPr lang="en-US" sz="2400" err="1">
                <a:solidFill>
                  <a:schemeClr val="tx1"/>
                </a:solidFill>
                <a:latin typeface="Calibri" panose="020F0502020204030204" pitchFamily="34" charset="0"/>
                <a:ea typeface="Roboto Slab" pitchFamily="34" charset="-122"/>
                <a:cs typeface="Calibri" panose="020F0502020204030204" pitchFamily="34" charset="0"/>
              </a:rPr>
              <a:t>Неопределённость</a:t>
            </a:r>
            <a:r>
              <a:rPr lang="en-US" sz="2400">
                <a:solidFill>
                  <a:schemeClr val="tx1"/>
                </a:solidFill>
                <a:latin typeface="Calibri" panose="020F0502020204030204" pitchFamily="34" charset="0"/>
                <a:ea typeface="Roboto Slab" pitchFamily="34" charset="-122"/>
                <a:cs typeface="Calibri" panose="020F0502020204030204" pitchFamily="34" charset="0"/>
              </a:rPr>
              <a:t> в </a:t>
            </a:r>
            <a:r>
              <a:rPr lang="en-US" sz="2400" err="1">
                <a:solidFill>
                  <a:schemeClr val="tx1"/>
                </a:solidFill>
                <a:latin typeface="Calibri" panose="020F0502020204030204" pitchFamily="34" charset="0"/>
                <a:ea typeface="Roboto Slab" pitchFamily="34" charset="-122"/>
                <a:cs typeface="Calibri" panose="020F0502020204030204" pitchFamily="34" charset="0"/>
              </a:rPr>
              <a:t>медицинских</a:t>
            </a:r>
            <a:r>
              <a:rPr lang="en-US" sz="2400">
                <a:solidFill>
                  <a:schemeClr val="tx1"/>
                </a:solidFill>
                <a:latin typeface="Calibri" panose="020F0502020204030204" pitchFamily="34" charset="0"/>
                <a:ea typeface="Roboto Slab" pitchFamily="34" charset="-122"/>
                <a:cs typeface="Calibri" panose="020F0502020204030204" pitchFamily="34" charset="0"/>
              </a:rPr>
              <a:t> ИИ: </a:t>
            </a:r>
            <a:r>
              <a:rPr lang="en-US" sz="2400" err="1">
                <a:solidFill>
                  <a:schemeClr val="tx1"/>
                </a:solidFill>
                <a:latin typeface="Calibri" panose="020F0502020204030204" pitchFamily="34" charset="0"/>
                <a:ea typeface="Roboto Slab" pitchFamily="34" charset="-122"/>
                <a:cs typeface="Calibri" panose="020F0502020204030204" pitchFamily="34" charset="0"/>
              </a:rPr>
              <a:t>типы</a:t>
            </a:r>
            <a:r>
              <a:rPr lang="en-US" sz="2400">
                <a:solidFill>
                  <a:schemeClr val="tx1"/>
                </a:solidFill>
                <a:latin typeface="Calibri" panose="020F0502020204030204" pitchFamily="34" charset="0"/>
                <a:ea typeface="Roboto Slab" pitchFamily="34" charset="-122"/>
                <a:cs typeface="Calibri" panose="020F0502020204030204" pitchFamily="34" charset="0"/>
              </a:rPr>
              <a:t> и </a:t>
            </a:r>
            <a:r>
              <a:rPr lang="en-US" sz="2400" err="1">
                <a:solidFill>
                  <a:schemeClr val="tx1"/>
                </a:solidFill>
                <a:latin typeface="Calibri" panose="020F0502020204030204" pitchFamily="34" charset="0"/>
                <a:ea typeface="Roboto Slab" pitchFamily="34" charset="-122"/>
                <a:cs typeface="Calibri" panose="020F0502020204030204" pitchFamily="34" charset="0"/>
              </a:rPr>
              <a:t>методы</a:t>
            </a:r>
            <a:r>
              <a:rPr lang="en-US" sz="2400">
                <a:solidFill>
                  <a:schemeClr val="tx1"/>
                </a:solidFill>
                <a:latin typeface="Calibri" panose="020F0502020204030204" pitchFamily="34" charset="0"/>
                <a:ea typeface="Roboto Slab" pitchFamily="34" charset="-122"/>
                <a:cs typeface="Calibri" panose="020F0502020204030204" pitchFamily="34" charset="0"/>
              </a:rPr>
              <a:t> </a:t>
            </a:r>
            <a:r>
              <a:rPr lang="en-US" sz="2400" err="1">
                <a:solidFill>
                  <a:schemeClr val="tx1"/>
                </a:solidFill>
                <a:latin typeface="Calibri" panose="020F0502020204030204" pitchFamily="34" charset="0"/>
                <a:ea typeface="Roboto Slab" pitchFamily="34" charset="-122"/>
                <a:cs typeface="Calibri" panose="020F0502020204030204" pitchFamily="34" charset="0"/>
              </a:rPr>
              <a:t>оценки</a:t>
            </a:r>
            <a:endParaRPr lang="en-US" sz="24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08BA38-0A4A-A5B3-BC76-D122F0200A5C}"/>
              </a:ext>
            </a:extLst>
          </p:cNvPr>
          <p:cNvSpPr txBox="1"/>
          <p:nvPr/>
        </p:nvSpPr>
        <p:spPr>
          <a:xfrm>
            <a:off x="1121523" y="2569784"/>
            <a:ext cx="1858795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800" err="1">
                <a:solidFill>
                  <a:schemeClr val="tx1"/>
                </a:solidFill>
                <a:latin typeface="Calibri" panose="020F0502020204030204" pitchFamily="34" charset="0"/>
                <a:ea typeface="Roboto Slab" pitchFamily="34" charset="-122"/>
                <a:cs typeface="Calibri" panose="020F0502020204030204" pitchFamily="34" charset="0"/>
              </a:rPr>
              <a:t>Неопределённость</a:t>
            </a:r>
            <a:r>
              <a:rPr lang="en-US" sz="4800">
                <a:solidFill>
                  <a:schemeClr val="tx1"/>
                </a:solidFill>
                <a:latin typeface="Calibri" panose="020F0502020204030204" pitchFamily="34" charset="0"/>
                <a:ea typeface="Roboto Slab" pitchFamily="34" charset="-122"/>
                <a:cs typeface="Calibri" panose="020F0502020204030204" pitchFamily="34" charset="0"/>
              </a:rPr>
              <a:t> в </a:t>
            </a:r>
            <a:r>
              <a:rPr lang="en-US" sz="4800" err="1">
                <a:solidFill>
                  <a:schemeClr val="tx1"/>
                </a:solidFill>
                <a:latin typeface="Calibri" panose="020F0502020204030204" pitchFamily="34" charset="0"/>
                <a:ea typeface="Roboto Slab" pitchFamily="34" charset="-122"/>
                <a:cs typeface="Calibri" panose="020F0502020204030204" pitchFamily="34" charset="0"/>
              </a:rPr>
              <a:t>медицинских</a:t>
            </a:r>
            <a:r>
              <a:rPr lang="en-US" sz="4800">
                <a:solidFill>
                  <a:schemeClr val="tx1"/>
                </a:solidFill>
                <a:latin typeface="Calibri" panose="020F0502020204030204" pitchFamily="34" charset="0"/>
                <a:ea typeface="Roboto Slab" pitchFamily="34" charset="-122"/>
                <a:cs typeface="Calibri" panose="020F0502020204030204" pitchFamily="34" charset="0"/>
              </a:rPr>
              <a:t> ИИ: </a:t>
            </a:r>
            <a:r>
              <a:rPr lang="en-US" sz="4800" err="1">
                <a:solidFill>
                  <a:schemeClr val="tx1"/>
                </a:solidFill>
                <a:latin typeface="Calibri" panose="020F0502020204030204" pitchFamily="34" charset="0"/>
                <a:ea typeface="Roboto Slab" pitchFamily="34" charset="-122"/>
                <a:cs typeface="Calibri" panose="020F0502020204030204" pitchFamily="34" charset="0"/>
              </a:rPr>
              <a:t>типы</a:t>
            </a:r>
            <a:r>
              <a:rPr lang="en-US" sz="4800">
                <a:solidFill>
                  <a:schemeClr val="tx1"/>
                </a:solidFill>
                <a:latin typeface="Calibri" panose="020F0502020204030204" pitchFamily="34" charset="0"/>
                <a:ea typeface="Roboto Slab" pitchFamily="34" charset="-122"/>
                <a:cs typeface="Calibri" panose="020F0502020204030204" pitchFamily="34" charset="0"/>
              </a:rPr>
              <a:t> и </a:t>
            </a:r>
            <a:r>
              <a:rPr lang="en-US" sz="4800" err="1">
                <a:solidFill>
                  <a:schemeClr val="tx1"/>
                </a:solidFill>
                <a:latin typeface="Calibri" panose="020F0502020204030204" pitchFamily="34" charset="0"/>
                <a:ea typeface="Roboto Slab" pitchFamily="34" charset="-122"/>
                <a:cs typeface="Calibri" panose="020F0502020204030204" pitchFamily="34" charset="0"/>
              </a:rPr>
              <a:t>методы</a:t>
            </a:r>
            <a:r>
              <a:rPr lang="en-US" sz="4800">
                <a:solidFill>
                  <a:schemeClr val="tx1"/>
                </a:solidFill>
                <a:latin typeface="Calibri" panose="020F0502020204030204" pitchFamily="34" charset="0"/>
                <a:ea typeface="Roboto Slab" pitchFamily="34" charset="-122"/>
                <a:cs typeface="Calibri" panose="020F0502020204030204" pitchFamily="34" charset="0"/>
              </a:rPr>
              <a:t> </a:t>
            </a:r>
            <a:r>
              <a:rPr lang="en-US" sz="4800" err="1">
                <a:solidFill>
                  <a:schemeClr val="tx1"/>
                </a:solidFill>
                <a:latin typeface="Calibri" panose="020F0502020204030204" pitchFamily="34" charset="0"/>
                <a:ea typeface="Roboto Slab" pitchFamily="34" charset="-122"/>
                <a:cs typeface="Calibri" panose="020F0502020204030204" pitchFamily="34" charset="0"/>
              </a:rPr>
              <a:t>оценки</a:t>
            </a:r>
            <a:endParaRPr lang="en-US" sz="48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052E716-B4D4-DB9A-EA5E-A4494BD85E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1523" y="5096542"/>
            <a:ext cx="11571676" cy="528618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1C9DE19-4BBF-5458-22F9-B47623CBCEBF}"/>
              </a:ext>
            </a:extLst>
          </p:cNvPr>
          <p:cNvSpPr txBox="1"/>
          <p:nvPr/>
        </p:nvSpPr>
        <p:spPr>
          <a:xfrm>
            <a:off x="13298458" y="5724067"/>
            <a:ext cx="9964019" cy="34824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33000"/>
              </a:lnSpc>
              <a:buNone/>
            </a:pPr>
            <a:r>
              <a:rPr lang="en-US" sz="2800" err="1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Неопределённость</a:t>
            </a:r>
            <a:r>
              <a:rPr lang="en-US" sz="2800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 </a:t>
            </a:r>
            <a:r>
              <a:rPr lang="en-US" sz="2800" err="1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критична</a:t>
            </a:r>
            <a:r>
              <a:rPr lang="en-US" sz="2800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 в </a:t>
            </a:r>
            <a:r>
              <a:rPr lang="en-US" sz="2800" err="1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клинике</a:t>
            </a:r>
            <a:r>
              <a:rPr lang="en-US" sz="2800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. </a:t>
            </a:r>
            <a:r>
              <a:rPr lang="en-US" sz="2800" err="1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Выделяют</a:t>
            </a:r>
            <a:r>
              <a:rPr lang="en-US" sz="2800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 </a:t>
            </a:r>
            <a:r>
              <a:rPr lang="en-US" sz="2800" err="1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два</a:t>
            </a:r>
            <a:r>
              <a:rPr lang="en-US" sz="2800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 </a:t>
            </a:r>
            <a:r>
              <a:rPr lang="en-US" sz="2800" err="1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основных</a:t>
            </a:r>
            <a:r>
              <a:rPr lang="en-US" sz="2800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 </a:t>
            </a:r>
            <a:r>
              <a:rPr lang="en-US" sz="2800" err="1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типа</a:t>
            </a:r>
            <a:r>
              <a:rPr lang="en-US" sz="2800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: </a:t>
            </a:r>
            <a:r>
              <a:rPr lang="en-US" sz="2800" b="1" err="1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алеаторную</a:t>
            </a:r>
            <a:r>
              <a:rPr lang="en-US" sz="2800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 (</a:t>
            </a:r>
            <a:r>
              <a:rPr lang="en-US" sz="2800" err="1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шум</a:t>
            </a:r>
            <a:r>
              <a:rPr lang="en-US" sz="2800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 и </a:t>
            </a:r>
            <a:r>
              <a:rPr lang="en-US" sz="2800" err="1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вариабельность</a:t>
            </a:r>
            <a:r>
              <a:rPr lang="en-US" sz="2800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 </a:t>
            </a:r>
            <a:r>
              <a:rPr lang="en-US" sz="2800" err="1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данных</a:t>
            </a:r>
            <a:r>
              <a:rPr lang="en-US" sz="2800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) и </a:t>
            </a:r>
            <a:r>
              <a:rPr lang="en-US" sz="2800" b="1" err="1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эпистемическую</a:t>
            </a:r>
            <a:r>
              <a:rPr lang="en-US" sz="2800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 (</a:t>
            </a:r>
            <a:r>
              <a:rPr lang="en-US" sz="2800" err="1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недостаток</a:t>
            </a:r>
            <a:r>
              <a:rPr lang="en-US" sz="2800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 </a:t>
            </a:r>
            <a:r>
              <a:rPr lang="en-US" sz="2800" err="1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знаний</a:t>
            </a:r>
            <a:r>
              <a:rPr lang="en-US" sz="2800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/</a:t>
            </a:r>
            <a:r>
              <a:rPr lang="en-US" sz="2800" err="1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данных</a:t>
            </a:r>
            <a:r>
              <a:rPr lang="en-US" sz="2800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). </a:t>
            </a:r>
            <a:r>
              <a:rPr lang="en-US" sz="2800" err="1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Для</a:t>
            </a:r>
            <a:r>
              <a:rPr lang="en-US" sz="2800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 </a:t>
            </a:r>
            <a:r>
              <a:rPr lang="en-US" sz="2800" err="1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количественной</a:t>
            </a:r>
            <a:r>
              <a:rPr lang="en-US" sz="2800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 </a:t>
            </a:r>
            <a:r>
              <a:rPr lang="en-US" sz="2800" err="1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оценки</a:t>
            </a:r>
            <a:r>
              <a:rPr lang="en-US" sz="2800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 </a:t>
            </a:r>
            <a:r>
              <a:rPr lang="en-US" sz="2800" err="1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используют</a:t>
            </a:r>
            <a:r>
              <a:rPr lang="en-US" sz="2800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 </a:t>
            </a:r>
            <a:r>
              <a:rPr lang="en-US" sz="2800" b="1" err="1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энтропию</a:t>
            </a:r>
            <a:r>
              <a:rPr lang="en-US" sz="2800" b="1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 </a:t>
            </a:r>
            <a:r>
              <a:rPr lang="en-US" sz="2800" b="1" err="1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предсказаний</a:t>
            </a:r>
            <a:r>
              <a:rPr lang="en-US" sz="2800" b="1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, Monte Carlo Dropout и </a:t>
            </a:r>
            <a:r>
              <a:rPr lang="en-US" sz="2800" b="1" err="1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ансамбли</a:t>
            </a:r>
            <a:r>
              <a:rPr lang="en-US" sz="2800" b="1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 </a:t>
            </a:r>
            <a:r>
              <a:rPr lang="en-US" sz="2800" b="1" err="1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моделей</a:t>
            </a:r>
            <a:r>
              <a:rPr lang="en-US" sz="2800" b="1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 </a:t>
            </a:r>
            <a:r>
              <a:rPr lang="en-US" sz="2800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- </a:t>
            </a:r>
            <a:r>
              <a:rPr lang="en-US" sz="2800" err="1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методы</a:t>
            </a:r>
            <a:r>
              <a:rPr lang="en-US" sz="2800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 </a:t>
            </a:r>
            <a:r>
              <a:rPr lang="en-US" sz="2800" err="1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можно</a:t>
            </a:r>
            <a:r>
              <a:rPr lang="en-US" sz="2800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 </a:t>
            </a:r>
            <a:r>
              <a:rPr lang="en-US" sz="2800" err="1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сочетать</a:t>
            </a:r>
            <a:r>
              <a:rPr lang="en-US" sz="2800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 </a:t>
            </a:r>
            <a:r>
              <a:rPr lang="en-US" sz="2800" err="1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для</a:t>
            </a:r>
            <a:r>
              <a:rPr lang="en-US" sz="2800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 </a:t>
            </a:r>
            <a:r>
              <a:rPr lang="en-US" sz="2800" err="1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более</a:t>
            </a:r>
            <a:r>
              <a:rPr lang="en-US" sz="2800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 </a:t>
            </a:r>
            <a:r>
              <a:rPr lang="en-US" sz="2800" err="1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полной</a:t>
            </a:r>
            <a:r>
              <a:rPr lang="en-US" sz="2800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 </a:t>
            </a:r>
            <a:r>
              <a:rPr lang="en-US" sz="2800" err="1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картины</a:t>
            </a:r>
            <a:r>
              <a:rPr lang="en-US" sz="2800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 </a:t>
            </a:r>
            <a:r>
              <a:rPr lang="en-US" sz="2800" err="1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уверенности</a:t>
            </a:r>
            <a:r>
              <a:rPr lang="en-US" sz="2800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.</a:t>
            </a:r>
            <a:endParaRPr lang="en-US" sz="28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688E3E-484C-589A-6ABC-EA210878C8BF}"/>
              </a:ext>
            </a:extLst>
          </p:cNvPr>
          <p:cNvSpPr txBox="1"/>
          <p:nvPr/>
        </p:nvSpPr>
        <p:spPr>
          <a:xfrm>
            <a:off x="1121523" y="10730717"/>
            <a:ext cx="1218895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0"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MC Dropout: случайное выключение нейронов при каждом прогоне → множество предсказаний → оценка неопределённости</a:t>
            </a:r>
            <a:endParaRPr lang="ru-RU" sz="24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71446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>
          <a:extLst>
            <a:ext uri="{FF2B5EF4-FFF2-40B4-BE49-F238E27FC236}">
              <a16:creationId xmlns:a16="http://schemas.microsoft.com/office/drawing/2014/main" id="{F391495A-A644-E4B9-1FC2-3E79B00E05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48;p5">
            <a:extLst>
              <a:ext uri="{FF2B5EF4-FFF2-40B4-BE49-F238E27FC236}">
                <a16:creationId xmlns:a16="http://schemas.microsoft.com/office/drawing/2014/main" id="{2CAB5101-9BD4-940A-8531-3BAFF6DCEDDE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2449508" y="908767"/>
            <a:ext cx="3884763" cy="1080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53A1"/>
              </a:buClr>
              <a:buSzPts val="2400"/>
              <a:buFont typeface="Helvetica Neue"/>
              <a:buNone/>
            </a:pPr>
            <a:r>
              <a:rPr lang="ru-RU" sz="24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ФГАОУ ВО Первый МГМУ им. И. М. Сеченова</a:t>
            </a:r>
          </a:p>
        </p:txBody>
      </p:sp>
      <p:sp>
        <p:nvSpPr>
          <p:cNvPr id="64" name="Google Shape;48;p5">
            <a:extLst>
              <a:ext uri="{FF2B5EF4-FFF2-40B4-BE49-F238E27FC236}">
                <a16:creationId xmlns:a16="http://schemas.microsoft.com/office/drawing/2014/main" id="{B6C04ED0-FC41-3D11-AEBD-8EE9610D8161}"/>
              </a:ext>
            </a:extLst>
          </p:cNvPr>
          <p:cNvSpPr txBox="1">
            <a:spLocks/>
          </p:cNvSpPr>
          <p:nvPr/>
        </p:nvSpPr>
        <p:spPr>
          <a:xfrm>
            <a:off x="7041188" y="908767"/>
            <a:ext cx="4963382" cy="11900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114300" indent="0">
              <a:spcBef>
                <a:spcPts val="0"/>
              </a:spcBef>
              <a:buNone/>
            </a:pPr>
            <a:r>
              <a:rPr lang="ru-RU" sz="24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Оценка производительности и неопределённости медицинских ИИ-систем</a:t>
            </a:r>
          </a:p>
        </p:txBody>
      </p:sp>
      <p:sp>
        <p:nvSpPr>
          <p:cNvPr id="66" name="Google Shape;48;p5">
            <a:extLst>
              <a:ext uri="{FF2B5EF4-FFF2-40B4-BE49-F238E27FC236}">
                <a16:creationId xmlns:a16="http://schemas.microsoft.com/office/drawing/2014/main" id="{2AF78E2C-8B28-8ACF-BC5B-AF2C5C34F9AE}"/>
              </a:ext>
            </a:extLst>
          </p:cNvPr>
          <p:cNvSpPr txBox="1">
            <a:spLocks/>
          </p:cNvSpPr>
          <p:nvPr/>
        </p:nvSpPr>
        <p:spPr>
          <a:xfrm>
            <a:off x="12711487" y="828540"/>
            <a:ext cx="4546300" cy="12702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lnSpc>
                <a:spcPct val="104000"/>
              </a:lnSpc>
              <a:spcBef>
                <a:spcPts val="0"/>
              </a:spcBef>
              <a:buNone/>
            </a:pPr>
            <a:r>
              <a:rPr lang="en-US" sz="2400" err="1">
                <a:solidFill>
                  <a:schemeClr val="tx1"/>
                </a:solidFill>
                <a:latin typeface="Calibri" panose="020F0502020204030204" pitchFamily="34" charset="0"/>
                <a:ea typeface="Roboto Slab" pitchFamily="34" charset="-122"/>
                <a:cs typeface="Calibri" panose="020F0502020204030204" pitchFamily="34" charset="0"/>
              </a:rPr>
              <a:t>Интегральная</a:t>
            </a:r>
            <a:r>
              <a:rPr lang="en-US" sz="2400">
                <a:solidFill>
                  <a:schemeClr val="tx1"/>
                </a:solidFill>
                <a:latin typeface="Calibri" panose="020F0502020204030204" pitchFamily="34" charset="0"/>
                <a:ea typeface="Roboto Slab" pitchFamily="34" charset="-122"/>
                <a:cs typeface="Calibri" panose="020F0502020204030204" pitchFamily="34" charset="0"/>
              </a:rPr>
              <a:t> </a:t>
            </a:r>
            <a:r>
              <a:rPr lang="en-US" sz="2400" err="1">
                <a:solidFill>
                  <a:schemeClr val="tx1"/>
                </a:solidFill>
                <a:latin typeface="Calibri" panose="020F0502020204030204" pitchFamily="34" charset="0"/>
                <a:ea typeface="Roboto Slab" pitchFamily="34" charset="-122"/>
                <a:cs typeface="Calibri" panose="020F0502020204030204" pitchFamily="34" charset="0"/>
              </a:rPr>
              <a:t>методология</a:t>
            </a:r>
            <a:r>
              <a:rPr lang="en-US" sz="2400">
                <a:solidFill>
                  <a:schemeClr val="tx1"/>
                </a:solidFill>
                <a:latin typeface="Calibri" panose="020F0502020204030204" pitchFamily="34" charset="0"/>
                <a:ea typeface="Roboto Slab" pitchFamily="34" charset="-122"/>
                <a:cs typeface="Calibri" panose="020F0502020204030204" pitchFamily="34" charset="0"/>
              </a:rPr>
              <a:t> </a:t>
            </a:r>
            <a:r>
              <a:rPr lang="en-US" sz="2400" err="1">
                <a:solidFill>
                  <a:schemeClr val="tx1"/>
                </a:solidFill>
                <a:latin typeface="Calibri" panose="020F0502020204030204" pitchFamily="34" charset="0"/>
                <a:ea typeface="Roboto Slab" pitchFamily="34" charset="-122"/>
                <a:cs typeface="Calibri" panose="020F0502020204030204" pitchFamily="34" charset="0"/>
              </a:rPr>
              <a:t>оценки</a:t>
            </a:r>
            <a:r>
              <a:rPr lang="en-US" sz="2400">
                <a:solidFill>
                  <a:schemeClr val="tx1"/>
                </a:solidFill>
                <a:latin typeface="Calibri" panose="020F0502020204030204" pitchFamily="34" charset="0"/>
                <a:ea typeface="Roboto Slab" pitchFamily="34" charset="-122"/>
                <a:cs typeface="Calibri" panose="020F0502020204030204" pitchFamily="34" charset="0"/>
              </a:rPr>
              <a:t> и </a:t>
            </a:r>
            <a:r>
              <a:rPr lang="en-US" sz="2400" err="1">
                <a:solidFill>
                  <a:schemeClr val="tx1"/>
                </a:solidFill>
                <a:latin typeface="Calibri" panose="020F0502020204030204" pitchFamily="34" charset="0"/>
                <a:ea typeface="Roboto Slab" pitchFamily="34" charset="-122"/>
                <a:cs typeface="Calibri" panose="020F0502020204030204" pitchFamily="34" charset="0"/>
              </a:rPr>
              <a:t>визуализации</a:t>
            </a:r>
            <a:r>
              <a:rPr lang="en-US" sz="2400">
                <a:solidFill>
                  <a:schemeClr val="tx1"/>
                </a:solidFill>
                <a:latin typeface="Calibri" panose="020F0502020204030204" pitchFamily="34" charset="0"/>
                <a:ea typeface="Roboto Slab" pitchFamily="34" charset="-122"/>
                <a:cs typeface="Calibri" panose="020F0502020204030204" pitchFamily="34" charset="0"/>
              </a:rPr>
              <a:t> </a:t>
            </a:r>
            <a:r>
              <a:rPr lang="en-US" sz="2400" err="1">
                <a:solidFill>
                  <a:schemeClr val="tx1"/>
                </a:solidFill>
                <a:latin typeface="Calibri" panose="020F0502020204030204" pitchFamily="34" charset="0"/>
                <a:ea typeface="Roboto Slab" pitchFamily="34" charset="-122"/>
                <a:cs typeface="Calibri" panose="020F0502020204030204" pitchFamily="34" charset="0"/>
              </a:rPr>
              <a:t>неопределённости</a:t>
            </a:r>
            <a:endParaRPr lang="en-US" sz="24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6F303E-6773-D79C-033B-19CAAEE8E4A5}"/>
              </a:ext>
            </a:extLst>
          </p:cNvPr>
          <p:cNvSpPr txBox="1"/>
          <p:nvPr/>
        </p:nvSpPr>
        <p:spPr>
          <a:xfrm>
            <a:off x="946712" y="2518051"/>
            <a:ext cx="2109032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800" err="1">
                <a:solidFill>
                  <a:schemeClr val="tx1"/>
                </a:solidFill>
                <a:latin typeface="Calibri" panose="020F0502020204030204" pitchFamily="34" charset="0"/>
                <a:ea typeface="Roboto Slab" pitchFamily="34" charset="-122"/>
                <a:cs typeface="Calibri" panose="020F0502020204030204" pitchFamily="34" charset="0"/>
              </a:rPr>
              <a:t>Интегральная</a:t>
            </a:r>
            <a:r>
              <a:rPr lang="en-US" sz="4800">
                <a:solidFill>
                  <a:schemeClr val="tx1"/>
                </a:solidFill>
                <a:latin typeface="Calibri" panose="020F0502020204030204" pitchFamily="34" charset="0"/>
                <a:ea typeface="Roboto Slab" pitchFamily="34" charset="-122"/>
                <a:cs typeface="Calibri" panose="020F0502020204030204" pitchFamily="34" charset="0"/>
              </a:rPr>
              <a:t> </a:t>
            </a:r>
            <a:r>
              <a:rPr lang="en-US" sz="4800" err="1">
                <a:solidFill>
                  <a:schemeClr val="tx1"/>
                </a:solidFill>
                <a:latin typeface="Calibri" panose="020F0502020204030204" pitchFamily="34" charset="0"/>
                <a:ea typeface="Roboto Slab" pitchFamily="34" charset="-122"/>
                <a:cs typeface="Calibri" panose="020F0502020204030204" pitchFamily="34" charset="0"/>
              </a:rPr>
              <a:t>методология</a:t>
            </a:r>
            <a:r>
              <a:rPr lang="en-US" sz="4800">
                <a:solidFill>
                  <a:schemeClr val="tx1"/>
                </a:solidFill>
                <a:latin typeface="Calibri" panose="020F0502020204030204" pitchFamily="34" charset="0"/>
                <a:ea typeface="Roboto Slab" pitchFamily="34" charset="-122"/>
                <a:cs typeface="Calibri" panose="020F0502020204030204" pitchFamily="34" charset="0"/>
              </a:rPr>
              <a:t> </a:t>
            </a:r>
            <a:r>
              <a:rPr lang="en-US" sz="4800" err="1">
                <a:solidFill>
                  <a:schemeClr val="tx1"/>
                </a:solidFill>
                <a:latin typeface="Calibri" panose="020F0502020204030204" pitchFamily="34" charset="0"/>
                <a:ea typeface="Roboto Slab" pitchFamily="34" charset="-122"/>
                <a:cs typeface="Calibri" panose="020F0502020204030204" pitchFamily="34" charset="0"/>
              </a:rPr>
              <a:t>оценки</a:t>
            </a:r>
            <a:r>
              <a:rPr lang="en-US" sz="4800">
                <a:solidFill>
                  <a:schemeClr val="tx1"/>
                </a:solidFill>
                <a:latin typeface="Calibri" panose="020F0502020204030204" pitchFamily="34" charset="0"/>
                <a:ea typeface="Roboto Slab" pitchFamily="34" charset="-122"/>
                <a:cs typeface="Calibri" panose="020F0502020204030204" pitchFamily="34" charset="0"/>
              </a:rPr>
              <a:t> и </a:t>
            </a:r>
            <a:r>
              <a:rPr lang="en-US" sz="4800" err="1">
                <a:solidFill>
                  <a:schemeClr val="tx1"/>
                </a:solidFill>
                <a:latin typeface="Calibri" panose="020F0502020204030204" pitchFamily="34" charset="0"/>
                <a:ea typeface="Roboto Slab" pitchFamily="34" charset="-122"/>
                <a:cs typeface="Calibri" panose="020F0502020204030204" pitchFamily="34" charset="0"/>
              </a:rPr>
              <a:t>визуализации</a:t>
            </a:r>
            <a:r>
              <a:rPr lang="en-US" sz="4800">
                <a:solidFill>
                  <a:schemeClr val="tx1"/>
                </a:solidFill>
                <a:latin typeface="Calibri" panose="020F0502020204030204" pitchFamily="34" charset="0"/>
                <a:ea typeface="Roboto Slab" pitchFamily="34" charset="-122"/>
                <a:cs typeface="Calibri" panose="020F0502020204030204" pitchFamily="34" charset="0"/>
              </a:rPr>
              <a:t> </a:t>
            </a:r>
            <a:r>
              <a:rPr lang="en-US" sz="4800" err="1">
                <a:solidFill>
                  <a:schemeClr val="tx1"/>
                </a:solidFill>
                <a:latin typeface="Calibri" panose="020F0502020204030204" pitchFamily="34" charset="0"/>
                <a:ea typeface="Roboto Slab" pitchFamily="34" charset="-122"/>
                <a:cs typeface="Calibri" panose="020F0502020204030204" pitchFamily="34" charset="0"/>
              </a:rPr>
              <a:t>неопределённости</a:t>
            </a:r>
            <a:endParaRPr lang="en-US" sz="48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697163-DF8C-6753-5641-8A7FCCE6978D}"/>
              </a:ext>
            </a:extLst>
          </p:cNvPr>
          <p:cNvSpPr txBox="1"/>
          <p:nvPr/>
        </p:nvSpPr>
        <p:spPr>
          <a:xfrm>
            <a:off x="946712" y="3636848"/>
            <a:ext cx="22023016" cy="16801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2800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Предлагаемый </a:t>
            </a:r>
            <a:r>
              <a:rPr lang="en-US" sz="2800" err="1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трёхэтапный</a:t>
            </a:r>
            <a:r>
              <a:rPr lang="en-US" sz="2800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 </a:t>
            </a:r>
            <a:r>
              <a:rPr lang="en-US" sz="2800" err="1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подход</a:t>
            </a:r>
            <a:r>
              <a:rPr lang="en-US" sz="2800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: </a:t>
            </a:r>
            <a:r>
              <a:rPr lang="en-US" sz="2800" b="1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(1) </a:t>
            </a:r>
            <a:r>
              <a:rPr lang="en-US" sz="2800" err="1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модель</a:t>
            </a:r>
            <a:r>
              <a:rPr lang="en-US" sz="2800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 </a:t>
            </a:r>
            <a:r>
              <a:rPr lang="en-US" sz="2800" err="1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возвращает</a:t>
            </a:r>
            <a:r>
              <a:rPr lang="en-US" sz="2800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 </a:t>
            </a:r>
            <a:r>
              <a:rPr lang="en-US" sz="2800" err="1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вероятностное</a:t>
            </a:r>
            <a:r>
              <a:rPr lang="en-US" sz="2800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 </a:t>
            </a:r>
            <a:r>
              <a:rPr lang="en-US" sz="2800" err="1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распределение</a:t>
            </a:r>
            <a:r>
              <a:rPr lang="en-US" sz="2800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 </a:t>
            </a:r>
            <a:r>
              <a:rPr lang="en-US" sz="2800" err="1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по</a:t>
            </a:r>
            <a:r>
              <a:rPr lang="en-US" sz="2800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 </a:t>
            </a:r>
            <a:r>
              <a:rPr lang="en-US" sz="2800" err="1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классам</a:t>
            </a:r>
            <a:r>
              <a:rPr lang="en-US" sz="2800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; </a:t>
            </a:r>
            <a:r>
              <a:rPr lang="en-US" sz="2800" b="1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(2)</a:t>
            </a:r>
            <a:r>
              <a:rPr lang="en-US" sz="2800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 </a:t>
            </a:r>
            <a:r>
              <a:rPr lang="en-US" sz="2800" err="1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вычисляются</a:t>
            </a:r>
            <a:r>
              <a:rPr lang="en-US" sz="2800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 </a:t>
            </a:r>
            <a:r>
              <a:rPr lang="en-US" sz="2800" err="1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показатели</a:t>
            </a:r>
            <a:r>
              <a:rPr lang="en-US" sz="2800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 </a:t>
            </a:r>
            <a:r>
              <a:rPr lang="en-US" sz="2800" err="1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неопределённости</a:t>
            </a:r>
            <a:r>
              <a:rPr lang="en-US" sz="2800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 — </a:t>
            </a:r>
            <a:r>
              <a:rPr lang="en-US" sz="2800" err="1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энтропия</a:t>
            </a:r>
            <a:r>
              <a:rPr lang="en-US" sz="2800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, </a:t>
            </a:r>
            <a:r>
              <a:rPr lang="en-US" sz="2800" err="1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дисперсия</a:t>
            </a:r>
            <a:r>
              <a:rPr lang="en-US" sz="2800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 </a:t>
            </a:r>
            <a:r>
              <a:rPr lang="en-US" sz="2800" err="1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предсказаний</a:t>
            </a:r>
            <a:r>
              <a:rPr lang="en-US" sz="2800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, </a:t>
            </a:r>
            <a:r>
              <a:rPr lang="en-US" sz="2800" err="1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максимальная</a:t>
            </a:r>
            <a:r>
              <a:rPr lang="en-US" sz="2800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 </a:t>
            </a:r>
            <a:r>
              <a:rPr lang="en-US" sz="2800" err="1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вероятность</a:t>
            </a:r>
            <a:r>
              <a:rPr lang="en-US" sz="2800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; </a:t>
            </a:r>
            <a:r>
              <a:rPr lang="en-US" sz="2800" b="1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(3)</a:t>
            </a:r>
            <a:r>
              <a:rPr lang="en-US" sz="2800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 </a:t>
            </a:r>
            <a:r>
              <a:rPr lang="en-US" sz="2800" err="1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визуализация</a:t>
            </a:r>
            <a:r>
              <a:rPr lang="en-US" sz="2800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 </a:t>
            </a:r>
            <a:r>
              <a:rPr lang="en-US" sz="2800" err="1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для</a:t>
            </a:r>
            <a:r>
              <a:rPr lang="en-US" sz="2800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 </a:t>
            </a:r>
            <a:r>
              <a:rPr lang="en-US" sz="2800" err="1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врача</a:t>
            </a:r>
            <a:r>
              <a:rPr lang="en-US" sz="2800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: </a:t>
            </a:r>
            <a:r>
              <a:rPr lang="en-US" sz="2800" err="1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цветовая</a:t>
            </a:r>
            <a:r>
              <a:rPr lang="en-US" sz="2800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 </a:t>
            </a:r>
            <a:r>
              <a:rPr lang="en-US" sz="2800" err="1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шкала</a:t>
            </a:r>
            <a:r>
              <a:rPr lang="en-US" sz="2800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 </a:t>
            </a:r>
            <a:r>
              <a:rPr lang="en-US" sz="2800" err="1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уверенности</a:t>
            </a:r>
            <a:r>
              <a:rPr lang="en-US" sz="2800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 (</a:t>
            </a:r>
            <a:r>
              <a:rPr lang="en-US" sz="2800" err="1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зелёный→красный</a:t>
            </a:r>
            <a:r>
              <a:rPr lang="en-US" sz="2800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), </a:t>
            </a:r>
            <a:r>
              <a:rPr lang="en-US" sz="2800" err="1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числовые</a:t>
            </a:r>
            <a:r>
              <a:rPr lang="en-US" sz="2800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 </a:t>
            </a:r>
            <a:r>
              <a:rPr lang="en-US" sz="2800" err="1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интервалы</a:t>
            </a:r>
            <a:r>
              <a:rPr lang="en-US" sz="2800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 и </a:t>
            </a:r>
            <a:r>
              <a:rPr lang="en-US" sz="2800" err="1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выделение</a:t>
            </a:r>
            <a:r>
              <a:rPr lang="en-US" sz="2800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 </a:t>
            </a:r>
            <a:r>
              <a:rPr lang="en-US" sz="2800" err="1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областей</a:t>
            </a:r>
            <a:r>
              <a:rPr lang="en-US" sz="2800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 </a:t>
            </a:r>
            <a:r>
              <a:rPr lang="en-US" sz="2800" err="1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неопределённости</a:t>
            </a:r>
            <a:r>
              <a:rPr lang="en-US" sz="2800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 </a:t>
            </a:r>
            <a:r>
              <a:rPr lang="en-US" sz="2800" err="1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для</a:t>
            </a:r>
            <a:r>
              <a:rPr lang="en-US" sz="2800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 </a:t>
            </a:r>
            <a:r>
              <a:rPr lang="en-US" sz="2800" err="1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сегментации</a:t>
            </a:r>
            <a:r>
              <a:rPr lang="en-US" sz="2800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.</a:t>
            </a:r>
            <a:endParaRPr lang="en-US" sz="28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7890977-A87D-7193-A984-249A6AFC8EB5}"/>
              </a:ext>
            </a:extLst>
          </p:cNvPr>
          <p:cNvSpPr txBox="1"/>
          <p:nvPr/>
        </p:nvSpPr>
        <p:spPr>
          <a:xfrm>
            <a:off x="2094716" y="11873120"/>
            <a:ext cx="20569428" cy="594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2800" b="1" err="1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Пример</a:t>
            </a:r>
            <a:r>
              <a:rPr lang="en-US" sz="2800" b="1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: </a:t>
            </a:r>
            <a:r>
              <a:rPr lang="en-US" sz="2800" b="1" err="1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предсказанные</a:t>
            </a:r>
            <a:r>
              <a:rPr lang="en-US" sz="2800" b="1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 </a:t>
            </a:r>
            <a:r>
              <a:rPr lang="en-US" sz="2800" b="1" err="1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вероятности</a:t>
            </a:r>
            <a:r>
              <a:rPr lang="en-US" sz="2800" b="1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 [0.7, 0.2, 0.1], </a:t>
            </a:r>
            <a:r>
              <a:rPr lang="en-US" sz="2800" b="1" err="1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энтропия</a:t>
            </a:r>
            <a:r>
              <a:rPr lang="en-US" sz="2800" b="1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 1.16 → «</a:t>
            </a:r>
            <a:r>
              <a:rPr lang="en-US" sz="2800" b="1" err="1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средняя</a:t>
            </a:r>
            <a:r>
              <a:rPr lang="en-US" sz="2800" b="1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 </a:t>
            </a:r>
            <a:r>
              <a:rPr lang="en-US" sz="2800" b="1" err="1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уверенность</a:t>
            </a:r>
            <a:r>
              <a:rPr lang="en-US" sz="2800" b="1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», </a:t>
            </a:r>
            <a:r>
              <a:rPr lang="en-US" sz="2800" b="1" err="1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требует</a:t>
            </a:r>
            <a:r>
              <a:rPr lang="en-US" sz="2800" b="1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 </a:t>
            </a:r>
            <a:r>
              <a:rPr lang="en-US" sz="2800" b="1" err="1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проверки</a:t>
            </a:r>
            <a:r>
              <a:rPr lang="en-US" sz="2800" b="1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 </a:t>
            </a:r>
            <a:r>
              <a:rPr lang="en-US" sz="2800" b="1" err="1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врачом</a:t>
            </a:r>
            <a:r>
              <a:rPr lang="en-US" sz="2800" b="1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.</a:t>
            </a:r>
            <a:endParaRPr lang="en-US" sz="2800" b="1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05428B2-9B9D-0881-1E86-DDDF349F2D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9856" y="5959351"/>
            <a:ext cx="20569428" cy="5923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6388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>
          <a:extLst>
            <a:ext uri="{FF2B5EF4-FFF2-40B4-BE49-F238E27FC236}">
              <a16:creationId xmlns:a16="http://schemas.microsoft.com/office/drawing/2014/main" id="{EE53324E-75DF-87CE-773B-E73814822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5">
            <a:extLst>
              <a:ext uri="{FF2B5EF4-FFF2-40B4-BE49-F238E27FC236}">
                <a16:creationId xmlns:a16="http://schemas.microsoft.com/office/drawing/2014/main" id="{AB69F72F-6A0F-26BC-4CCF-51059D2BBA2C}"/>
              </a:ext>
            </a:extLst>
          </p:cNvPr>
          <p:cNvSpPr/>
          <p:nvPr/>
        </p:nvSpPr>
        <p:spPr>
          <a:xfrm>
            <a:off x="1137348" y="9942643"/>
            <a:ext cx="22109304" cy="2676077"/>
          </a:xfrm>
          <a:prstGeom prst="roundRect">
            <a:avLst>
              <a:gd name="adj" fmla="val 1724"/>
            </a:avLst>
          </a:prstGeom>
          <a:solidFill>
            <a:srgbClr val="B6D6FC"/>
          </a:solidFill>
          <a:ln/>
        </p:spPr>
      </p:sp>
      <p:sp>
        <p:nvSpPr>
          <p:cNvPr id="17" name="Google Shape;48;p5">
            <a:extLst>
              <a:ext uri="{FF2B5EF4-FFF2-40B4-BE49-F238E27FC236}">
                <a16:creationId xmlns:a16="http://schemas.microsoft.com/office/drawing/2014/main" id="{E3FD2817-412A-D6A2-A3E7-97C46685132A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2449508" y="908767"/>
            <a:ext cx="3884763" cy="1080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53A1"/>
              </a:buClr>
              <a:buSzPts val="2400"/>
              <a:buFont typeface="Helvetica Neue"/>
              <a:buNone/>
            </a:pPr>
            <a:r>
              <a:rPr lang="ru-RU" sz="24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ФГАОУ ВО Первый МГМУ им. И. М. Сеченова</a:t>
            </a:r>
          </a:p>
        </p:txBody>
      </p:sp>
      <p:sp>
        <p:nvSpPr>
          <p:cNvPr id="64" name="Google Shape;48;p5">
            <a:extLst>
              <a:ext uri="{FF2B5EF4-FFF2-40B4-BE49-F238E27FC236}">
                <a16:creationId xmlns:a16="http://schemas.microsoft.com/office/drawing/2014/main" id="{3284F97B-F4A2-892B-9A7B-F3158210773D}"/>
              </a:ext>
            </a:extLst>
          </p:cNvPr>
          <p:cNvSpPr txBox="1">
            <a:spLocks/>
          </p:cNvSpPr>
          <p:nvPr/>
        </p:nvSpPr>
        <p:spPr>
          <a:xfrm>
            <a:off x="7041188" y="927672"/>
            <a:ext cx="4963382" cy="1080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114300" indent="0">
              <a:spcBef>
                <a:spcPts val="0"/>
              </a:spcBef>
              <a:buNone/>
            </a:pPr>
            <a:r>
              <a:rPr lang="ru-RU" sz="24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Оценка производительности и неопределённости медицинских ИИ-систем</a:t>
            </a:r>
          </a:p>
        </p:txBody>
      </p:sp>
      <p:sp>
        <p:nvSpPr>
          <p:cNvPr id="66" name="Google Shape;48;p5">
            <a:extLst>
              <a:ext uri="{FF2B5EF4-FFF2-40B4-BE49-F238E27FC236}">
                <a16:creationId xmlns:a16="http://schemas.microsoft.com/office/drawing/2014/main" id="{4929C2DA-9AAE-2587-3B84-7DA595FF2E4F}"/>
              </a:ext>
            </a:extLst>
          </p:cNvPr>
          <p:cNvSpPr txBox="1">
            <a:spLocks/>
          </p:cNvSpPr>
          <p:nvPr/>
        </p:nvSpPr>
        <p:spPr>
          <a:xfrm>
            <a:off x="12711487" y="1158520"/>
            <a:ext cx="1955489" cy="5603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lnSpc>
                <a:spcPct val="104000"/>
              </a:lnSpc>
              <a:spcBef>
                <a:spcPts val="0"/>
              </a:spcBef>
              <a:buNone/>
            </a:pPr>
            <a:r>
              <a:rPr lang="en-US" sz="2400">
                <a:solidFill>
                  <a:schemeClr val="tx1"/>
                </a:solidFill>
                <a:latin typeface="Calibri" panose="020F0502020204030204" pitchFamily="34" charset="0"/>
                <a:ea typeface="Roboto Slab" pitchFamily="34" charset="-122"/>
                <a:cs typeface="Calibri" panose="020F0502020204030204" pitchFamily="34" charset="0"/>
              </a:rPr>
              <a:t>Выводы</a:t>
            </a:r>
            <a:endParaRPr lang="en-US" sz="24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765051-E4F0-61DF-18BB-00F528B16632}"/>
              </a:ext>
            </a:extLst>
          </p:cNvPr>
          <p:cNvSpPr txBox="1"/>
          <p:nvPr/>
        </p:nvSpPr>
        <p:spPr>
          <a:xfrm>
            <a:off x="946712" y="2956963"/>
            <a:ext cx="1218895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800">
                <a:solidFill>
                  <a:schemeClr val="tx1"/>
                </a:solidFill>
                <a:latin typeface="Calibri" panose="020F0502020204030204" pitchFamily="34" charset="0"/>
                <a:ea typeface="Roboto Slab" pitchFamily="34" charset="-122"/>
                <a:cs typeface="Calibri" panose="020F0502020204030204" pitchFamily="34" charset="0"/>
              </a:rPr>
              <a:t>Вывод</a:t>
            </a:r>
            <a:r>
              <a:rPr lang="ru-RU" sz="4800">
                <a:solidFill>
                  <a:schemeClr val="tx1"/>
                </a:solidFill>
                <a:latin typeface="Calibri" panose="020F0502020204030204" pitchFamily="34" charset="0"/>
                <a:ea typeface="Roboto Slab" pitchFamily="34" charset="-122"/>
                <a:cs typeface="Calibri" panose="020F0502020204030204" pitchFamily="34" charset="0"/>
              </a:rPr>
              <a:t>ы</a:t>
            </a:r>
            <a:endParaRPr lang="en-US" sz="48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83FC45-4E73-4F23-8202-8E169743C7B0}"/>
              </a:ext>
            </a:extLst>
          </p:cNvPr>
          <p:cNvSpPr txBox="1"/>
          <p:nvPr/>
        </p:nvSpPr>
        <p:spPr>
          <a:xfrm>
            <a:off x="1971428" y="5276876"/>
            <a:ext cx="19754716" cy="2294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33000"/>
              </a:lnSpc>
              <a:buSzPct val="100000"/>
              <a:buChar char="•"/>
            </a:pPr>
            <a:r>
              <a:rPr lang="en-US" sz="2800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Сочетание классических метрик с оценкой неопределённости повышает надёжность медицинских ИИ-систем.</a:t>
            </a:r>
            <a:endParaRPr lang="en-US" sz="28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lnSpc>
                <a:spcPct val="133000"/>
              </a:lnSpc>
              <a:buSzPct val="100000"/>
              <a:buChar char="•"/>
            </a:pPr>
            <a:r>
              <a:rPr lang="en-US" sz="2800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MIDRC‑MetricTree упрощает выбор метрик, но нуждается в дополнениях по неопределённости и интерпретируемости.</a:t>
            </a:r>
            <a:endParaRPr lang="en-US" sz="28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lnSpc>
                <a:spcPct val="133000"/>
              </a:lnSpc>
              <a:buSzPct val="100000"/>
              <a:buChar char="•"/>
            </a:pPr>
            <a:r>
              <a:rPr lang="en-US" sz="2800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Приоритетные шаги: квантование неопределённости, визуализация в клинических интерфейсах и анализ смещений данных.</a:t>
            </a:r>
            <a:endParaRPr lang="en-US" sz="28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l">
              <a:lnSpc>
                <a:spcPct val="120000"/>
              </a:lnSpc>
              <a:buNone/>
            </a:pPr>
            <a:endParaRPr lang="en-US" sz="28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1" name="Image 2" descr="preencoded.png">
            <a:extLst>
              <a:ext uri="{FF2B5EF4-FFF2-40B4-BE49-F238E27FC236}">
                <a16:creationId xmlns:a16="http://schemas.microsoft.com/office/drawing/2014/main" id="{5141F5EB-F3B7-92C6-2994-A391541E3E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5036" y="10286561"/>
            <a:ext cx="414434" cy="33146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AEA233C-58A5-E54C-82B1-294358F6FA40}"/>
              </a:ext>
            </a:extLst>
          </p:cNvPr>
          <p:cNvSpPr txBox="1"/>
          <p:nvPr/>
        </p:nvSpPr>
        <p:spPr>
          <a:xfrm>
            <a:off x="2103120" y="10286561"/>
            <a:ext cx="20574000" cy="17631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2800">
                <a:solidFill>
                  <a:schemeClr val="tx1"/>
                </a:solidFill>
                <a:latin typeface="Calibri" panose="020F0502020204030204" pitchFamily="34" charset="0"/>
                <a:ea typeface="Roboto" pitchFamily="34" charset="-122"/>
                <a:cs typeface="Calibri" panose="020F0502020204030204" pitchFamily="34" charset="0"/>
              </a:rPr>
              <a:t>На практике внедрение упирается в интеграцию в рабочие процессы, настройку интерфейсов, согласование с существующими системами и регулярную перепроверку моделей на новых данных. Без непрерывной валидации и мониторинга качества даже хорошие метрики быстро теряют прикладную ценность.</a:t>
            </a:r>
            <a:endParaRPr lang="en-US" sz="2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8153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612</TotalTime>
  <Words>1025</Words>
  <Application>Microsoft Office PowerPoint</Application>
  <PresentationFormat>Произвольный</PresentationFormat>
  <Paragraphs>97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Helvetica Neue</vt:lpstr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xz_xzeev</dc:creator>
  <cp:lastModifiedBy>Владимир Исаев</cp:lastModifiedBy>
  <cp:revision>28</cp:revision>
  <dcterms:modified xsi:type="dcterms:W3CDTF">2026-06-15T08:43:50Z</dcterms:modified>
</cp:coreProperties>
</file>