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24384000" cy="13716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9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13E09-0D9A-48CB-9212-153354401433}">
  <a:tblStyle styleId="{C7E13E09-0D9A-48CB-9212-153354401433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69" autoAdjust="0"/>
  </p:normalViewPr>
  <p:slideViewPr>
    <p:cSldViewPr snapToGrid="0">
      <p:cViewPr varScale="1">
        <p:scale>
          <a:sx n="36" d="100"/>
          <a:sy n="36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3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6272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8231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5422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930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847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3910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3345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2472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92dad9374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a92dad93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10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5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261478" y="2224144"/>
            <a:ext cx="7930521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Передовая инженерная школа</a:t>
            </a:r>
          </a:p>
          <a:p>
            <a:pPr marL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«Интеллектуальные системы тераностики»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2026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5"/>
          </p:nvPr>
        </p:nvSpPr>
        <p:spPr>
          <a:xfrm flipH="1">
            <a:off x="406398" y="9494373"/>
            <a:ext cx="7382934" cy="1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Font typeface="Helvetica Neue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5600"/>
              <a:buFont typeface="Helvetica Neue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BF99BBE-9BF1-4C99-B2F2-AA083147EE83}"/>
              </a:ext>
            </a:extLst>
          </p:cNvPr>
          <p:cNvSpPr/>
          <p:nvPr/>
        </p:nvSpPr>
        <p:spPr>
          <a:xfrm>
            <a:off x="2065731" y="5147060"/>
            <a:ext cx="13152497" cy="392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3257B8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Применение синтетических (in silico) данных для преодоления ограничений медицинских датасетов в разработке и оценке ИИ-моделей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3C641EC-98D8-4B1B-996E-4F845DAD9445}"/>
              </a:ext>
            </a:extLst>
          </p:cNvPr>
          <p:cNvSpPr/>
          <p:nvPr/>
        </p:nvSpPr>
        <p:spPr>
          <a:xfrm>
            <a:off x="2065731" y="9007308"/>
            <a:ext cx="12363501" cy="279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Научно-исследовательская работа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Выполнил: </a:t>
            </a:r>
            <a:r>
              <a:rPr lang="ru-RU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Вагапов Даниль Алишерович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группа </a:t>
            </a:r>
            <a:r>
              <a:rPr lang="ru-RU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636-02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Научный руководитель: </a:t>
            </a:r>
            <a:r>
              <a:rPr lang="ru-RU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Андриков Денис Анатольевич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306727DB-E211-4B9F-864A-008D178E4F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064652" y="7906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2357C05-39EC-4474-AD40-667D401261F9}"/>
              </a:ext>
            </a:extLst>
          </p:cNvPr>
          <p:cNvSpPr/>
          <p:nvPr/>
        </p:nvSpPr>
        <p:spPr>
          <a:xfrm>
            <a:off x="3514708" y="2921434"/>
            <a:ext cx="17354584" cy="174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Разработка медицинских ИИ-систем требует больших объёмов качественных данных. Однако доступ к медицинским датасетам ограничен рядом факторов: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DCF9CE1-B32F-4281-ABB3-EC491F635310}"/>
              </a:ext>
            </a:extLst>
          </p:cNvPr>
          <p:cNvGrpSpPr/>
          <p:nvPr/>
        </p:nvGrpSpPr>
        <p:grpSpPr>
          <a:xfrm>
            <a:off x="3514708" y="4670912"/>
            <a:ext cx="17354584" cy="5535706"/>
            <a:chOff x="5480229" y="6402959"/>
            <a:chExt cx="10889324" cy="2669678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04547E1F-D534-44E3-B69B-E8D4D9783C8C}"/>
                </a:ext>
              </a:extLst>
            </p:cNvPr>
            <p:cNvSpPr/>
            <p:nvPr/>
          </p:nvSpPr>
          <p:spPr>
            <a:xfrm>
              <a:off x="5480229" y="6402959"/>
              <a:ext cx="3496778" cy="1391543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</p:sp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11A91CBC-8E5D-44CC-BC1A-FCAB7218AA98}"/>
                </a:ext>
              </a:extLst>
            </p:cNvPr>
            <p:cNvSpPr/>
            <p:nvPr/>
          </p:nvSpPr>
          <p:spPr>
            <a:xfrm>
              <a:off x="5690013" y="6591970"/>
              <a:ext cx="2758411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Персональные данные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D9FE7AF3-266B-426D-9C05-61DB1B106DD4}"/>
                </a:ext>
              </a:extLst>
            </p:cNvPr>
            <p:cNvSpPr/>
            <p:nvPr/>
          </p:nvSpPr>
          <p:spPr>
            <a:xfrm>
              <a:off x="5690013" y="7000652"/>
              <a:ext cx="3118764" cy="604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Защита персональных данных пациентов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441D3356-55C1-4A00-8A7C-A5B34CCEBCB4}"/>
                </a:ext>
              </a:extLst>
            </p:cNvPr>
            <p:cNvSpPr/>
            <p:nvPr/>
          </p:nvSpPr>
          <p:spPr>
            <a:xfrm>
              <a:off x="9186791" y="6402959"/>
              <a:ext cx="3496877" cy="1391543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A10DE553-57A4-43D4-8CA1-5C20CF772646}"/>
                </a:ext>
              </a:extLst>
            </p:cNvPr>
            <p:cNvSpPr/>
            <p:nvPr/>
          </p:nvSpPr>
          <p:spPr>
            <a:xfrm>
              <a:off x="9375798" y="6591970"/>
              <a:ext cx="252862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Стоимость разметки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BFF6B4EA-3F34-47AA-8778-6CC038695CA6}"/>
                </a:ext>
              </a:extLst>
            </p:cNvPr>
            <p:cNvSpPr/>
            <p:nvPr/>
          </p:nvSpPr>
          <p:spPr>
            <a:xfrm>
              <a:off x="9375798" y="7000652"/>
              <a:ext cx="3118863" cy="6048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Высокая стоимость разметки экспертами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Shape 8">
              <a:extLst>
                <a:ext uri="{FF2B5EF4-FFF2-40B4-BE49-F238E27FC236}">
                  <a16:creationId xmlns:a16="http://schemas.microsoft.com/office/drawing/2014/main" id="{469A3B5C-DE71-4BDC-AF15-586DA76202B0}"/>
                </a:ext>
              </a:extLst>
            </p:cNvPr>
            <p:cNvSpPr/>
            <p:nvPr/>
          </p:nvSpPr>
          <p:spPr>
            <a:xfrm>
              <a:off x="12872676" y="6402959"/>
              <a:ext cx="3496877" cy="1391543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</p:sp>
        <p:sp>
          <p:nvSpPr>
            <p:cNvPr id="30" name="Text 9">
              <a:extLst>
                <a:ext uri="{FF2B5EF4-FFF2-40B4-BE49-F238E27FC236}">
                  <a16:creationId xmlns:a16="http://schemas.microsoft.com/office/drawing/2014/main" id="{B3352956-3801-4218-BF2A-BE3EA554C4E4}"/>
                </a:ext>
              </a:extLst>
            </p:cNvPr>
            <p:cNvSpPr/>
            <p:nvPr/>
          </p:nvSpPr>
          <p:spPr>
            <a:xfrm>
              <a:off x="13061683" y="6591970"/>
              <a:ext cx="2437843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Редкость патологий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6AF22ADA-2CF5-494A-BFFF-C3DC0204BC54}"/>
                </a:ext>
              </a:extLst>
            </p:cNvPr>
            <p:cNvSpPr/>
            <p:nvPr/>
          </p:nvSpPr>
          <p:spPr>
            <a:xfrm>
              <a:off x="13061683" y="7000652"/>
              <a:ext cx="3118863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Редкость отдельных патологий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14375C3F-B4F8-477C-B3D2-68ADE549182A}"/>
                </a:ext>
              </a:extLst>
            </p:cNvPr>
            <p:cNvSpPr/>
            <p:nvPr/>
          </p:nvSpPr>
          <p:spPr>
            <a:xfrm>
              <a:off x="5501006" y="7983513"/>
              <a:ext cx="5339720" cy="1089124"/>
            </a:xfrm>
            <a:prstGeom prst="roundRect">
              <a:avLst>
                <a:gd name="adj" fmla="val 2603"/>
              </a:avLst>
            </a:prstGeom>
            <a:solidFill>
              <a:srgbClr val="E9ECF2"/>
            </a:solidFill>
            <a:ln/>
          </p:spPr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4B6D07C3-2012-4AF6-B5EE-D80BDC1529BB}"/>
                </a:ext>
              </a:extLst>
            </p:cNvPr>
            <p:cNvSpPr/>
            <p:nvPr/>
          </p:nvSpPr>
          <p:spPr>
            <a:xfrm>
              <a:off x="5690013" y="8172525"/>
              <a:ext cx="2362637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Дисбаланс классов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CE71398C-64BD-4042-8D52-EDD3E377C73B}"/>
                </a:ext>
              </a:extLst>
            </p:cNvPr>
            <p:cNvSpPr/>
            <p:nvPr/>
          </p:nvSpPr>
          <p:spPr>
            <a:xfrm>
              <a:off x="5690013" y="8581207"/>
              <a:ext cx="4961706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Дисбаланс между классами заболеваний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E6EC627C-6E8C-443F-99F4-2F000B05C0AC}"/>
                </a:ext>
              </a:extLst>
            </p:cNvPr>
            <p:cNvSpPr/>
            <p:nvPr/>
          </p:nvSpPr>
          <p:spPr>
            <a:xfrm>
              <a:off x="11029733" y="7983513"/>
              <a:ext cx="5339820" cy="1089124"/>
            </a:xfrm>
            <a:prstGeom prst="roundRect">
              <a:avLst>
                <a:gd name="adj" fmla="val 2603"/>
              </a:avLst>
            </a:prstGeom>
            <a:solidFill>
              <a:srgbClr val="E9ECF2"/>
            </a:solidFill>
            <a:ln/>
          </p:spPr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CB662EFE-F4BC-4B7F-A046-D8F8B1FD94CB}"/>
                </a:ext>
              </a:extLst>
            </p:cNvPr>
            <p:cNvSpPr/>
            <p:nvPr/>
          </p:nvSpPr>
          <p:spPr>
            <a:xfrm>
              <a:off x="11218740" y="8172525"/>
              <a:ext cx="3157756" cy="2952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Различия в оборудовании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DB87B09B-3DBB-40F1-9010-C7AB9E290756}"/>
                </a:ext>
              </a:extLst>
            </p:cNvPr>
            <p:cNvSpPr/>
            <p:nvPr/>
          </p:nvSpPr>
          <p:spPr>
            <a:xfrm>
              <a:off x="11218740" y="8581207"/>
              <a:ext cx="4961806" cy="302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ru-RU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Снижение переносимости моделей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 17">
            <a:extLst>
              <a:ext uri="{FF2B5EF4-FFF2-40B4-BE49-F238E27FC236}">
                <a16:creationId xmlns:a16="http://schemas.microsoft.com/office/drawing/2014/main" id="{775F88C9-72B1-4A23-ABDC-34BD74F7BE72}"/>
              </a:ext>
            </a:extLst>
          </p:cNvPr>
          <p:cNvSpPr/>
          <p:nvPr/>
        </p:nvSpPr>
        <p:spPr>
          <a:xfrm>
            <a:off x="2070430" y="10793669"/>
            <a:ext cx="20243139" cy="162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 результате многие модели обучаются на небольших выборках, что снижает их обобщающую способность и повышает риск переобучения. Актуальным направлением решения данной проблемы является использование </a:t>
            </a:r>
            <a:r>
              <a:rPr lang="en-US" sz="28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синтетических (in silico) данных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генерируемых с помощью математических моделей и методов искусственного интеллекта.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9BAA9800-E3BF-4EE2-A6ED-FB3FC79296BB}"/>
              </a:ext>
            </a:extLst>
          </p:cNvPr>
          <p:cNvSpPr txBox="1">
            <a:spLocks/>
          </p:cNvSpPr>
          <p:nvPr/>
        </p:nvSpPr>
        <p:spPr>
          <a:xfrm>
            <a:off x="7228618" y="789791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проблема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E6E896C5-8CDC-49DD-8B22-99905AEA24F6}"/>
              </a:ext>
            </a:extLst>
          </p:cNvPr>
          <p:cNvSpPr txBox="1">
            <a:spLocks/>
          </p:cNvSpPr>
          <p:nvPr/>
        </p:nvSpPr>
        <p:spPr>
          <a:xfrm>
            <a:off x="12379431" y="7906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48;p5">
            <a:extLst>
              <a:ext uri="{FF2B5EF4-FFF2-40B4-BE49-F238E27FC236}">
                <a16:creationId xmlns:a16="http://schemas.microsoft.com/office/drawing/2014/main" id="{9F472C8F-0AF9-4E19-93A0-86D9A77C28C3}"/>
              </a:ext>
            </a:extLst>
          </p:cNvPr>
          <p:cNvSpPr txBox="1">
            <a:spLocks/>
          </p:cNvSpPr>
          <p:nvPr/>
        </p:nvSpPr>
        <p:spPr>
          <a:xfrm>
            <a:off x="7259339" y="7897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исследования</a:t>
            </a:r>
          </a:p>
        </p:txBody>
      </p:sp>
      <p:sp>
        <p:nvSpPr>
          <p:cNvPr id="15" name="Google Shape;48;p5">
            <a:extLst>
              <a:ext uri="{FF2B5EF4-FFF2-40B4-BE49-F238E27FC236}">
                <a16:creationId xmlns:a16="http://schemas.microsoft.com/office/drawing/2014/main" id="{ACF84EFF-7DD9-40F4-8880-8C1DB8BA691B}"/>
              </a:ext>
            </a:extLst>
          </p:cNvPr>
          <p:cNvSpPr txBox="1">
            <a:spLocks/>
          </p:cNvSpPr>
          <p:nvPr/>
        </p:nvSpPr>
        <p:spPr>
          <a:xfrm>
            <a:off x="12379431" y="7906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CAD2DB2E-B71C-4803-956C-11F8F6837CA1}"/>
              </a:ext>
            </a:extLst>
          </p:cNvPr>
          <p:cNvSpPr/>
          <p:nvPr/>
        </p:nvSpPr>
        <p:spPr>
          <a:xfrm>
            <a:off x="2038552" y="3468202"/>
            <a:ext cx="4948309" cy="201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Гипотеза: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0D0D674-70D3-4DBE-B2EC-3750065E6EB6}"/>
              </a:ext>
            </a:extLst>
          </p:cNvPr>
          <p:cNvSpPr/>
          <p:nvPr/>
        </p:nvSpPr>
        <p:spPr>
          <a:xfrm>
            <a:off x="2038552" y="5005329"/>
            <a:ext cx="8115098" cy="5455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Синтетические данные наиболее эффективны как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дополнение к реальным медицинским данным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позволяя компенсировать ограниченность датасетов и улучшать качество ИИ-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моделей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сохраняя клиническую значимость результатов.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9B7A87B0-6117-4BF7-9B4A-3BD4B9C054B4}"/>
              </a:ext>
            </a:extLst>
          </p:cNvPr>
          <p:cNvGrpSpPr/>
          <p:nvPr/>
        </p:nvGrpSpPr>
        <p:grpSpPr>
          <a:xfrm>
            <a:off x="9961955" y="3468202"/>
            <a:ext cx="15691847" cy="7562656"/>
            <a:chOff x="8282854" y="5774979"/>
            <a:chExt cx="5211918" cy="4735989"/>
          </a:xfrm>
        </p:grpSpPr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D94CCC7F-F4BB-43D6-9C2C-CF7E51DD3602}"/>
                </a:ext>
              </a:extLst>
            </p:cNvPr>
            <p:cNvSpPr/>
            <p:nvPr/>
          </p:nvSpPr>
          <p:spPr>
            <a:xfrm>
              <a:off x="8806903" y="5774979"/>
              <a:ext cx="2725967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600" dirty="0">
                  <a:solidFill>
                    <a:srgbClr val="3257B8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Задачи исследования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DFB67573-A72B-4EE6-88E7-3DB8F911421B}"/>
                </a:ext>
              </a:extLst>
            </p:cNvPr>
            <p:cNvSpPr/>
            <p:nvPr/>
          </p:nvSpPr>
          <p:spPr>
            <a:xfrm>
              <a:off x="8806903" y="6322132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 Light" pitchFamily="34" charset="-122"/>
                  <a:cs typeface="Times New Roman" panose="02020603050405020304" pitchFamily="18" charset="0"/>
                </a:rPr>
                <a:t>01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248F3EE4-7775-46F0-A9D9-FDAD5C98E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2854" y="6631794"/>
              <a:ext cx="4687869" cy="19050"/>
            </a:xfrm>
            <a:prstGeom prst="rect">
              <a:avLst/>
            </a:prstGeom>
          </p:spPr>
        </p:pic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7E73D800-94A9-4324-A6B5-64F45EEC5115}"/>
                </a:ext>
              </a:extLst>
            </p:cNvPr>
            <p:cNvSpPr/>
            <p:nvPr/>
          </p:nvSpPr>
          <p:spPr>
            <a:xfrm>
              <a:off x="8806903" y="6705875"/>
              <a:ext cx="4687869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Изучить ограничения реальных медицинских датасетов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66B47B3D-AA5D-42A9-9A6D-7FC7C8F937E1}"/>
                </a:ext>
              </a:extLst>
            </p:cNvPr>
            <p:cNvSpPr/>
            <p:nvPr/>
          </p:nvSpPr>
          <p:spPr>
            <a:xfrm>
              <a:off x="8806903" y="7220309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 Light" pitchFamily="34" charset="-122"/>
                  <a:cs typeface="Times New Roman" panose="02020603050405020304" pitchFamily="18" charset="0"/>
                </a:rPr>
                <a:t>02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Image 1" descr="preencoded.png">
              <a:extLst>
                <a:ext uri="{FF2B5EF4-FFF2-40B4-BE49-F238E27FC236}">
                  <a16:creationId xmlns:a16="http://schemas.microsoft.com/office/drawing/2014/main" id="{3DDCA5F6-22FB-4686-BB84-2C239F6B9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2854" y="7420384"/>
              <a:ext cx="4687869" cy="19050"/>
            </a:xfrm>
            <a:prstGeom prst="rect">
              <a:avLst/>
            </a:prstGeom>
          </p:spPr>
        </p:pic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647A3191-DB69-4978-8089-723524D6C230}"/>
                </a:ext>
              </a:extLst>
            </p:cNvPr>
            <p:cNvSpPr/>
            <p:nvPr/>
          </p:nvSpPr>
          <p:spPr>
            <a:xfrm>
              <a:off x="8806903" y="7608883"/>
              <a:ext cx="4687869" cy="435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Рассмотреть современные методы генерации синтетических данных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AE30FB17-C2F0-4328-AF5B-2061C611B1B1}"/>
                </a:ext>
              </a:extLst>
            </p:cNvPr>
            <p:cNvSpPr/>
            <p:nvPr/>
          </p:nvSpPr>
          <p:spPr>
            <a:xfrm>
              <a:off x="8806903" y="8122964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 Light" pitchFamily="34" charset="-122"/>
                  <a:cs typeface="Times New Roman" panose="02020603050405020304" pitchFamily="18" charset="0"/>
                </a:rPr>
                <a:t>03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Image 2" descr="preencoded.png">
              <a:extLst>
                <a:ext uri="{FF2B5EF4-FFF2-40B4-BE49-F238E27FC236}">
                  <a16:creationId xmlns:a16="http://schemas.microsoft.com/office/drawing/2014/main" id="{9ADAA35F-E910-4612-BBAC-40C44AA72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2854" y="8426661"/>
              <a:ext cx="4687869" cy="19050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B514064A-A6A1-4953-AD27-D57F0AF9F05F}"/>
                </a:ext>
              </a:extLst>
            </p:cNvPr>
            <p:cNvSpPr/>
            <p:nvPr/>
          </p:nvSpPr>
          <p:spPr>
            <a:xfrm>
              <a:off x="8806903" y="8511890"/>
              <a:ext cx="4687869" cy="435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Проанализировать критерии оценки качества синтетических данных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D05618B0-DC4D-490E-B81F-2A566EB088B5}"/>
                </a:ext>
              </a:extLst>
            </p:cNvPr>
            <p:cNvSpPr/>
            <p:nvPr/>
          </p:nvSpPr>
          <p:spPr>
            <a:xfrm>
              <a:off x="8806903" y="9027941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 Light" pitchFamily="34" charset="-122"/>
                  <a:cs typeface="Times New Roman" panose="02020603050405020304" pitchFamily="18" charset="0"/>
                </a:rPr>
                <a:t>04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Image 3" descr="preencoded.png">
              <a:extLst>
                <a:ext uri="{FF2B5EF4-FFF2-40B4-BE49-F238E27FC236}">
                  <a16:creationId xmlns:a16="http://schemas.microsoft.com/office/drawing/2014/main" id="{EBB67027-C41C-4585-998E-ED4AA20B2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2854" y="9432937"/>
              <a:ext cx="4687869" cy="19050"/>
            </a:xfrm>
            <a:prstGeom prst="rect">
              <a:avLst/>
            </a:prstGeom>
          </p:spPr>
        </p:pic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368F37A5-B611-4047-B0DC-D495A6E9C82E}"/>
                </a:ext>
              </a:extLst>
            </p:cNvPr>
            <p:cNvSpPr/>
            <p:nvPr/>
          </p:nvSpPr>
          <p:spPr>
            <a:xfrm>
              <a:off x="8806903" y="9414898"/>
              <a:ext cx="4687869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Рассмотреть реальные примеры применения в медицине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5CC65A36-6E4E-49CF-AFC2-98B533290A2F}"/>
                </a:ext>
              </a:extLst>
            </p:cNvPr>
            <p:cNvSpPr/>
            <p:nvPr/>
          </p:nvSpPr>
          <p:spPr>
            <a:xfrm>
              <a:off x="8806903" y="9923448"/>
              <a:ext cx="302411" cy="189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 Light" pitchFamily="34" charset="-122"/>
                  <a:cs typeface="Times New Roman" panose="02020603050405020304" pitchFamily="18" charset="0"/>
                </a:rPr>
                <a:t>05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Image 4" descr="preencoded.png">
              <a:extLst>
                <a:ext uri="{FF2B5EF4-FFF2-40B4-BE49-F238E27FC236}">
                  <a16:creationId xmlns:a16="http://schemas.microsoft.com/office/drawing/2014/main" id="{707917BA-8EE6-4FD0-BC1E-A1207E52A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2854" y="10221528"/>
              <a:ext cx="4687869" cy="19050"/>
            </a:xfrm>
            <a:prstGeom prst="rect">
              <a:avLst/>
            </a:prstGeom>
          </p:spPr>
        </p:pic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10306012-13E9-4523-BC93-549820990CDA}"/>
                </a:ext>
              </a:extLst>
            </p:cNvPr>
            <p:cNvSpPr/>
            <p:nvPr/>
          </p:nvSpPr>
          <p:spPr>
            <a:xfrm>
              <a:off x="8806903" y="10293282"/>
              <a:ext cx="4687869" cy="217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Проверить гипотезу на основе научных публикаций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Google Shape;48;p5">
            <a:extLst>
              <a:ext uri="{FF2B5EF4-FFF2-40B4-BE49-F238E27FC236}">
                <a16:creationId xmlns:a16="http://schemas.microsoft.com/office/drawing/2014/main" id="{998A4150-CE7D-479A-B4EC-04BE9424E38B}"/>
              </a:ext>
            </a:extLst>
          </p:cNvPr>
          <p:cNvSpPr txBox="1">
            <a:spLocks/>
          </p:cNvSpPr>
          <p:nvPr/>
        </p:nvSpPr>
        <p:spPr>
          <a:xfrm>
            <a:off x="2064652" y="7906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56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7259339" y="7897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реальных медицинских датасетов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379431" y="7906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FADB77FB-36B8-4FE3-BA6B-78E9D3335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121" y="3327636"/>
            <a:ext cx="8495438" cy="8495651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D87B1575-5511-4D5D-BA89-F7146876B0BF}"/>
              </a:ext>
            </a:extLst>
          </p:cNvPr>
          <p:cNvSpPr/>
          <p:nvPr/>
        </p:nvSpPr>
        <p:spPr>
          <a:xfrm>
            <a:off x="4405500" y="2642736"/>
            <a:ext cx="15947861" cy="10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4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Основные ограничения реальных медицинских датасетов: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1088960-F428-4871-8A90-A91E516BBE32}"/>
              </a:ext>
            </a:extLst>
          </p:cNvPr>
          <p:cNvGrpSpPr/>
          <p:nvPr/>
        </p:nvGrpSpPr>
        <p:grpSpPr>
          <a:xfrm>
            <a:off x="10717151" y="10093884"/>
            <a:ext cx="8216120" cy="1263451"/>
            <a:chOff x="2613746" y="8568034"/>
            <a:chExt cx="5067393" cy="480219"/>
          </a:xfrm>
        </p:grpSpPr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6377AE23-651B-4DE0-9295-E2260ED09783}"/>
                </a:ext>
              </a:extLst>
            </p:cNvPr>
            <p:cNvSpPr/>
            <p:nvPr/>
          </p:nvSpPr>
          <p:spPr>
            <a:xfrm>
              <a:off x="2613746" y="8568034"/>
              <a:ext cx="4954067" cy="480219"/>
            </a:xfrm>
            <a:prstGeom prst="roundRect">
              <a:avLst>
                <a:gd name="adj" fmla="val 3598"/>
              </a:avLst>
            </a:prstGeom>
            <a:solidFill>
              <a:srgbClr val="FCF2B5"/>
            </a:solidFill>
            <a:ln/>
          </p:spPr>
        </p:sp>
        <p:pic>
          <p:nvPicPr>
            <p:cNvPr id="33" name="Image 6" descr="preencoded.png">
              <a:extLst>
                <a:ext uri="{FF2B5EF4-FFF2-40B4-BE49-F238E27FC236}">
                  <a16:creationId xmlns:a16="http://schemas.microsoft.com/office/drawing/2014/main" id="{3072494F-04F2-4B43-A613-5226DAEE5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4348" y="8690859"/>
              <a:ext cx="374145" cy="207106"/>
            </a:xfrm>
            <a:prstGeom prst="rect">
              <a:avLst/>
            </a:prstGeom>
          </p:spPr>
        </p:pic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18790C08-B74E-4DEB-BCF5-6022EA90FCE7}"/>
                </a:ext>
              </a:extLst>
            </p:cNvPr>
            <p:cNvSpPr/>
            <p:nvPr/>
          </p:nvSpPr>
          <p:spPr>
            <a:xfrm>
              <a:off x="3216308" y="8659911"/>
              <a:ext cx="4464831" cy="296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7000"/>
                </a:lnSpc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Следствие: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качество моделей может существенно снижаться при использовании в реальной практике.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2064652" y="7906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BF98ABFA-C4A7-4C95-B499-A1EFD5F23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760564"/>
              </p:ext>
            </p:extLst>
          </p:nvPr>
        </p:nvGraphicFramePr>
        <p:xfrm>
          <a:off x="10717151" y="3965212"/>
          <a:ext cx="12208589" cy="557150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effectLst/>
                <a:tableStyleId>{2D5ABB26-0587-4C30-8999-92F81FD0307C}</a:tableStyleId>
              </a:tblPr>
              <a:tblGrid>
                <a:gridCol w="4482353">
                  <a:extLst>
                    <a:ext uri="{9D8B030D-6E8A-4147-A177-3AD203B41FA5}">
                      <a16:colId xmlns:a16="http://schemas.microsoft.com/office/drawing/2014/main" val="344874805"/>
                    </a:ext>
                  </a:extLst>
                </a:gridCol>
                <a:gridCol w="7726236">
                  <a:extLst>
                    <a:ext uri="{9D8B030D-6E8A-4147-A177-3AD203B41FA5}">
                      <a16:colId xmlns:a16="http://schemas.microsoft.com/office/drawing/2014/main" val="958124715"/>
                    </a:ext>
                  </a:extLst>
                </a:gridCol>
              </a:tblGrid>
              <a:tr h="1304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rgbClr val="15213F"/>
                          </a:solidFill>
                        </a:rPr>
                        <a:t>Ограничение</a:t>
                      </a:r>
                      <a:endParaRPr lang="en-US" sz="44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rgbClr val="15213F"/>
                          </a:solidFill>
                        </a:rPr>
                        <a:t>Последствие</a:t>
                      </a:r>
                      <a:endParaRPr lang="en-US" sz="44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119176"/>
                  </a:ext>
                </a:extLst>
              </a:tr>
              <a:tr h="729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Малый объём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Переобучение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32884"/>
                  </a:ext>
                </a:extLst>
              </a:tr>
              <a:tr h="1029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Дисбаланс</a:t>
                      </a:r>
                      <a:endParaRPr lang="en-US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Ошибки диагностики редких случаев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384990"/>
                  </a:ext>
                </a:extLst>
              </a:tr>
              <a:tr h="1029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Конфиденциальность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Ограниченный обмен данными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17922"/>
                  </a:ext>
                </a:extLst>
              </a:tr>
              <a:tr h="1029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Дорогая разметка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200" dirty="0">
                          <a:solidFill>
                            <a:srgbClr val="15213F"/>
                          </a:solidFill>
                        </a:rPr>
                        <a:t>Медленное создание датасетов</a:t>
                      </a:r>
                      <a:endParaRPr lang="en-US" sz="3200" dirty="0"/>
                    </a:p>
                    <a:p>
                      <a:endParaRPr lang="ru-RU" sz="3200" dirty="0"/>
                    </a:p>
                  </a:txBody>
                  <a:tcPr>
                    <a:lnL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74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81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7259339" y="7897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генерации синтетических данных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379431" y="7906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2064652" y="7906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A429F71-0169-4A0C-B023-47A143EBDF2A}"/>
              </a:ext>
            </a:extLst>
          </p:cNvPr>
          <p:cNvSpPr/>
          <p:nvPr/>
        </p:nvSpPr>
        <p:spPr>
          <a:xfrm>
            <a:off x="3886353" y="3064043"/>
            <a:ext cx="16986155" cy="77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В современной медицине используются несколько подходов к генерации синтетических данных: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E2FFE36-5366-43BE-8DCD-91AF467C2A47}"/>
              </a:ext>
            </a:extLst>
          </p:cNvPr>
          <p:cNvGrpSpPr/>
          <p:nvPr/>
        </p:nvGrpSpPr>
        <p:grpSpPr>
          <a:xfrm>
            <a:off x="3177516" y="5026812"/>
            <a:ext cx="5909239" cy="2615843"/>
            <a:chOff x="3422704" y="6365572"/>
            <a:chExt cx="3480705" cy="1503164"/>
          </a:xfrm>
        </p:grpSpPr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D20CEEF6-7E05-4528-8C53-8D477C0F2BE0}"/>
                </a:ext>
              </a:extLst>
            </p:cNvPr>
            <p:cNvSpPr/>
            <p:nvPr/>
          </p:nvSpPr>
          <p:spPr>
            <a:xfrm>
              <a:off x="3422704" y="6365572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GAN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16E4003F-44B6-4BFD-B954-5BA828488B82}"/>
                </a:ext>
              </a:extLst>
            </p:cNvPr>
            <p:cNvSpPr/>
            <p:nvPr/>
          </p:nvSpPr>
          <p:spPr>
            <a:xfrm>
              <a:off x="3422704" y="6748358"/>
              <a:ext cx="3480705" cy="11203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Generative Adversarial Networks - генерация реалистичных медицинских изображений за счёт конкуренции генератора и дискриминатора.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0E5E50A-0246-4AB2-9ED7-9ED9827AC7FD}"/>
              </a:ext>
            </a:extLst>
          </p:cNvPr>
          <p:cNvGrpSpPr/>
          <p:nvPr/>
        </p:nvGrpSpPr>
        <p:grpSpPr>
          <a:xfrm>
            <a:off x="9657891" y="5026812"/>
            <a:ext cx="5909239" cy="2128417"/>
            <a:chOff x="7116625" y="6365572"/>
            <a:chExt cx="3480705" cy="1223070"/>
          </a:xfrm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7F06E570-490D-4699-B7C1-D9EB1C962425}"/>
                </a:ext>
              </a:extLst>
            </p:cNvPr>
            <p:cNvSpPr/>
            <p:nvPr/>
          </p:nvSpPr>
          <p:spPr>
            <a:xfrm>
              <a:off x="7116625" y="6365572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Diffusion Models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AEFC3068-F814-4362-A5EB-88E70A5502A6}"/>
                </a:ext>
              </a:extLst>
            </p:cNvPr>
            <p:cNvSpPr/>
            <p:nvPr/>
          </p:nvSpPr>
          <p:spPr>
            <a:xfrm>
              <a:off x="7116625" y="6748358"/>
              <a:ext cx="3480705" cy="840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ru-RU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Итеративно восстанавливают изображение из случайного шума, обеспечивая высокую реалистичность результата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76148B1-7795-4764-9462-27F27838A9A3}"/>
              </a:ext>
            </a:extLst>
          </p:cNvPr>
          <p:cNvGrpSpPr/>
          <p:nvPr/>
        </p:nvGrpSpPr>
        <p:grpSpPr>
          <a:xfrm>
            <a:off x="16138266" y="5026812"/>
            <a:ext cx="5909239" cy="2128417"/>
            <a:chOff x="10810546" y="6365572"/>
            <a:chExt cx="3480705" cy="1223070"/>
          </a:xfrm>
        </p:grpSpPr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DABFE5AC-4872-4DC1-8C2D-D31C28BA73EB}"/>
                </a:ext>
              </a:extLst>
            </p:cNvPr>
            <p:cNvSpPr/>
            <p:nvPr/>
          </p:nvSpPr>
          <p:spPr>
            <a:xfrm>
              <a:off x="10810546" y="6365572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RoentGen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A57CA2FE-3228-4CE9-95A6-B84C0AD79E22}"/>
                </a:ext>
              </a:extLst>
            </p:cNvPr>
            <p:cNvSpPr/>
            <p:nvPr/>
          </p:nvSpPr>
          <p:spPr>
            <a:xfrm>
              <a:off x="10810546" y="6748358"/>
              <a:ext cx="3480705" cy="840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ru-RU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Генерация рентгеновских снимков грудной клетки на основе текстового описания клинической картины.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D9AC8E9-9153-43DF-A43C-5195764A741A}"/>
              </a:ext>
            </a:extLst>
          </p:cNvPr>
          <p:cNvGrpSpPr/>
          <p:nvPr/>
        </p:nvGrpSpPr>
        <p:grpSpPr>
          <a:xfrm>
            <a:off x="5468883" y="8229314"/>
            <a:ext cx="6529208" cy="2128415"/>
            <a:chOff x="3422704" y="8782144"/>
            <a:chExt cx="3480705" cy="1223069"/>
          </a:xfrm>
        </p:grpSpPr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AEC820E2-39C0-438C-B745-4062905A4FC6}"/>
                </a:ext>
              </a:extLst>
            </p:cNvPr>
            <p:cNvSpPr/>
            <p:nvPr/>
          </p:nvSpPr>
          <p:spPr>
            <a:xfrm>
              <a:off x="3422704" y="8782144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M-SYNTH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36DEFBA0-CB26-4A26-9D78-B4BC4F9F60BF}"/>
                </a:ext>
              </a:extLst>
            </p:cNvPr>
            <p:cNvSpPr/>
            <p:nvPr/>
          </p:nvSpPr>
          <p:spPr>
            <a:xfrm>
              <a:off x="3422704" y="9164929"/>
              <a:ext cx="3480705" cy="840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Создание синтетических медицинских изображений и соответствующих аннотаций для обучения ИИ.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1213E93-EB70-47AA-B5D4-1C73409EDCA5}"/>
              </a:ext>
            </a:extLst>
          </p:cNvPr>
          <p:cNvGrpSpPr/>
          <p:nvPr/>
        </p:nvGrpSpPr>
        <p:grpSpPr>
          <a:xfrm>
            <a:off x="12852073" y="8229314"/>
            <a:ext cx="5909239" cy="2128415"/>
            <a:chOff x="7116625" y="8782144"/>
            <a:chExt cx="3480705" cy="1223069"/>
          </a:xfrm>
        </p:grpSpPr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7F588B3B-A918-4946-9409-FB5C9E813F71}"/>
                </a:ext>
              </a:extLst>
            </p:cNvPr>
            <p:cNvSpPr/>
            <p:nvPr/>
          </p:nvSpPr>
          <p:spPr>
            <a:xfrm>
              <a:off x="7116625" y="8782144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VICTRE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11">
              <a:extLst>
                <a:ext uri="{FF2B5EF4-FFF2-40B4-BE49-F238E27FC236}">
                  <a16:creationId xmlns:a16="http://schemas.microsoft.com/office/drawing/2014/main" id="{22C3CD3D-BD59-41D6-B57F-86E870613E6E}"/>
                </a:ext>
              </a:extLst>
            </p:cNvPr>
            <p:cNvSpPr/>
            <p:nvPr/>
          </p:nvSpPr>
          <p:spPr>
            <a:xfrm>
              <a:off x="7116625" y="9164929"/>
              <a:ext cx="3480705" cy="8402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Виртуальная среда моделирования маммографических исследований для тестирования алгоритмов.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21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7145039" y="8278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RoentGen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M-SYNTH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VICTRE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97F7F2C-3191-45DB-8591-A4F0C35C8D4D}"/>
              </a:ext>
            </a:extLst>
          </p:cNvPr>
          <p:cNvGrpSpPr/>
          <p:nvPr/>
        </p:nvGrpSpPr>
        <p:grpSpPr>
          <a:xfrm>
            <a:off x="2107133" y="3235053"/>
            <a:ext cx="10868547" cy="9013283"/>
            <a:chOff x="2221433" y="5341226"/>
            <a:chExt cx="5284457" cy="4200724"/>
          </a:xfrm>
        </p:grpSpPr>
        <p:pic>
          <p:nvPicPr>
            <p:cNvPr id="24" name="Image 0" descr="preencoded.png">
              <a:extLst>
                <a:ext uri="{FF2B5EF4-FFF2-40B4-BE49-F238E27FC236}">
                  <a16:creationId xmlns:a16="http://schemas.microsoft.com/office/drawing/2014/main" id="{15741016-6F4A-4857-AFF5-938E85079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433" y="5341226"/>
              <a:ext cx="5284457" cy="1410395"/>
            </a:xfrm>
            <a:prstGeom prst="rect">
              <a:avLst/>
            </a:prstGeom>
          </p:spPr>
        </p:pic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5056B147-500D-4A66-956D-DA7755E7CCD5}"/>
                </a:ext>
              </a:extLst>
            </p:cNvPr>
            <p:cNvSpPr/>
            <p:nvPr/>
          </p:nvSpPr>
          <p:spPr>
            <a:xfrm>
              <a:off x="4771490" y="5422982"/>
              <a:ext cx="184245" cy="230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1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2">
              <a:extLst>
                <a:ext uri="{FF2B5EF4-FFF2-40B4-BE49-F238E27FC236}">
                  <a16:creationId xmlns:a16="http://schemas.microsoft.com/office/drawing/2014/main" id="{E4BD24CC-1D8D-430A-92C8-F9A0896D7DE0}"/>
                </a:ext>
              </a:extLst>
            </p:cNvPr>
            <p:cNvSpPr/>
            <p:nvPr/>
          </p:nvSpPr>
          <p:spPr>
            <a:xfrm>
              <a:off x="2356962" y="5802196"/>
              <a:ext cx="1535769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RoentGen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 3">
              <a:extLst>
                <a:ext uri="{FF2B5EF4-FFF2-40B4-BE49-F238E27FC236}">
                  <a16:creationId xmlns:a16="http://schemas.microsoft.com/office/drawing/2014/main" id="{EF04F50D-BA33-4DF0-8F12-ACF9B0B7CAF1}"/>
                </a:ext>
              </a:extLst>
            </p:cNvPr>
            <p:cNvSpPr/>
            <p:nvPr/>
          </p:nvSpPr>
          <p:spPr>
            <a:xfrm>
              <a:off x="2356962" y="6073956"/>
              <a:ext cx="5013398" cy="5421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ru-RU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Генерирует реалистичные рентгеновские снимки грудной клетки по текстовому описанию</a:t>
              </a:r>
              <a:endPara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ru-RU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Позволяет контролировать клинические характеристики изображения</a:t>
              </a:r>
              <a:endPara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ru-RU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Используется для расширения обучающих выборок при дефиците данных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Image 1" descr="preencoded.png">
              <a:extLst>
                <a:ext uri="{FF2B5EF4-FFF2-40B4-BE49-F238E27FC236}">
                  <a16:creationId xmlns:a16="http://schemas.microsoft.com/office/drawing/2014/main" id="{D120C183-E72D-4515-82F2-BD55BB70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21433" y="6831392"/>
              <a:ext cx="5284457" cy="1220391"/>
            </a:xfrm>
            <a:prstGeom prst="rect">
              <a:avLst/>
            </a:prstGeom>
          </p:spPr>
        </p:pic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EF914F6E-B867-4562-8576-232F35E283C8}"/>
                </a:ext>
              </a:extLst>
            </p:cNvPr>
            <p:cNvSpPr/>
            <p:nvPr/>
          </p:nvSpPr>
          <p:spPr>
            <a:xfrm>
              <a:off x="4771490" y="6913148"/>
              <a:ext cx="184245" cy="230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2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5">
              <a:extLst>
                <a:ext uri="{FF2B5EF4-FFF2-40B4-BE49-F238E27FC236}">
                  <a16:creationId xmlns:a16="http://schemas.microsoft.com/office/drawing/2014/main" id="{CECB4E98-8AC3-4649-9DC6-DEF514C09DB2}"/>
                </a:ext>
              </a:extLst>
            </p:cNvPr>
            <p:cNvSpPr/>
            <p:nvPr/>
          </p:nvSpPr>
          <p:spPr>
            <a:xfrm>
              <a:off x="2356962" y="7292363"/>
              <a:ext cx="1535769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M-SYNTH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57BABC3D-AD6B-48A2-997E-90F4EEB02FD6}"/>
                </a:ext>
              </a:extLst>
            </p:cNvPr>
            <p:cNvSpPr/>
            <p:nvPr/>
          </p:nvSpPr>
          <p:spPr>
            <a:xfrm>
              <a:off x="2356962" y="7564123"/>
              <a:ext cx="5013398" cy="3521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Генерирует медицинские изображения вместе с разметкой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Снижает потребность в ручной аннотации данных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Image 2" descr="preencoded.png">
              <a:extLst>
                <a:ext uri="{FF2B5EF4-FFF2-40B4-BE49-F238E27FC236}">
                  <a16:creationId xmlns:a16="http://schemas.microsoft.com/office/drawing/2014/main" id="{C5E4474E-3E82-442C-AC1C-81E248E5A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433" y="8131555"/>
              <a:ext cx="5284457" cy="1410395"/>
            </a:xfrm>
            <a:prstGeom prst="rect">
              <a:avLst/>
            </a:prstGeom>
          </p:spPr>
        </p:pic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89AC7CCA-D13E-462B-A94B-A68E63F907A6}"/>
                </a:ext>
              </a:extLst>
            </p:cNvPr>
            <p:cNvSpPr/>
            <p:nvPr/>
          </p:nvSpPr>
          <p:spPr>
            <a:xfrm>
              <a:off x="4771490" y="8213311"/>
              <a:ext cx="184245" cy="230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3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8">
              <a:extLst>
                <a:ext uri="{FF2B5EF4-FFF2-40B4-BE49-F238E27FC236}">
                  <a16:creationId xmlns:a16="http://schemas.microsoft.com/office/drawing/2014/main" id="{191D704B-41E9-423F-91EB-CF32E42F2655}"/>
                </a:ext>
              </a:extLst>
            </p:cNvPr>
            <p:cNvSpPr/>
            <p:nvPr/>
          </p:nvSpPr>
          <p:spPr>
            <a:xfrm>
              <a:off x="2356962" y="8592525"/>
              <a:ext cx="1535769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2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VICTRE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654A21CF-FB5B-4BCE-B289-FC1DCD6E7C48}"/>
                </a:ext>
              </a:extLst>
            </p:cNvPr>
            <p:cNvSpPr/>
            <p:nvPr/>
          </p:nvSpPr>
          <p:spPr>
            <a:xfrm>
              <a:off x="2356962" y="8864285"/>
              <a:ext cx="5013398" cy="5421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Проект FDA США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Моделирует виртуальных пациентов для исследований в маммографии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0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Позволяет оценивать алгоритмы без участия реальных пациентов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54DA788-EC7E-43D0-905F-520945D62A8A}"/>
              </a:ext>
            </a:extLst>
          </p:cNvPr>
          <p:cNvGrpSpPr/>
          <p:nvPr/>
        </p:nvGrpSpPr>
        <p:grpSpPr>
          <a:xfrm>
            <a:off x="1950353" y="12563497"/>
            <a:ext cx="21519248" cy="626491"/>
            <a:chOff x="2064653" y="9721535"/>
            <a:chExt cx="21519248" cy="626491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BD9D2EE3-8BAC-4693-9AD7-2F10A669B381}"/>
                </a:ext>
              </a:extLst>
            </p:cNvPr>
            <p:cNvGrpSpPr/>
            <p:nvPr/>
          </p:nvGrpSpPr>
          <p:grpSpPr>
            <a:xfrm>
              <a:off x="2064653" y="9721535"/>
              <a:ext cx="21519248" cy="626491"/>
              <a:chOff x="2064653" y="9721535"/>
              <a:chExt cx="21519248" cy="626491"/>
            </a:xfrm>
          </p:grpSpPr>
          <p:sp>
            <p:nvSpPr>
              <p:cNvPr id="43" name="Shape 10">
                <a:extLst>
                  <a:ext uri="{FF2B5EF4-FFF2-40B4-BE49-F238E27FC236}">
                    <a16:creationId xmlns:a16="http://schemas.microsoft.com/office/drawing/2014/main" id="{B99FD1E5-6C5C-4195-BF4C-1323723590A8}"/>
                  </a:ext>
                </a:extLst>
              </p:cNvPr>
              <p:cNvSpPr/>
              <p:nvPr/>
            </p:nvSpPr>
            <p:spPr>
              <a:xfrm>
                <a:off x="2064653" y="9721535"/>
                <a:ext cx="21519248" cy="626491"/>
              </a:xfrm>
              <a:prstGeom prst="roundRect">
                <a:avLst>
                  <a:gd name="adj" fmla="val 5020"/>
                </a:avLst>
              </a:prstGeom>
              <a:solidFill>
                <a:srgbClr val="B6FCB8"/>
              </a:solidFill>
              <a:ln/>
            </p:spPr>
          </p:sp>
          <p:pic>
            <p:nvPicPr>
              <p:cNvPr id="44" name="Image 4" descr="preencoded.png">
                <a:extLst>
                  <a:ext uri="{FF2B5EF4-FFF2-40B4-BE49-F238E27FC236}">
                    <a16:creationId xmlns:a16="http://schemas.microsoft.com/office/drawing/2014/main" id="{A1498B1D-2A13-408D-B3DE-FB44490B0A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7642" y="9870743"/>
                <a:ext cx="409950" cy="328074"/>
              </a:xfrm>
              <a:prstGeom prst="rect">
                <a:avLst/>
              </a:prstGeom>
            </p:spPr>
          </p:pic>
        </p:grp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90BB95DB-579A-4A59-8ACF-B5A3217293C8}"/>
                </a:ext>
              </a:extLst>
            </p:cNvPr>
            <p:cNvSpPr/>
            <p:nvPr/>
          </p:nvSpPr>
          <p:spPr>
            <a:xfrm>
              <a:off x="2620581" y="9813000"/>
              <a:ext cx="10956155" cy="162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Главное преимущество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специализированных платформ: они учитывают медицинскую специфику лучше универсальных генеративных моделей.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5E80C4-1194-46C8-86AE-92AE941D84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74827" y="3235054"/>
            <a:ext cx="9130109" cy="910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0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7145039" y="8278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оценивают качество синтетических данных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017C0AA-7FBB-46E3-AA78-BDC65DCA9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80" y="2686816"/>
            <a:ext cx="23339239" cy="1000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7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7145039" y="827892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оценивают качество синтетических данных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7E226257-1AB0-47FE-BA78-7934C78DB8E1}"/>
              </a:ext>
            </a:extLst>
          </p:cNvPr>
          <p:cNvSpPr/>
          <p:nvPr/>
        </p:nvSpPr>
        <p:spPr>
          <a:xfrm>
            <a:off x="3707576" y="3245815"/>
            <a:ext cx="16968847" cy="5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Недостаточно просто сгенерировать данные — необходимо убедиться в их полезности.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Основные критерии оценки: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28C685A-239E-46B9-A3B7-1C874164C159}"/>
              </a:ext>
            </a:extLst>
          </p:cNvPr>
          <p:cNvGrpSpPr/>
          <p:nvPr/>
        </p:nvGrpSpPr>
        <p:grpSpPr>
          <a:xfrm>
            <a:off x="2153997" y="5637989"/>
            <a:ext cx="20076006" cy="4832787"/>
            <a:chOff x="3272467" y="5459319"/>
            <a:chExt cx="9340120" cy="2248396"/>
          </a:xfrm>
        </p:grpSpPr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2A636452-1825-48FC-96BF-DCADD0DEDA73}"/>
                </a:ext>
              </a:extLst>
            </p:cNvPr>
            <p:cNvSpPr/>
            <p:nvPr/>
          </p:nvSpPr>
          <p:spPr>
            <a:xfrm>
              <a:off x="3272467" y="5459319"/>
              <a:ext cx="4630820" cy="1084957"/>
            </a:xfrm>
            <a:prstGeom prst="roundRect">
              <a:avLst>
                <a:gd name="adj" fmla="val 1684"/>
              </a:avLst>
            </a:prstGeom>
            <a:solidFill>
              <a:srgbClr val="E9ECF2"/>
            </a:solidFill>
            <a:ln/>
          </p:spPr>
        </p:sp>
        <p:pic>
          <p:nvPicPr>
            <p:cNvPr id="21" name="Image 0" descr="preencoded.png">
              <a:extLst>
                <a:ext uri="{FF2B5EF4-FFF2-40B4-BE49-F238E27FC236}">
                  <a16:creationId xmlns:a16="http://schemas.microsoft.com/office/drawing/2014/main" id="{20F5E793-EFEE-4CDC-9A60-8618AEB71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4205" y="5581060"/>
              <a:ext cx="365414" cy="365423"/>
            </a:xfrm>
            <a:prstGeom prst="rect">
              <a:avLst/>
            </a:prstGeom>
          </p:spPr>
        </p:pic>
        <p:pic>
          <p:nvPicPr>
            <p:cNvPr id="22" name="Image 1" descr="preencoded.png">
              <a:extLst>
                <a:ext uri="{FF2B5EF4-FFF2-40B4-BE49-F238E27FC236}">
                  <a16:creationId xmlns:a16="http://schemas.microsoft.com/office/drawing/2014/main" id="{5345CDF9-756A-44CD-9F8A-B139D1246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94711" y="5681470"/>
              <a:ext cx="164401" cy="164405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581936F2-2233-4F9D-8999-0ADEC56BCD64}"/>
                </a:ext>
              </a:extLst>
            </p:cNvPr>
            <p:cNvSpPr/>
            <p:nvPr/>
          </p:nvSpPr>
          <p:spPr>
            <a:xfrm>
              <a:off x="3394205" y="6024965"/>
              <a:ext cx="2028278" cy="1903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Fidelity — Реалистичность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B020AD50-9866-4502-B949-1355A12D2B16}"/>
                </a:ext>
              </a:extLst>
            </p:cNvPr>
            <p:cNvSpPr/>
            <p:nvPr/>
          </p:nvSpPr>
          <p:spPr>
            <a:xfrm>
              <a:off x="3394205" y="6262296"/>
              <a:ext cx="4387343" cy="1602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Насколько синтетические данные похожи на реальные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691975EA-57E7-4404-9EE9-C33CBA43B7A0}"/>
                </a:ext>
              </a:extLst>
            </p:cNvPr>
            <p:cNvSpPr/>
            <p:nvPr/>
          </p:nvSpPr>
          <p:spPr>
            <a:xfrm>
              <a:off x="7981767" y="5459319"/>
              <a:ext cx="4630820" cy="1084957"/>
            </a:xfrm>
            <a:prstGeom prst="roundRect">
              <a:avLst>
                <a:gd name="adj" fmla="val 1684"/>
              </a:avLst>
            </a:prstGeom>
            <a:solidFill>
              <a:srgbClr val="E9ECF2"/>
            </a:solidFill>
            <a:ln/>
          </p:spPr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06D117D9-BD0E-4B46-A667-D67A404F6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03505" y="5581060"/>
              <a:ext cx="365414" cy="365423"/>
            </a:xfrm>
            <a:prstGeom prst="rect">
              <a:avLst/>
            </a:prstGeom>
          </p:spPr>
        </p:pic>
        <p:pic>
          <p:nvPicPr>
            <p:cNvPr id="29" name="Image 3" descr="preencoded.png">
              <a:extLst>
                <a:ext uri="{FF2B5EF4-FFF2-40B4-BE49-F238E27FC236}">
                  <a16:creationId xmlns:a16="http://schemas.microsoft.com/office/drawing/2014/main" id="{D096C905-CC82-476C-8903-65CF9A09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04011" y="5681470"/>
              <a:ext cx="164401" cy="164405"/>
            </a:xfrm>
            <a:prstGeom prst="rect">
              <a:avLst/>
            </a:prstGeom>
          </p:spPr>
        </p:pic>
        <p:sp>
          <p:nvSpPr>
            <p:cNvPr id="30" name="Text 6">
              <a:extLst>
                <a:ext uri="{FF2B5EF4-FFF2-40B4-BE49-F238E27FC236}">
                  <a16:creationId xmlns:a16="http://schemas.microsoft.com/office/drawing/2014/main" id="{7D5A1591-F515-45DA-9258-9E57255CBE80}"/>
                </a:ext>
              </a:extLst>
            </p:cNvPr>
            <p:cNvSpPr/>
            <p:nvPr/>
          </p:nvSpPr>
          <p:spPr>
            <a:xfrm>
              <a:off x="8103505" y="6024965"/>
              <a:ext cx="1898900" cy="1903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Diversity — Разнообразие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8684D792-BC16-4437-A923-A5C63CD4971E}"/>
                </a:ext>
              </a:extLst>
            </p:cNvPr>
            <p:cNvSpPr/>
            <p:nvPr/>
          </p:nvSpPr>
          <p:spPr>
            <a:xfrm>
              <a:off x="8103505" y="6262296"/>
              <a:ext cx="4387343" cy="1602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Отражают ли данные различные клинические случаи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5CBB8B61-7077-412A-BF35-CB5999022AB5}"/>
                </a:ext>
              </a:extLst>
            </p:cNvPr>
            <p:cNvSpPr/>
            <p:nvPr/>
          </p:nvSpPr>
          <p:spPr>
            <a:xfrm>
              <a:off x="3272467" y="6622758"/>
              <a:ext cx="4630820" cy="1084957"/>
            </a:xfrm>
            <a:prstGeom prst="roundRect">
              <a:avLst>
                <a:gd name="adj" fmla="val 1684"/>
              </a:avLst>
            </a:prstGeom>
            <a:solidFill>
              <a:srgbClr val="E9ECF2"/>
            </a:solidFill>
            <a:ln/>
          </p:spPr>
        </p:sp>
        <p:pic>
          <p:nvPicPr>
            <p:cNvPr id="33" name="Image 4" descr="preencoded.png">
              <a:extLst>
                <a:ext uri="{FF2B5EF4-FFF2-40B4-BE49-F238E27FC236}">
                  <a16:creationId xmlns:a16="http://schemas.microsoft.com/office/drawing/2014/main" id="{01136C84-EDA5-4810-B453-BA3D01EF2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94205" y="6744499"/>
              <a:ext cx="365414" cy="365423"/>
            </a:xfrm>
            <a:prstGeom prst="rect">
              <a:avLst/>
            </a:prstGeom>
          </p:spPr>
        </p:pic>
        <p:pic>
          <p:nvPicPr>
            <p:cNvPr id="34" name="Image 5" descr="preencoded.png">
              <a:extLst>
                <a:ext uri="{FF2B5EF4-FFF2-40B4-BE49-F238E27FC236}">
                  <a16:creationId xmlns:a16="http://schemas.microsoft.com/office/drawing/2014/main" id="{07898BB7-6CC1-48DD-B4D8-4F71AD2F0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94711" y="6844909"/>
              <a:ext cx="164401" cy="164405"/>
            </a:xfrm>
            <a:prstGeom prst="rect">
              <a:avLst/>
            </a:prstGeom>
          </p:spPr>
        </p:pic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EF9B8248-F87D-4F2E-8105-9AB6C0B553CA}"/>
                </a:ext>
              </a:extLst>
            </p:cNvPr>
            <p:cNvSpPr/>
            <p:nvPr/>
          </p:nvSpPr>
          <p:spPr>
            <a:xfrm>
              <a:off x="3394205" y="7188404"/>
              <a:ext cx="2696202" cy="1903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Utility — Практическая полезность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0DC57591-2A5D-496A-95D7-4B7D1D2B043E}"/>
                </a:ext>
              </a:extLst>
            </p:cNvPr>
            <p:cNvSpPr/>
            <p:nvPr/>
          </p:nvSpPr>
          <p:spPr>
            <a:xfrm>
              <a:off x="3394205" y="7425735"/>
              <a:ext cx="4387343" cy="1602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Улучшают ли они качество ИИ-модели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Shape 11">
              <a:extLst>
                <a:ext uri="{FF2B5EF4-FFF2-40B4-BE49-F238E27FC236}">
                  <a16:creationId xmlns:a16="http://schemas.microsoft.com/office/drawing/2014/main" id="{910DB0DA-D7D1-4958-95BE-DD3805A86219}"/>
                </a:ext>
              </a:extLst>
            </p:cNvPr>
            <p:cNvSpPr/>
            <p:nvPr/>
          </p:nvSpPr>
          <p:spPr>
            <a:xfrm>
              <a:off x="7981767" y="6622758"/>
              <a:ext cx="4630820" cy="1084957"/>
            </a:xfrm>
            <a:prstGeom prst="roundRect">
              <a:avLst>
                <a:gd name="adj" fmla="val 1684"/>
              </a:avLst>
            </a:prstGeom>
            <a:solidFill>
              <a:srgbClr val="E9ECF2"/>
            </a:solidFill>
            <a:ln/>
          </p:spPr>
        </p:sp>
        <p:pic>
          <p:nvPicPr>
            <p:cNvPr id="39" name="Image 6" descr="preencoded.png">
              <a:extLst>
                <a:ext uri="{FF2B5EF4-FFF2-40B4-BE49-F238E27FC236}">
                  <a16:creationId xmlns:a16="http://schemas.microsoft.com/office/drawing/2014/main" id="{37DE16EE-B3EF-4B54-9EA7-812E162FC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103505" y="6744499"/>
              <a:ext cx="365414" cy="365423"/>
            </a:xfrm>
            <a:prstGeom prst="rect">
              <a:avLst/>
            </a:prstGeom>
          </p:spPr>
        </p:pic>
        <p:pic>
          <p:nvPicPr>
            <p:cNvPr id="40" name="Image 7" descr="preencoded.png">
              <a:extLst>
                <a:ext uri="{FF2B5EF4-FFF2-40B4-BE49-F238E27FC236}">
                  <a16:creationId xmlns:a16="http://schemas.microsoft.com/office/drawing/2014/main" id="{C0EA5D7F-AF2A-41F3-95C8-9ACF420C2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204011" y="6844909"/>
              <a:ext cx="164401" cy="164405"/>
            </a:xfrm>
            <a:prstGeom prst="rect">
              <a:avLst/>
            </a:prstGeom>
          </p:spPr>
        </p:pic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2E68A304-C90C-41D4-BCAD-FECBB7DD2BD1}"/>
                </a:ext>
              </a:extLst>
            </p:cNvPr>
            <p:cNvSpPr/>
            <p:nvPr/>
          </p:nvSpPr>
          <p:spPr>
            <a:xfrm>
              <a:off x="8103505" y="7188404"/>
              <a:ext cx="2453817" cy="1903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Privacy — Конфиденциальность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080E2AAD-E928-48AD-83C1-CCF1AB60B348}"/>
                </a:ext>
              </a:extLst>
            </p:cNvPr>
            <p:cNvSpPr/>
            <p:nvPr/>
          </p:nvSpPr>
          <p:spPr>
            <a:xfrm>
              <a:off x="8103505" y="7425735"/>
              <a:ext cx="4387343" cy="1602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ru-RU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Данные не позволяют идентифицировать конкретного пациента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4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6899332" y="828787"/>
            <a:ext cx="489132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1: Педиатрическая КТ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4DF922E-3C59-4371-92B5-EFF981273437}"/>
              </a:ext>
            </a:extLst>
          </p:cNvPr>
          <p:cNvGrpSpPr/>
          <p:nvPr/>
        </p:nvGrpSpPr>
        <p:grpSpPr>
          <a:xfrm>
            <a:off x="9344993" y="3790556"/>
            <a:ext cx="13802548" cy="7853083"/>
            <a:chOff x="9240475" y="5912294"/>
            <a:chExt cx="6401831" cy="4600575"/>
          </a:xfrm>
        </p:grpSpPr>
        <p:pic>
          <p:nvPicPr>
            <p:cNvPr id="42" name="Image 1" descr="preencoded.png">
              <a:extLst>
                <a:ext uri="{FF2B5EF4-FFF2-40B4-BE49-F238E27FC236}">
                  <a16:creationId xmlns:a16="http://schemas.microsoft.com/office/drawing/2014/main" id="{3BBA61FF-019D-4E36-BDAB-4E772A4E0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40475" y="5912294"/>
              <a:ext cx="6401830" cy="1046063"/>
            </a:xfrm>
            <a:prstGeom prst="rect">
              <a:avLst/>
            </a:prstGeom>
          </p:spPr>
        </p:pic>
        <p:sp>
          <p:nvSpPr>
            <p:cNvPr id="44" name="Text 1">
              <a:extLst>
                <a:ext uri="{FF2B5EF4-FFF2-40B4-BE49-F238E27FC236}">
                  <a16:creationId xmlns:a16="http://schemas.microsoft.com/office/drawing/2014/main" id="{2D8A832A-D274-4767-8F75-48E9C7628AC4}"/>
                </a:ext>
              </a:extLst>
            </p:cNvPr>
            <p:cNvSpPr/>
            <p:nvPr/>
          </p:nvSpPr>
          <p:spPr>
            <a:xfrm>
              <a:off x="9477404" y="6073028"/>
              <a:ext cx="1772003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Проблема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 2">
              <a:extLst>
                <a:ext uri="{FF2B5EF4-FFF2-40B4-BE49-F238E27FC236}">
                  <a16:creationId xmlns:a16="http://schemas.microsoft.com/office/drawing/2014/main" id="{FCDCB8EB-5F24-48DE-AB7E-244C4A23C496}"/>
                </a:ext>
              </a:extLst>
            </p:cNvPr>
            <p:cNvSpPr/>
            <p:nvPr/>
          </p:nvSpPr>
          <p:spPr>
            <a:xfrm>
              <a:off x="9477404" y="6400748"/>
              <a:ext cx="6004172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Сбор больших наборов детских КТ-исследований затруднён из-за этических ограничений и малого числа пациентов.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7" name="Image 2" descr="preencoded.png">
              <a:extLst>
                <a:ext uri="{FF2B5EF4-FFF2-40B4-BE49-F238E27FC236}">
                  <a16:creationId xmlns:a16="http://schemas.microsoft.com/office/drawing/2014/main" id="{567DD27F-15FE-47B0-A4FB-C60166025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40475" y="7064620"/>
              <a:ext cx="6401830" cy="1046063"/>
            </a:xfrm>
            <a:prstGeom prst="rect">
              <a:avLst/>
            </a:prstGeom>
          </p:spPr>
        </p:pic>
        <p:sp>
          <p:nvSpPr>
            <p:cNvPr id="48" name="Text 3">
              <a:extLst>
                <a:ext uri="{FF2B5EF4-FFF2-40B4-BE49-F238E27FC236}">
                  <a16:creationId xmlns:a16="http://schemas.microsoft.com/office/drawing/2014/main" id="{79892166-5BEF-40E0-A104-5AF9EBF2B8C5}"/>
                </a:ext>
              </a:extLst>
            </p:cNvPr>
            <p:cNvSpPr/>
            <p:nvPr/>
          </p:nvSpPr>
          <p:spPr>
            <a:xfrm>
              <a:off x="9477404" y="7225355"/>
              <a:ext cx="1772003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Решение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4">
              <a:extLst>
                <a:ext uri="{FF2B5EF4-FFF2-40B4-BE49-F238E27FC236}">
                  <a16:creationId xmlns:a16="http://schemas.microsoft.com/office/drawing/2014/main" id="{669849CF-5F86-410C-A1DD-9B902D2189F9}"/>
                </a:ext>
              </a:extLst>
            </p:cNvPr>
            <p:cNvSpPr/>
            <p:nvPr/>
          </p:nvSpPr>
          <p:spPr>
            <a:xfrm>
              <a:off x="9477404" y="7553074"/>
              <a:ext cx="6004172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Исследователи использовали синтетические КТ-изображения, созданные с помощью генеративных моделей, для расширения обучающих выборок.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Image 3" descr="preencoded.png">
              <a:extLst>
                <a:ext uri="{FF2B5EF4-FFF2-40B4-BE49-F238E27FC236}">
                  <a16:creationId xmlns:a16="http://schemas.microsoft.com/office/drawing/2014/main" id="{86014BA1-4E06-46C9-A2BF-5019C1F23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40475" y="8216947"/>
              <a:ext cx="6401830" cy="1517352"/>
            </a:xfrm>
            <a:prstGeom prst="rect">
              <a:avLst/>
            </a:prstGeom>
          </p:spPr>
        </p:pic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EA48D554-BB21-46B9-BF9F-21A65A7B5B53}"/>
                </a:ext>
              </a:extLst>
            </p:cNvPr>
            <p:cNvSpPr/>
            <p:nvPr/>
          </p:nvSpPr>
          <p:spPr>
            <a:xfrm>
              <a:off x="9477404" y="8377681"/>
              <a:ext cx="1772003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Результаты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EDFA05BC-A8CA-48A6-BE9C-1F74A4F27001}"/>
                </a:ext>
              </a:extLst>
            </p:cNvPr>
            <p:cNvSpPr/>
            <p:nvPr/>
          </p:nvSpPr>
          <p:spPr>
            <a:xfrm>
              <a:off x="9477404" y="8705401"/>
              <a:ext cx="6004172" cy="86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342900" indent="-342900" algn="l">
                <a:lnSpc>
                  <a:spcPct val="117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Увеличение разнообразия данных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7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Снижение эффекта переобучения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17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Улучшение качества сегментации органов и патологий по сравнению с обучением только на малых реальных выборках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Shape 7">
              <a:extLst>
                <a:ext uri="{FF2B5EF4-FFF2-40B4-BE49-F238E27FC236}">
                  <a16:creationId xmlns:a16="http://schemas.microsoft.com/office/drawing/2014/main" id="{20E8DC7A-C413-4425-941F-16D80DB51718}"/>
                </a:ext>
              </a:extLst>
            </p:cNvPr>
            <p:cNvSpPr/>
            <p:nvPr/>
          </p:nvSpPr>
          <p:spPr>
            <a:xfrm>
              <a:off x="9259525" y="9853858"/>
              <a:ext cx="6382781" cy="659011"/>
            </a:xfrm>
            <a:prstGeom prst="roundRect">
              <a:avLst>
                <a:gd name="adj" fmla="val 3227"/>
              </a:avLst>
            </a:prstGeom>
            <a:solidFill>
              <a:srgbClr val="B6FCB8"/>
            </a:solidFill>
            <a:ln/>
          </p:spPr>
        </p:sp>
        <p:pic>
          <p:nvPicPr>
            <p:cNvPr id="54" name="Image 4" descr="preencoded.png">
              <a:extLst>
                <a:ext uri="{FF2B5EF4-FFF2-40B4-BE49-F238E27FC236}">
                  <a16:creationId xmlns:a16="http://schemas.microsoft.com/office/drawing/2014/main" id="{7547052F-8B46-4376-B56B-FDAA5085F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01206" y="10112521"/>
              <a:ext cx="177200" cy="141684"/>
            </a:xfrm>
            <a:prstGeom prst="rect">
              <a:avLst/>
            </a:prstGeom>
          </p:spPr>
        </p:pic>
        <p:sp>
          <p:nvSpPr>
            <p:cNvPr id="55" name="Text 8">
              <a:extLst>
                <a:ext uri="{FF2B5EF4-FFF2-40B4-BE49-F238E27FC236}">
                  <a16:creationId xmlns:a16="http://schemas.microsoft.com/office/drawing/2014/main" id="{C1AF9332-A7FB-4425-9307-FE8063CD4E69}"/>
                </a:ext>
              </a:extLst>
            </p:cNvPr>
            <p:cNvSpPr/>
            <p:nvPr/>
          </p:nvSpPr>
          <p:spPr>
            <a:xfrm>
              <a:off x="9720087" y="10052990"/>
              <a:ext cx="5780538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Вывод: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Синтетические данные </a:t>
              </a:r>
              <a:r>
                <a:rPr lang="en-US" sz="2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оказались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ru-RU" sz="20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полезным дополнением к реальным клиническим данным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99EBF2-F870-4934-B354-2DB2CE57EB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1928" y="3496689"/>
            <a:ext cx="6668247" cy="844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75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6899332" y="828787"/>
            <a:ext cx="489132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2: Дерматология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351A383-6F5A-4A12-A6E2-6BC36DB6B423}"/>
              </a:ext>
            </a:extLst>
          </p:cNvPr>
          <p:cNvGrpSpPr/>
          <p:nvPr/>
        </p:nvGrpSpPr>
        <p:grpSpPr>
          <a:xfrm>
            <a:off x="2988850" y="3498914"/>
            <a:ext cx="18406299" cy="3204011"/>
            <a:chOff x="3061981" y="8143783"/>
            <a:chExt cx="18406299" cy="3204011"/>
          </a:xfrm>
        </p:grpSpPr>
        <p:pic>
          <p:nvPicPr>
            <p:cNvPr id="25" name="Image 2" descr="preencoded.png">
              <a:extLst>
                <a:ext uri="{FF2B5EF4-FFF2-40B4-BE49-F238E27FC236}">
                  <a16:creationId xmlns:a16="http://schemas.microsoft.com/office/drawing/2014/main" id="{6A706ED0-DC79-4FA1-981F-D5336434D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1981" y="8143783"/>
              <a:ext cx="6003035" cy="3204011"/>
            </a:xfrm>
            <a:prstGeom prst="rect">
              <a:avLst/>
            </a:prstGeom>
          </p:spPr>
        </p:pic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F10B7943-A435-453B-A40F-F26F0C5C1934}"/>
                </a:ext>
              </a:extLst>
            </p:cNvPr>
            <p:cNvSpPr/>
            <p:nvPr/>
          </p:nvSpPr>
          <p:spPr>
            <a:xfrm>
              <a:off x="3494566" y="8474917"/>
              <a:ext cx="3395105" cy="462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Проблема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2118221D-9307-42E6-8F74-BEC70B5EF09D}"/>
                </a:ext>
              </a:extLst>
            </p:cNvPr>
            <p:cNvSpPr/>
            <p:nvPr/>
          </p:nvSpPr>
          <p:spPr>
            <a:xfrm>
              <a:off x="3494566" y="9088365"/>
              <a:ext cx="5266683" cy="13142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Для многих типов кожных заболеваний доступно ограниченное число изображений.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Image 3" descr="preencoded.png">
              <a:extLst>
                <a:ext uri="{FF2B5EF4-FFF2-40B4-BE49-F238E27FC236}">
                  <a16:creationId xmlns:a16="http://schemas.microsoft.com/office/drawing/2014/main" id="{0B62D92A-71BF-47EF-B819-19BEC56FE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63613" y="8143783"/>
              <a:ext cx="6003035" cy="3204011"/>
            </a:xfrm>
            <a:prstGeom prst="rect">
              <a:avLst/>
            </a:prstGeom>
          </p:spPr>
        </p:pic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124AE631-4C5F-42F6-8A90-9877550363FC}"/>
                </a:ext>
              </a:extLst>
            </p:cNvPr>
            <p:cNvSpPr/>
            <p:nvPr/>
          </p:nvSpPr>
          <p:spPr>
            <a:xfrm>
              <a:off x="9696198" y="8474917"/>
              <a:ext cx="3395105" cy="462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Решение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2AD87A1D-38D8-4035-9FA2-236844AECC61}"/>
                </a:ext>
              </a:extLst>
            </p:cNvPr>
            <p:cNvSpPr/>
            <p:nvPr/>
          </p:nvSpPr>
          <p:spPr>
            <a:xfrm>
              <a:off x="9696198" y="9088365"/>
              <a:ext cx="5266683" cy="17523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GAN и диффузионные модели использовались для генерации изображений меланомы, невусов и других поражений кожи.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1545C5F4-423A-4A8B-9CAC-30E70EAD3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465245" y="8143783"/>
              <a:ext cx="6003035" cy="3204011"/>
            </a:xfrm>
            <a:prstGeom prst="rect">
              <a:avLst/>
            </a:prstGeom>
          </p:spPr>
        </p:pic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45A8FF11-1ADD-43C0-8E2E-335E865F22AC}"/>
                </a:ext>
              </a:extLst>
            </p:cNvPr>
            <p:cNvSpPr/>
            <p:nvPr/>
          </p:nvSpPr>
          <p:spPr>
            <a:xfrm>
              <a:off x="15897830" y="8474917"/>
              <a:ext cx="3395105" cy="4626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Результаты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C9FE2C18-B548-4763-88AC-476883FB1B02}"/>
                </a:ext>
              </a:extLst>
            </p:cNvPr>
            <p:cNvSpPr/>
            <p:nvPr/>
          </p:nvSpPr>
          <p:spPr>
            <a:xfrm>
              <a:off x="15897830" y="9088365"/>
              <a:ext cx="5266683" cy="19282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342900" indent="-342900" algn="l">
                <a:lnSpc>
                  <a:spcPct val="123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Увеличение размера датасетов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3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Улучшение точности классификации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algn="l">
                <a:lnSpc>
                  <a:spcPct val="123000"/>
                </a:lnSpc>
                <a:buSzPct val="100000"/>
                <a:buChar char="•"/>
              </a:pPr>
              <a:r>
                <a:rPr lang="en-US" sz="20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Повышение устойчивости моделей к редким вариантам заболеваний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8486E05-DF94-4AA4-807E-2CF9851F40B0}"/>
              </a:ext>
            </a:extLst>
          </p:cNvPr>
          <p:cNvGrpSpPr/>
          <p:nvPr/>
        </p:nvGrpSpPr>
        <p:grpSpPr>
          <a:xfrm>
            <a:off x="3664227" y="7647507"/>
            <a:ext cx="17201807" cy="4562375"/>
            <a:chOff x="3094185" y="3189752"/>
            <a:chExt cx="17201807" cy="4562375"/>
          </a:xfrm>
        </p:grpSpPr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A0E49AEA-E16A-4344-A441-256D9384300D}"/>
                </a:ext>
              </a:extLst>
            </p:cNvPr>
            <p:cNvSpPr/>
            <p:nvPr/>
          </p:nvSpPr>
          <p:spPr>
            <a:xfrm>
              <a:off x="3094185" y="4156459"/>
              <a:ext cx="10191508" cy="876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24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Однако исследования показывают, что полностью заменить реальные клинические изображения синтетические данные пока не могут.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8991EFF6-9649-47BE-95DE-B961C17A41F5}"/>
                </a:ext>
              </a:extLst>
            </p:cNvPr>
            <p:cNvSpPr/>
            <p:nvPr/>
          </p:nvSpPr>
          <p:spPr>
            <a:xfrm>
              <a:off x="3094185" y="5315701"/>
              <a:ext cx="9997118" cy="1476666"/>
            </a:xfrm>
            <a:prstGeom prst="roundRect">
              <a:avLst>
                <a:gd name="adj" fmla="val 3008"/>
              </a:avLst>
            </a:prstGeom>
            <a:solidFill>
              <a:srgbClr val="B6D6FC"/>
            </a:solidFill>
            <a:ln/>
          </p:spPr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B963FEC6-30BE-4ACF-9DF6-4A022A364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20131" y="5773576"/>
              <a:ext cx="467132" cy="407323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3F081981-5649-4C1B-A04C-047A3320D540}"/>
                </a:ext>
              </a:extLst>
            </p:cNvPr>
            <p:cNvSpPr/>
            <p:nvPr/>
          </p:nvSpPr>
          <p:spPr>
            <a:xfrm>
              <a:off x="3976802" y="5615936"/>
              <a:ext cx="8924962" cy="876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Вывод:</a:t>
              </a:r>
              <a:r>
                <a: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Наилучшие результаты достигаются при совместном использовании реальных и синтетических данных.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FF826375-3A11-4FD9-A9B2-EB45F595B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664186" y="3189752"/>
              <a:ext cx="6631806" cy="4562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5211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6899332" y="828787"/>
            <a:ext cx="489132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1F4FCA5-0FCE-4CF4-B99B-C2998D3C43D3}"/>
              </a:ext>
            </a:extLst>
          </p:cNvPr>
          <p:cNvGrpSpPr/>
          <p:nvPr/>
        </p:nvGrpSpPr>
        <p:grpSpPr>
          <a:xfrm>
            <a:off x="2380569" y="3818568"/>
            <a:ext cx="19622861" cy="7837725"/>
            <a:chOff x="3028257" y="6275909"/>
            <a:chExt cx="5811692" cy="4715695"/>
          </a:xfrm>
        </p:grpSpPr>
        <p:sp>
          <p:nvSpPr>
            <p:cNvPr id="34" name="Text 1">
              <a:extLst>
                <a:ext uri="{FF2B5EF4-FFF2-40B4-BE49-F238E27FC236}">
                  <a16:creationId xmlns:a16="http://schemas.microsoft.com/office/drawing/2014/main" id="{321C2BE7-209C-4051-B9BA-EE0FF6469298}"/>
                </a:ext>
              </a:extLst>
            </p:cNvPr>
            <p:cNvSpPr/>
            <p:nvPr/>
          </p:nvSpPr>
          <p:spPr>
            <a:xfrm>
              <a:off x="3028257" y="6275909"/>
              <a:ext cx="2499754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3600" dirty="0">
                  <a:solidFill>
                    <a:srgbClr val="3257B8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Основные выводы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D93C06C2-6F58-4EA2-A013-EFAA6383A1CD}"/>
                </a:ext>
              </a:extLst>
            </p:cNvPr>
            <p:cNvSpPr/>
            <p:nvPr/>
          </p:nvSpPr>
          <p:spPr>
            <a:xfrm>
              <a:off x="3028257" y="6810229"/>
              <a:ext cx="340213" cy="340221"/>
            </a:xfrm>
            <a:prstGeom prst="roundRect">
              <a:avLst>
                <a:gd name="adj" fmla="val 6667"/>
              </a:avLst>
            </a:prstGeom>
            <a:solidFill>
              <a:srgbClr val="E9ECF2"/>
            </a:solidFill>
            <a:ln/>
          </p:spPr>
        </p:sp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1B66D92C-6546-439E-91AE-69F23E43CD7D}"/>
                </a:ext>
              </a:extLst>
            </p:cNvPr>
            <p:cNvSpPr/>
            <p:nvPr/>
          </p:nvSpPr>
          <p:spPr>
            <a:xfrm>
              <a:off x="3084910" y="6838556"/>
              <a:ext cx="226808" cy="283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1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9BE33E3B-0054-46EC-8BF8-203B46E7291B}"/>
                </a:ext>
              </a:extLst>
            </p:cNvPr>
            <p:cNvSpPr/>
            <p:nvPr/>
          </p:nvSpPr>
          <p:spPr>
            <a:xfrm>
              <a:off x="3489414" y="6859342"/>
              <a:ext cx="5350535" cy="435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Реальные медицинские датасеты имеют существенные ограничения по объёму, доступности и репрезентативности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Shape 5">
              <a:extLst>
                <a:ext uri="{FF2B5EF4-FFF2-40B4-BE49-F238E27FC236}">
                  <a16:creationId xmlns:a16="http://schemas.microsoft.com/office/drawing/2014/main" id="{B98BA3DE-4778-4C34-A6E1-7B14EAFDB46C}"/>
                </a:ext>
              </a:extLst>
            </p:cNvPr>
            <p:cNvSpPr/>
            <p:nvPr/>
          </p:nvSpPr>
          <p:spPr>
            <a:xfrm>
              <a:off x="3028257" y="7536610"/>
              <a:ext cx="340213" cy="340221"/>
            </a:xfrm>
            <a:prstGeom prst="roundRect">
              <a:avLst>
                <a:gd name="adj" fmla="val 6667"/>
              </a:avLst>
            </a:prstGeom>
            <a:solidFill>
              <a:srgbClr val="E9ECF2"/>
            </a:solidFill>
            <a:ln/>
          </p:spPr>
        </p:sp>
        <p:sp>
          <p:nvSpPr>
            <p:cNvPr id="39" name="Text 6">
              <a:extLst>
                <a:ext uri="{FF2B5EF4-FFF2-40B4-BE49-F238E27FC236}">
                  <a16:creationId xmlns:a16="http://schemas.microsoft.com/office/drawing/2014/main" id="{C823731E-CA9F-4392-9E8F-052947E0EDD0}"/>
                </a:ext>
              </a:extLst>
            </p:cNvPr>
            <p:cNvSpPr/>
            <p:nvPr/>
          </p:nvSpPr>
          <p:spPr>
            <a:xfrm>
              <a:off x="3084910" y="7564936"/>
              <a:ext cx="226808" cy="283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2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DA98C708-E364-4ECE-8CED-D01E9440B9C0}"/>
                </a:ext>
              </a:extLst>
            </p:cNvPr>
            <p:cNvSpPr/>
            <p:nvPr/>
          </p:nvSpPr>
          <p:spPr>
            <a:xfrm>
              <a:off x="3489414" y="7410057"/>
              <a:ext cx="5350535" cy="435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ru-RU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GAN и </a:t>
              </a:r>
              <a:r>
                <a:rPr lang="ru-RU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Diffusion</a:t>
              </a:r>
              <a:r>
                <a:rPr lang="ru-RU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Models</a:t>
              </a:r>
              <a:r>
                <a:rPr lang="ru-RU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(общие методы), а также специализированные платформы VICTRE и M-SYNTH</a:t>
              </a: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позволяют</a:t>
              </a: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генерировать</a:t>
              </a: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реалистичные</a:t>
              </a: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медицинские</a:t>
              </a: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данные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A8AD5334-E8C0-45B0-8010-133B5AC6941B}"/>
                </a:ext>
              </a:extLst>
            </p:cNvPr>
            <p:cNvSpPr/>
            <p:nvPr/>
          </p:nvSpPr>
          <p:spPr>
            <a:xfrm>
              <a:off x="3028257" y="8262990"/>
              <a:ext cx="340213" cy="340221"/>
            </a:xfrm>
            <a:prstGeom prst="roundRect">
              <a:avLst>
                <a:gd name="adj" fmla="val 6667"/>
              </a:avLst>
            </a:prstGeom>
            <a:solidFill>
              <a:srgbClr val="E9ECF2"/>
            </a:solidFill>
            <a:ln/>
          </p:spPr>
        </p:sp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2CBAE2A7-FA1D-4717-8748-137D3EC265D4}"/>
                </a:ext>
              </a:extLst>
            </p:cNvPr>
            <p:cNvSpPr/>
            <p:nvPr/>
          </p:nvSpPr>
          <p:spPr>
            <a:xfrm>
              <a:off x="3084910" y="8291317"/>
              <a:ext cx="226808" cy="283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3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49217FF9-349C-4217-B21E-EBC2AC628B0F}"/>
                </a:ext>
              </a:extLst>
            </p:cNvPr>
            <p:cNvSpPr/>
            <p:nvPr/>
          </p:nvSpPr>
          <p:spPr>
            <a:xfrm>
              <a:off x="3489414" y="8167840"/>
              <a:ext cx="5350535" cy="435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Качество синтетических данных оценивается по критериям реалистичности, разнообразия, полезности и конфиденциальности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16F5A9BF-9E3E-4212-8847-B248B9163B94}"/>
                </a:ext>
              </a:extLst>
            </p:cNvPr>
            <p:cNvSpPr/>
            <p:nvPr/>
          </p:nvSpPr>
          <p:spPr>
            <a:xfrm>
              <a:off x="3028257" y="8989370"/>
              <a:ext cx="340213" cy="340221"/>
            </a:xfrm>
            <a:prstGeom prst="roundRect">
              <a:avLst>
                <a:gd name="adj" fmla="val 6667"/>
              </a:avLst>
            </a:prstGeom>
            <a:solidFill>
              <a:srgbClr val="E9ECF2"/>
            </a:solidFill>
            <a:ln/>
          </p:spPr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1D01314C-3E24-4E25-88DC-A896FF5BF0D1}"/>
                </a:ext>
              </a:extLst>
            </p:cNvPr>
            <p:cNvSpPr/>
            <p:nvPr/>
          </p:nvSpPr>
          <p:spPr>
            <a:xfrm>
              <a:off x="3084910" y="9017697"/>
              <a:ext cx="226808" cy="283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 Slab" pitchFamily="34" charset="-122"/>
                  <a:cs typeface="Times New Roman" panose="02020603050405020304" pitchFamily="18" charset="0"/>
                </a:rPr>
                <a:t>4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9D9DE415-8FDA-47C1-8DEA-8C080EE6B504}"/>
                </a:ext>
              </a:extLst>
            </p:cNvPr>
            <p:cNvSpPr/>
            <p:nvPr/>
          </p:nvSpPr>
          <p:spPr>
            <a:xfrm>
              <a:off x="3489414" y="8862740"/>
              <a:ext cx="5350535" cy="6530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15213F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Анализ публикаций в области педиатрической КТ и дерматологии показывает улучшение качества ИИ-моделей при использовании синтетических данных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52E655DD-BC8F-494E-910F-25AB1E62FB21}"/>
                </a:ext>
              </a:extLst>
            </p:cNvPr>
            <p:cNvSpPr/>
            <p:nvPr/>
          </p:nvSpPr>
          <p:spPr>
            <a:xfrm>
              <a:off x="3028257" y="9827570"/>
              <a:ext cx="5811692" cy="1164034"/>
            </a:xfrm>
            <a:prstGeom prst="roundRect">
              <a:avLst>
                <a:gd name="adj" fmla="val 1949"/>
              </a:avLst>
            </a:prstGeom>
            <a:solidFill>
              <a:srgbClr val="C3CFEF"/>
            </a:solidFill>
            <a:ln/>
          </p:spPr>
        </p:sp>
        <p:pic>
          <p:nvPicPr>
            <p:cNvPr id="49" name="Image 0" descr="preencoded.png">
              <a:extLst>
                <a:ext uri="{FF2B5EF4-FFF2-40B4-BE49-F238E27FC236}">
                  <a16:creationId xmlns:a16="http://schemas.microsoft.com/office/drawing/2014/main" id="{4CBE199D-5D7A-407D-A88F-DFC8EBCCD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9463" y="10042974"/>
              <a:ext cx="189007" cy="151209"/>
            </a:xfrm>
            <a:prstGeom prst="rect">
              <a:avLst/>
            </a:prstGeom>
          </p:spPr>
        </p:pic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91B29232-D2B8-4053-93E6-010AB75DBD6C}"/>
                </a:ext>
              </a:extLst>
            </p:cNvPr>
            <p:cNvSpPr/>
            <p:nvPr/>
          </p:nvSpPr>
          <p:spPr>
            <a:xfrm>
              <a:off x="3519675" y="9974216"/>
              <a:ext cx="5169068" cy="870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Итог: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Гипотеза подтверждается частично. Синтетические данные эффективно </a:t>
              </a:r>
              <a:r>
                <a:rPr 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дополняют</a:t>
              </a: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oboto" pitchFamily="34" charset="-122"/>
                  <a:cs typeface="Times New Roman" panose="02020603050405020304" pitchFamily="18" charset="0"/>
                </a:rPr>
                <a:t> реальные медицинские датасеты и помогают преодолевать их ограничения, однако на современном этапе не способны полностью заменить реальные клинические данные.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32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;p5">
            <a:extLst>
              <a:ext uri="{FF2B5EF4-FFF2-40B4-BE49-F238E27FC236}">
                <a16:creationId xmlns:a16="http://schemas.microsoft.com/office/drawing/2014/main" id="{73A8C003-6C4A-459D-B260-D01439293AFD}"/>
              </a:ext>
            </a:extLst>
          </p:cNvPr>
          <p:cNvSpPr txBox="1">
            <a:spLocks/>
          </p:cNvSpPr>
          <p:nvPr/>
        </p:nvSpPr>
        <p:spPr>
          <a:xfrm>
            <a:off x="6899332" y="828787"/>
            <a:ext cx="489132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Литература</a:t>
            </a:r>
          </a:p>
        </p:txBody>
      </p:sp>
      <p:sp>
        <p:nvSpPr>
          <p:cNvPr id="13" name="Google Shape;48;p5">
            <a:extLst>
              <a:ext uri="{FF2B5EF4-FFF2-40B4-BE49-F238E27FC236}">
                <a16:creationId xmlns:a16="http://schemas.microsoft.com/office/drawing/2014/main" id="{67A1B81C-BC2B-440E-98BB-64B35199EDD8}"/>
              </a:ext>
            </a:extLst>
          </p:cNvPr>
          <p:cNvSpPr txBox="1">
            <a:spLocks/>
          </p:cNvSpPr>
          <p:nvPr/>
        </p:nvSpPr>
        <p:spPr>
          <a:xfrm>
            <a:off x="12265131" y="828788"/>
            <a:ext cx="11375699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синтетических данных для преодоления ограничений медицинских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разработке и оценке ИИ-моделей</a:t>
            </a:r>
          </a:p>
        </p:txBody>
      </p:sp>
      <p:sp>
        <p:nvSpPr>
          <p:cNvPr id="46" name="Google Shape;48;p5">
            <a:extLst>
              <a:ext uri="{FF2B5EF4-FFF2-40B4-BE49-F238E27FC236}">
                <a16:creationId xmlns:a16="http://schemas.microsoft.com/office/drawing/2014/main" id="{4720BA71-975A-4D9F-BC65-180759803A9A}"/>
              </a:ext>
            </a:extLst>
          </p:cNvPr>
          <p:cNvSpPr txBox="1">
            <a:spLocks/>
          </p:cNvSpPr>
          <p:nvPr/>
        </p:nvSpPr>
        <p:spPr>
          <a:xfrm>
            <a:off x="1950352" y="828788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ФГАОУ ВО Первый МГМУ им. И. М. Сеченова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35F5DDA-1347-4212-9320-D53906CE1BB6}"/>
              </a:ext>
            </a:extLst>
          </p:cNvPr>
          <p:cNvSpPr/>
          <p:nvPr/>
        </p:nvSpPr>
        <p:spPr>
          <a:xfrm>
            <a:off x="2455766" y="4177553"/>
            <a:ext cx="19618729" cy="851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Mahmood F. et al. Synthetic data in machine learning for medicine and healthcare. </a:t>
            </a:r>
            <a:r>
              <a:rPr lang="en-US" sz="2800" i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Nature Biomedical Engineering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2024.</a:t>
            </a:r>
            <a:endParaRPr lang="ru-RU" sz="2800" dirty="0">
              <a:solidFill>
                <a:srgbClr val="15213F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Goncalves A. et al. Generation and evaluation of synthetic patient data. </a:t>
            </a:r>
            <a:r>
              <a:rPr lang="en-US" sz="2800" i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BMC Medical Research Methodology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2020.</a:t>
            </a:r>
            <a:endParaRPr lang="ru-RU" sz="2800" dirty="0">
              <a:solidFill>
                <a:srgbClr val="15213F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Packhäuser K. et al. Generation of Medical Images using Diffusion Models. </a:t>
            </a:r>
            <a:r>
              <a:rPr lang="en-US" sz="2800" i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Journal of Imaging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2023.</a:t>
            </a:r>
            <a:endParaRPr lang="ru-RU" sz="2800" dirty="0">
              <a:solidFill>
                <a:srgbClr val="15213F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Badano A. et al. VICTRE: Virtual Imaging Clinical Trial for Regulatory Evaluation. </a:t>
            </a:r>
            <a:r>
              <a:rPr lang="en-US" sz="2800" i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Medical Physics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, 2018.</a:t>
            </a:r>
            <a:endParaRPr lang="ru-RU" sz="2800" dirty="0">
              <a:solidFill>
                <a:srgbClr val="15213F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4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Goodfellow I. et al. Generative Adversarial Networks, 2014.</a:t>
            </a:r>
            <a:endParaRPr lang="ru-RU" sz="2800" dirty="0">
              <a:solidFill>
                <a:srgbClr val="15213F"/>
              </a:solidFill>
              <a:latin typeface="Times New Roman" panose="02020603050405020304" pitchFamily="18" charset="0"/>
              <a:ea typeface="Roboto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5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buSzPct val="100000"/>
              <a:buFont typeface="+mj-lt"/>
              <a:buAutoNum type="arabicPeriod" startAt="6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Kazerouni A. et al. Diffusion Models in Medical Imaging: A Review, 2024.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589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1092</Words>
  <Application>Microsoft Office PowerPoint</Application>
  <PresentationFormat>Произвольный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 Neue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xz_xzeev</dc:creator>
  <cp:lastModifiedBy>Danil Vagapov</cp:lastModifiedBy>
  <cp:revision>33</cp:revision>
  <dcterms:modified xsi:type="dcterms:W3CDTF">2026-06-14T20:46:42Z</dcterms:modified>
</cp:coreProperties>
</file>