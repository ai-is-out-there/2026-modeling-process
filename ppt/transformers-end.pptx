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25400" rtl="0" fontAlgn="auto" latinLnBrk="0" hangingPunct="0">
      <a:lnSpc>
        <a:spcPct val="10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2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7" name="Shape 18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+mn-lt"/>
        <a:ea typeface="+mn-ea"/>
        <a:cs typeface="+mn-cs"/>
        <a:sym typeface="Calibri"/>
      </a:defRPr>
    </a:lvl1pPr>
    <a:lvl2pPr indent="228600" defTabSz="1828800" latinLnBrk="0">
      <a:defRPr sz="2400">
        <a:latin typeface="+mn-lt"/>
        <a:ea typeface="+mn-ea"/>
        <a:cs typeface="+mn-cs"/>
        <a:sym typeface="Calibri"/>
      </a:defRPr>
    </a:lvl2pPr>
    <a:lvl3pPr indent="457200" defTabSz="1828800" latinLnBrk="0">
      <a:defRPr sz="2400">
        <a:latin typeface="+mn-lt"/>
        <a:ea typeface="+mn-ea"/>
        <a:cs typeface="+mn-cs"/>
        <a:sym typeface="Calibri"/>
      </a:defRPr>
    </a:lvl3pPr>
    <a:lvl4pPr indent="685800" defTabSz="1828800" latinLnBrk="0">
      <a:defRPr sz="2400">
        <a:latin typeface="+mn-lt"/>
        <a:ea typeface="+mn-ea"/>
        <a:cs typeface="+mn-cs"/>
        <a:sym typeface="Calibri"/>
      </a:defRPr>
    </a:lvl4pPr>
    <a:lvl5pPr indent="914400" defTabSz="1828800" latinLnBrk="0">
      <a:defRPr sz="2400">
        <a:latin typeface="+mn-lt"/>
        <a:ea typeface="+mn-ea"/>
        <a:cs typeface="+mn-cs"/>
        <a:sym typeface="Calibri"/>
      </a:defRPr>
    </a:lvl5pPr>
    <a:lvl6pPr indent="1143000" defTabSz="1828800" latinLnBrk="0">
      <a:defRPr sz="2400">
        <a:latin typeface="+mn-lt"/>
        <a:ea typeface="+mn-ea"/>
        <a:cs typeface="+mn-cs"/>
        <a:sym typeface="Calibri"/>
      </a:defRPr>
    </a:lvl6pPr>
    <a:lvl7pPr indent="1371600" defTabSz="1828800" latinLnBrk="0">
      <a:defRPr sz="2400">
        <a:latin typeface="+mn-lt"/>
        <a:ea typeface="+mn-ea"/>
        <a:cs typeface="+mn-cs"/>
        <a:sym typeface="Calibri"/>
      </a:defRPr>
    </a:lvl7pPr>
    <a:lvl8pPr indent="1600200" defTabSz="1828800" latinLnBrk="0">
      <a:defRPr sz="2400">
        <a:latin typeface="+mn-lt"/>
        <a:ea typeface="+mn-ea"/>
        <a:cs typeface="+mn-cs"/>
        <a:sym typeface="Calibri"/>
      </a:defRPr>
    </a:lvl8pPr>
    <a:lvl9pPr indent="1828800" defTabSz="1828800" latinLnBrk="0">
      <a:defRPr sz="24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Обложка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Прямоугольник"/>
          <p:cNvSpPr/>
          <p:nvPr/>
        </p:nvSpPr>
        <p:spPr>
          <a:xfrm>
            <a:off x="994219" y="1105429"/>
            <a:ext cx="22395562" cy="1150514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91436" tIns="91436" rIns="91436" bIns="91436" anchor="ctr"/>
          <a:lstStyle/>
          <a:p>
            <a:pPr defTabSz="1828800">
              <a:spcBef>
                <a:spcPts val="0"/>
              </a:spcBef>
              <a:defRPr sz="3600"/>
            </a:pPr>
          </a:p>
        </p:txBody>
      </p:sp>
      <p:pic>
        <p:nvPicPr>
          <p:cNvPr id="22" name="сбор гум.помощи-05.png" descr="сбор гум.помощи-05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148083" y="1924343"/>
            <a:ext cx="1532266" cy="1773002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Straight Connector 48"/>
          <p:cNvSpPr/>
          <p:nvPr/>
        </p:nvSpPr>
        <p:spPr>
          <a:xfrm>
            <a:off x="12180423" y="1924343"/>
            <a:ext cx="5" cy="1680350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" name="Straight Connector 50"/>
          <p:cNvSpPr/>
          <p:nvPr/>
        </p:nvSpPr>
        <p:spPr>
          <a:xfrm>
            <a:off x="17285160" y="1924343"/>
            <a:ext cx="4" cy="1680350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" name="Straight Connector 51"/>
          <p:cNvSpPr/>
          <p:nvPr/>
        </p:nvSpPr>
        <p:spPr>
          <a:xfrm>
            <a:off x="22358092" y="1924343"/>
            <a:ext cx="4" cy="1680350"/>
          </a:xfrm>
          <a:prstGeom prst="line">
            <a:avLst/>
          </a:prstGeom>
          <a:ln w="25400"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6" name="Body Level One…"/>
          <p:cNvSpPr txBox="1"/>
          <p:nvPr>
            <p:ph type="body" sz="quarter" idx="1"/>
          </p:nvPr>
        </p:nvSpPr>
        <p:spPr>
          <a:xfrm>
            <a:off x="4261479" y="2224144"/>
            <a:ext cx="7162818" cy="140856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Название подразделения в две или три строки (12pt)"/>
          <p:cNvSpPr txBox="1"/>
          <p:nvPr>
            <p:ph type="body" sz="quarter" idx="21"/>
          </p:nvPr>
        </p:nvSpPr>
        <p:spPr>
          <a:xfrm>
            <a:off x="12479956" y="2224145"/>
            <a:ext cx="4505673" cy="108075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" name="Москва 2022 (12pt)"/>
          <p:cNvSpPr txBox="1"/>
          <p:nvPr>
            <p:ph type="body" sz="quarter" idx="22"/>
          </p:nvPr>
        </p:nvSpPr>
        <p:spPr>
          <a:xfrm>
            <a:off x="17592002" y="2224145"/>
            <a:ext cx="4505673" cy="108075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" name="Название презентации может быть набрано в две  или три строки (43 pt)"/>
          <p:cNvSpPr txBox="1"/>
          <p:nvPr>
            <p:ph type="body" sz="half" idx="23"/>
          </p:nvPr>
        </p:nvSpPr>
        <p:spPr>
          <a:xfrm>
            <a:off x="2029011" y="4568039"/>
            <a:ext cx="20325978" cy="396299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" name="Если нужно больше места,  то используйте подзаголовок (16 pt)"/>
          <p:cNvSpPr txBox="1"/>
          <p:nvPr>
            <p:ph type="body" sz="quarter" idx="24"/>
          </p:nvPr>
        </p:nvSpPr>
        <p:spPr>
          <a:xfrm>
            <a:off x="2029011" y="9494373"/>
            <a:ext cx="9995707" cy="1773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31" name="Изображение" descr="Изображение"/>
          <p:cNvPicPr>
            <a:picLocks noChangeAspect="1"/>
          </p:cNvPicPr>
          <p:nvPr/>
        </p:nvPicPr>
        <p:blipFill>
          <a:blip r:embed="rId5">
            <a:alphaModFix amt="27475"/>
            <a:extLst/>
          </a:blip>
          <a:stretch>
            <a:fillRect/>
          </a:stretch>
        </p:blipFill>
        <p:spPr>
          <a:xfrm>
            <a:off x="13288396" y="1662907"/>
            <a:ext cx="16546253" cy="17791536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екст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TextBox 44"/>
          <p:cNvSpPr txBox="1"/>
          <p:nvPr>
            <p:ph type="body" sz="quarter" idx="21"/>
          </p:nvPr>
        </p:nvSpPr>
        <p:spPr>
          <a:xfrm>
            <a:off x="1125837" y="4725596"/>
            <a:ext cx="9073420" cy="353568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4"/>
            <a:ext cx="24384000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6" tIns="91436" rIns="91436" bIns="91436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0" name="Body Level One…"/>
          <p:cNvSpPr txBox="1"/>
          <p:nvPr>
            <p:ph type="body" sz="quarter" idx="1"/>
          </p:nvPr>
        </p:nvSpPr>
        <p:spPr>
          <a:xfrm>
            <a:off x="1071387" y="4938019"/>
            <a:ext cx="9560767" cy="295148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TextBox 23"/>
          <p:cNvSpPr txBox="1"/>
          <p:nvPr>
            <p:ph type="body" sz="quarter" idx="21"/>
          </p:nvPr>
        </p:nvSpPr>
        <p:spPr>
          <a:xfrm>
            <a:off x="1071386" y="10647084"/>
            <a:ext cx="9560770" cy="792485"/>
          </a:xfrm>
          <a:prstGeom prst="rect">
            <a:avLst/>
          </a:prstGeom>
        </p:spPr>
        <p:txBody>
          <a:bodyPr/>
          <a:lstStyle/>
          <a:p>
            <a:pPr marL="384047" indent="-384047" defTabSz="1536191">
              <a:spcBef>
                <a:spcPts val="1600"/>
              </a:spcBef>
              <a:defRPr sz="4703"/>
            </a:pPr>
          </a:p>
        </p:txBody>
      </p:sp>
      <p:sp>
        <p:nvSpPr>
          <p:cNvPr id="52" name="TextBox 63"/>
          <p:cNvSpPr txBox="1"/>
          <p:nvPr>
            <p:ph type="body" sz="quarter" idx="22"/>
          </p:nvPr>
        </p:nvSpPr>
        <p:spPr>
          <a:xfrm>
            <a:off x="1071391" y="2793805"/>
            <a:ext cx="20083100" cy="158242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TextBox 22"/>
          <p:cNvSpPr txBox="1"/>
          <p:nvPr>
            <p:ph type="body" sz="quarter" idx="23"/>
          </p:nvPr>
        </p:nvSpPr>
        <p:spPr>
          <a:xfrm>
            <a:off x="12190716" y="4925943"/>
            <a:ext cx="10974725" cy="3886205"/>
          </a:xfrm>
          <a:prstGeom prst="rect">
            <a:avLst/>
          </a:prstGeom>
        </p:spPr>
        <p:txBody>
          <a:bodyPr lIns="101600" tIns="101600" rIns="101600" bIns="101600"/>
          <a:lstStyle/>
          <a:p>
            <a:pPr/>
          </a:p>
        </p:txBody>
      </p:sp>
      <p:sp>
        <p:nvSpPr>
          <p:cNvPr id="54" name="Straight Connector 19"/>
          <p:cNvSpPr/>
          <p:nvPr/>
        </p:nvSpPr>
        <p:spPr>
          <a:xfrm>
            <a:off x="6597370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" name="Straight Connector 21"/>
          <p:cNvSpPr/>
          <p:nvPr/>
        </p:nvSpPr>
        <p:spPr>
          <a:xfrm>
            <a:off x="12198829" y="928724"/>
            <a:ext cx="6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" name="Straight Connector 59"/>
          <p:cNvSpPr/>
          <p:nvPr/>
        </p:nvSpPr>
        <p:spPr>
          <a:xfrm>
            <a:off x="23287736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" name="TextBox 27"/>
          <p:cNvSpPr txBox="1"/>
          <p:nvPr/>
        </p:nvSpPr>
        <p:spPr>
          <a:xfrm>
            <a:off x="220707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ФГАОУ ВО Первый МГМУ им. И. М. Сеченова</a:t>
            </a:r>
          </a:p>
        </p:txBody>
      </p:sp>
      <p:sp>
        <p:nvSpPr>
          <p:cNvPr id="58" name="TextBox 30"/>
          <p:cNvSpPr txBox="1"/>
          <p:nvPr/>
        </p:nvSpPr>
        <p:spPr>
          <a:xfrm>
            <a:off x="682269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59" name="TextBox 31"/>
          <p:cNvSpPr txBox="1"/>
          <p:nvPr/>
        </p:nvSpPr>
        <p:spPr>
          <a:xfrm>
            <a:off x="12407675" y="994629"/>
            <a:ext cx="4510615" cy="48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Что такое трансформер?</a:t>
            </a:r>
          </a:p>
        </p:txBody>
      </p:sp>
      <p:pic>
        <p:nvPicPr>
          <p:cNvPr id="60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2" y="1094997"/>
            <a:ext cx="774824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4"/>
            <a:ext cx="24384000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69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6" tIns="91436" rIns="91436" bIns="91436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70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TextBox 14"/>
          <p:cNvSpPr txBox="1"/>
          <p:nvPr>
            <p:ph type="body" idx="21"/>
          </p:nvPr>
        </p:nvSpPr>
        <p:spPr>
          <a:xfrm>
            <a:off x="1125839" y="4725596"/>
            <a:ext cx="22132322" cy="6565318"/>
          </a:xfrm>
          <a:prstGeom prst="rect">
            <a:avLst/>
          </a:prstGeom>
        </p:spPr>
        <p:txBody>
          <a:bodyPr numCol="3" spcCol="15798"/>
          <a:lstStyle/>
          <a:p>
            <a:pPr/>
          </a:p>
        </p:txBody>
      </p:sp>
      <p:sp>
        <p:nvSpPr>
          <p:cNvPr id="72" name="Straight Connector 19"/>
          <p:cNvSpPr/>
          <p:nvPr/>
        </p:nvSpPr>
        <p:spPr>
          <a:xfrm>
            <a:off x="6597370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" name="Straight Connector 21"/>
          <p:cNvSpPr/>
          <p:nvPr/>
        </p:nvSpPr>
        <p:spPr>
          <a:xfrm>
            <a:off x="12198829" y="928724"/>
            <a:ext cx="6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" name="Straight Connector 59"/>
          <p:cNvSpPr/>
          <p:nvPr/>
        </p:nvSpPr>
        <p:spPr>
          <a:xfrm>
            <a:off x="23287736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" name="TextBox 27"/>
          <p:cNvSpPr txBox="1"/>
          <p:nvPr/>
        </p:nvSpPr>
        <p:spPr>
          <a:xfrm>
            <a:off x="220707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ФГАОУ ВО Первый МГМУ им. И. М. Сеченова</a:t>
            </a:r>
          </a:p>
        </p:txBody>
      </p:sp>
      <p:sp>
        <p:nvSpPr>
          <p:cNvPr id="76" name="TextBox 30"/>
          <p:cNvSpPr txBox="1"/>
          <p:nvPr/>
        </p:nvSpPr>
        <p:spPr>
          <a:xfrm>
            <a:off x="682269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77" name="TextBox 31"/>
          <p:cNvSpPr txBox="1"/>
          <p:nvPr/>
        </p:nvSpPr>
        <p:spPr>
          <a:xfrm>
            <a:off x="12407675" y="994629"/>
            <a:ext cx="4510615" cy="48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Проблемы CNN</a:t>
            </a:r>
          </a:p>
        </p:txBody>
      </p:sp>
      <p:pic>
        <p:nvPicPr>
          <p:cNvPr id="78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2" y="1094997"/>
            <a:ext cx="774824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4"/>
            <a:ext cx="24384000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6" tIns="91436" rIns="91436" bIns="91436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88" name="Body Level One…"/>
          <p:cNvSpPr txBox="1"/>
          <p:nvPr>
            <p:ph type="body" sz="quarter" idx="1"/>
          </p:nvPr>
        </p:nvSpPr>
        <p:spPr>
          <a:xfrm>
            <a:off x="1026347" y="2970008"/>
            <a:ext cx="7120557" cy="211328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TextBox 18"/>
          <p:cNvSpPr txBox="1"/>
          <p:nvPr>
            <p:ph type="body" sz="quarter" idx="21"/>
          </p:nvPr>
        </p:nvSpPr>
        <p:spPr>
          <a:xfrm>
            <a:off x="1026347" y="6080647"/>
            <a:ext cx="7120557" cy="262128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" name="TextBox 23"/>
          <p:cNvSpPr txBox="1"/>
          <p:nvPr>
            <p:ph type="body" sz="quarter" idx="22"/>
          </p:nvPr>
        </p:nvSpPr>
        <p:spPr>
          <a:xfrm>
            <a:off x="1071390" y="11528087"/>
            <a:ext cx="6538656" cy="109728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" name="Straight Connector 19"/>
          <p:cNvSpPr/>
          <p:nvPr/>
        </p:nvSpPr>
        <p:spPr>
          <a:xfrm>
            <a:off x="6597370" y="928724"/>
            <a:ext cx="5" cy="1172526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" name="Straight Connector 21"/>
          <p:cNvSpPr/>
          <p:nvPr/>
        </p:nvSpPr>
        <p:spPr>
          <a:xfrm>
            <a:off x="12198831" y="928724"/>
            <a:ext cx="4" cy="1172526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" name="Straight Connector 59"/>
          <p:cNvSpPr/>
          <p:nvPr/>
        </p:nvSpPr>
        <p:spPr>
          <a:xfrm>
            <a:off x="23287736" y="928724"/>
            <a:ext cx="5" cy="1172526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" name="TextBox 27"/>
          <p:cNvSpPr txBox="1"/>
          <p:nvPr/>
        </p:nvSpPr>
        <p:spPr>
          <a:xfrm>
            <a:off x="2207072" y="994629"/>
            <a:ext cx="4109408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ФГАОУ ВО Первый МГМУ им. И. М. Сеченова</a:t>
            </a:r>
          </a:p>
        </p:txBody>
      </p:sp>
      <p:sp>
        <p:nvSpPr>
          <p:cNvPr id="95" name="TextBox 30"/>
          <p:cNvSpPr txBox="1"/>
          <p:nvPr/>
        </p:nvSpPr>
        <p:spPr>
          <a:xfrm>
            <a:off x="682269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96" name="TextBox 31"/>
          <p:cNvSpPr txBox="1"/>
          <p:nvPr/>
        </p:nvSpPr>
        <p:spPr>
          <a:xfrm>
            <a:off x="12407675" y="994629"/>
            <a:ext cx="4510615" cy="48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Адаптация под изображения</a:t>
            </a:r>
          </a:p>
        </p:txBody>
      </p:sp>
      <p:pic>
        <p:nvPicPr>
          <p:cNvPr id="97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2" y="1094997"/>
            <a:ext cx="774824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Графи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4"/>
            <a:ext cx="24384000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6" tIns="91436" rIns="91436" bIns="91436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07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TextBox 18"/>
          <p:cNvSpPr txBox="1"/>
          <p:nvPr>
            <p:ph type="body" sz="quarter" idx="21"/>
          </p:nvPr>
        </p:nvSpPr>
        <p:spPr>
          <a:xfrm>
            <a:off x="1071389" y="4886926"/>
            <a:ext cx="6960890" cy="462788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9" name="TextBox 23"/>
          <p:cNvSpPr txBox="1"/>
          <p:nvPr>
            <p:ph type="body" sz="quarter" idx="22"/>
          </p:nvPr>
        </p:nvSpPr>
        <p:spPr>
          <a:xfrm>
            <a:off x="1071390" y="11528087"/>
            <a:ext cx="6538656" cy="109728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" name="Straight Connector 19"/>
          <p:cNvSpPr/>
          <p:nvPr/>
        </p:nvSpPr>
        <p:spPr>
          <a:xfrm>
            <a:off x="6597370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" name="Straight Connector 21"/>
          <p:cNvSpPr/>
          <p:nvPr/>
        </p:nvSpPr>
        <p:spPr>
          <a:xfrm>
            <a:off x="12198829" y="928724"/>
            <a:ext cx="6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" name="Straight Connector 59"/>
          <p:cNvSpPr/>
          <p:nvPr/>
        </p:nvSpPr>
        <p:spPr>
          <a:xfrm>
            <a:off x="23287736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" name="TextBox 27"/>
          <p:cNvSpPr txBox="1"/>
          <p:nvPr/>
        </p:nvSpPr>
        <p:spPr>
          <a:xfrm>
            <a:off x="220707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ФГАОУ ВО Первый МГМУ им. И. М. Сеченова</a:t>
            </a:r>
          </a:p>
        </p:txBody>
      </p:sp>
      <p:sp>
        <p:nvSpPr>
          <p:cNvPr id="114" name="TextBox 30"/>
          <p:cNvSpPr txBox="1"/>
          <p:nvPr/>
        </p:nvSpPr>
        <p:spPr>
          <a:xfrm>
            <a:off x="682269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115" name="TextBox 31"/>
          <p:cNvSpPr txBox="1"/>
          <p:nvPr/>
        </p:nvSpPr>
        <p:spPr>
          <a:xfrm>
            <a:off x="12407675" y="994629"/>
            <a:ext cx="4510615" cy="48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Где используют</a:t>
            </a:r>
          </a:p>
        </p:txBody>
      </p:sp>
      <p:pic>
        <p:nvPicPr>
          <p:cNvPr id="116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2" y="1094997"/>
            <a:ext cx="774824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Цифр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Название презентации может быть набрано в две  или три строки"/>
          <p:cNvSpPr txBox="1"/>
          <p:nvPr/>
        </p:nvSpPr>
        <p:spPr>
          <a:xfrm>
            <a:off x="2029011" y="4568037"/>
            <a:ext cx="20325978" cy="3583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914400">
              <a:lnSpc>
                <a:spcPct val="80000"/>
              </a:lnSpc>
              <a:spcBef>
                <a:spcPts val="0"/>
              </a:spcBef>
              <a:defRPr sz="8600">
                <a:solidFill>
                  <a:srgbClr val="172C65"/>
                </a:solidFill>
                <a:latin typeface="HSE Sans Regular"/>
                <a:ea typeface="HSE Sans Regular"/>
                <a:cs typeface="HSE Sans Regular"/>
                <a:sym typeface="HSE Sans Regular"/>
              </a:defRPr>
            </a:pPr>
            <a:r>
              <a:t>Название презентации</a:t>
            </a:r>
            <a:br/>
            <a:r>
              <a:t>может быть набрано в две </a:t>
            </a:r>
            <a:br/>
            <a:r>
              <a:t>или три строки</a:t>
            </a:r>
          </a:p>
        </p:txBody>
      </p:sp>
      <p:sp>
        <p:nvSpPr>
          <p:cNvPr id="125" name="Если нужно больше места, то используйте подзаголовок"/>
          <p:cNvSpPr txBox="1"/>
          <p:nvPr/>
        </p:nvSpPr>
        <p:spPr>
          <a:xfrm>
            <a:off x="2029011" y="9794174"/>
            <a:ext cx="20325978" cy="614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914400">
              <a:lnSpc>
                <a:spcPct val="80000"/>
              </a:lnSpc>
              <a:spcBef>
                <a:spcPts val="0"/>
              </a:spcBef>
              <a:defRPr sz="2800">
                <a:latin typeface="HSE Sans Regular"/>
                <a:ea typeface="HSE Sans Regular"/>
                <a:cs typeface="HSE Sans Regular"/>
                <a:sym typeface="HSE Sans Regular"/>
              </a:defRPr>
            </a:lvl1pPr>
          </a:lstStyle>
          <a:p>
            <a:pPr/>
            <a:r>
              <a:t>Если нужно больше места, то используйте подзаголовок</a:t>
            </a:r>
          </a:p>
        </p:txBody>
      </p:sp>
      <p:pic>
        <p:nvPicPr>
          <p:cNvPr id="126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4"/>
            <a:ext cx="24384000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6" tIns="91436" rIns="91436" bIns="91436" anchor="ctr"/>
          <a:lstStyle/>
          <a:p>
            <a:pPr algn="ctr" defTabSz="1828800">
              <a:spcBef>
                <a:spcPts val="0"/>
              </a:spcBef>
              <a:defRPr sz="3600">
                <a:solidFill>
                  <a:srgbClr val="FFFFFF"/>
                </a:solidFill>
              </a:defRPr>
            </a:pPr>
          </a:p>
        </p:txBody>
      </p:sp>
      <p:sp>
        <p:nvSpPr>
          <p:cNvPr id="128" name="Body Level One…"/>
          <p:cNvSpPr txBox="1"/>
          <p:nvPr>
            <p:ph type="body" sz="quarter" idx="1"/>
          </p:nvPr>
        </p:nvSpPr>
        <p:spPr>
          <a:xfrm>
            <a:off x="1071390" y="4937092"/>
            <a:ext cx="5646297" cy="310388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TextBox 22"/>
          <p:cNvSpPr txBox="1"/>
          <p:nvPr>
            <p:ph type="body" sz="quarter" idx="21"/>
          </p:nvPr>
        </p:nvSpPr>
        <p:spPr>
          <a:xfrm>
            <a:off x="8135580" y="4937092"/>
            <a:ext cx="6313737" cy="310388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TextBox 26"/>
          <p:cNvSpPr txBox="1"/>
          <p:nvPr>
            <p:ph type="body" sz="quarter" idx="22"/>
          </p:nvPr>
        </p:nvSpPr>
        <p:spPr>
          <a:xfrm>
            <a:off x="15110121" y="4937092"/>
            <a:ext cx="5646297" cy="310388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" name="TextBox 63"/>
          <p:cNvSpPr txBox="1"/>
          <p:nvPr>
            <p:ph type="body" sz="quarter" idx="23"/>
          </p:nvPr>
        </p:nvSpPr>
        <p:spPr>
          <a:xfrm>
            <a:off x="1071391" y="2793805"/>
            <a:ext cx="20083100" cy="158242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2" name="TextBox 18"/>
          <p:cNvSpPr txBox="1"/>
          <p:nvPr>
            <p:ph type="body" sz="quarter" idx="24"/>
          </p:nvPr>
        </p:nvSpPr>
        <p:spPr>
          <a:xfrm>
            <a:off x="1071389" y="8351776"/>
            <a:ext cx="5434548" cy="170688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3" name="TextBox 20"/>
          <p:cNvSpPr txBox="1"/>
          <p:nvPr>
            <p:ph type="body" sz="quarter" idx="25"/>
          </p:nvPr>
        </p:nvSpPr>
        <p:spPr>
          <a:xfrm>
            <a:off x="8135580" y="8351776"/>
            <a:ext cx="5434545" cy="170688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" name="TextBox 23"/>
          <p:cNvSpPr txBox="1"/>
          <p:nvPr>
            <p:ph type="body" sz="quarter" idx="26"/>
          </p:nvPr>
        </p:nvSpPr>
        <p:spPr>
          <a:xfrm>
            <a:off x="15110120" y="8351776"/>
            <a:ext cx="5434546" cy="1706886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traight Connector 19"/>
          <p:cNvSpPr/>
          <p:nvPr/>
        </p:nvSpPr>
        <p:spPr>
          <a:xfrm>
            <a:off x="6597370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Straight Connector 21"/>
          <p:cNvSpPr/>
          <p:nvPr/>
        </p:nvSpPr>
        <p:spPr>
          <a:xfrm>
            <a:off x="12198831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Straight Connector 59"/>
          <p:cNvSpPr/>
          <p:nvPr/>
        </p:nvSpPr>
        <p:spPr>
          <a:xfrm>
            <a:off x="23287736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" name="TextBox 27"/>
          <p:cNvSpPr txBox="1"/>
          <p:nvPr/>
        </p:nvSpPr>
        <p:spPr>
          <a:xfrm>
            <a:off x="2207072" y="994629"/>
            <a:ext cx="4510614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ФГАОУ ВО Первый МГМУ им. И. М. Сеченова</a:t>
            </a:r>
          </a:p>
        </p:txBody>
      </p:sp>
      <p:sp>
        <p:nvSpPr>
          <p:cNvPr id="139" name="TextBox 30"/>
          <p:cNvSpPr txBox="1"/>
          <p:nvPr/>
        </p:nvSpPr>
        <p:spPr>
          <a:xfrm>
            <a:off x="682269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140" name="TextBox 31"/>
          <p:cNvSpPr txBox="1"/>
          <p:nvPr/>
        </p:nvSpPr>
        <p:spPr>
          <a:xfrm>
            <a:off x="12407675" y="994629"/>
            <a:ext cx="4510615" cy="48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Ссылки</a:t>
            </a:r>
          </a:p>
        </p:txBody>
      </p:sp>
      <p:pic>
        <p:nvPicPr>
          <p:cNvPr id="141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2" y="1094997"/>
            <a:ext cx="774824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Slide Number"/>
          <p:cNvSpPr txBox="1"/>
          <p:nvPr>
            <p:ph type="sldNum" sz="quarter" idx="2"/>
          </p:nvPr>
        </p:nvSpPr>
        <p:spPr>
          <a:xfrm>
            <a:off x="22203063" y="12835873"/>
            <a:ext cx="504540" cy="48390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аблиц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4"/>
            <a:ext cx="24384000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6" tIns="91436" rIns="91436" bIns="91436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51" name="Body Level One…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2" name="TextBox 29"/>
          <p:cNvSpPr txBox="1"/>
          <p:nvPr>
            <p:ph type="body" sz="quarter" idx="21"/>
          </p:nvPr>
        </p:nvSpPr>
        <p:spPr>
          <a:xfrm>
            <a:off x="1071388" y="11162430"/>
            <a:ext cx="15527375" cy="1097285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Straight Connector 19"/>
          <p:cNvSpPr/>
          <p:nvPr/>
        </p:nvSpPr>
        <p:spPr>
          <a:xfrm>
            <a:off x="6597370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Straight Connector 21"/>
          <p:cNvSpPr/>
          <p:nvPr/>
        </p:nvSpPr>
        <p:spPr>
          <a:xfrm>
            <a:off x="12198829" y="928724"/>
            <a:ext cx="6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Straight Connector 59"/>
          <p:cNvSpPr/>
          <p:nvPr/>
        </p:nvSpPr>
        <p:spPr>
          <a:xfrm>
            <a:off x="23287736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6" name="TextBox 27"/>
          <p:cNvSpPr txBox="1"/>
          <p:nvPr/>
        </p:nvSpPr>
        <p:spPr>
          <a:xfrm>
            <a:off x="220707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ФГАОУ ВО Первый МГМУ им. И. М. Сеченова</a:t>
            </a:r>
          </a:p>
        </p:txBody>
      </p:sp>
      <p:sp>
        <p:nvSpPr>
          <p:cNvPr id="157" name="TextBox 30"/>
          <p:cNvSpPr txBox="1"/>
          <p:nvPr/>
        </p:nvSpPr>
        <p:spPr>
          <a:xfrm>
            <a:off x="682269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158" name="TextBox 31"/>
          <p:cNvSpPr txBox="1"/>
          <p:nvPr/>
        </p:nvSpPr>
        <p:spPr>
          <a:xfrm>
            <a:off x="12407675" y="994629"/>
            <a:ext cx="4510615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Рост интереса к трансформерам в компьютерном зрении</a:t>
            </a:r>
          </a:p>
        </p:txBody>
      </p:sp>
      <p:pic>
        <p:nvPicPr>
          <p:cNvPr id="159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2" y="1094997"/>
            <a:ext cx="774824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Текст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4"/>
            <a:ext cx="24384000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6" tIns="91436" rIns="91436" bIns="91436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169" name="Body Level One…"/>
          <p:cNvSpPr txBox="1"/>
          <p:nvPr>
            <p:ph type="body" sz="quarter" idx="1"/>
          </p:nvPr>
        </p:nvSpPr>
        <p:spPr>
          <a:xfrm>
            <a:off x="1071387" y="4938019"/>
            <a:ext cx="9560767" cy="295148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0" name="TextBox 23"/>
          <p:cNvSpPr txBox="1"/>
          <p:nvPr>
            <p:ph type="body" sz="quarter" idx="21"/>
          </p:nvPr>
        </p:nvSpPr>
        <p:spPr>
          <a:xfrm>
            <a:off x="1071386" y="10647084"/>
            <a:ext cx="9560770" cy="792485"/>
          </a:xfrm>
          <a:prstGeom prst="rect">
            <a:avLst/>
          </a:prstGeom>
        </p:spPr>
        <p:txBody>
          <a:bodyPr/>
          <a:lstStyle/>
          <a:p>
            <a:pPr marL="384047" indent="-384047" defTabSz="1536191">
              <a:spcBef>
                <a:spcPts val="1600"/>
              </a:spcBef>
              <a:defRPr sz="4703"/>
            </a:pPr>
          </a:p>
        </p:txBody>
      </p:sp>
      <p:sp>
        <p:nvSpPr>
          <p:cNvPr id="171" name="TextBox 63"/>
          <p:cNvSpPr txBox="1"/>
          <p:nvPr>
            <p:ph type="body" sz="quarter" idx="22"/>
          </p:nvPr>
        </p:nvSpPr>
        <p:spPr>
          <a:xfrm>
            <a:off x="1071391" y="2793806"/>
            <a:ext cx="20083100" cy="1582424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TextBox 22"/>
          <p:cNvSpPr txBox="1"/>
          <p:nvPr>
            <p:ph type="body" sz="quarter" idx="23"/>
          </p:nvPr>
        </p:nvSpPr>
        <p:spPr>
          <a:xfrm>
            <a:off x="12190716" y="4925943"/>
            <a:ext cx="10974725" cy="3886205"/>
          </a:xfrm>
          <a:prstGeom prst="rect">
            <a:avLst/>
          </a:prstGeom>
        </p:spPr>
        <p:txBody>
          <a:bodyPr lIns="101600" tIns="101600" rIns="101600" bIns="101600"/>
          <a:lstStyle/>
          <a:p>
            <a:pPr/>
          </a:p>
        </p:txBody>
      </p:sp>
      <p:sp>
        <p:nvSpPr>
          <p:cNvPr id="173" name="Straight Connector 19"/>
          <p:cNvSpPr/>
          <p:nvPr/>
        </p:nvSpPr>
        <p:spPr>
          <a:xfrm>
            <a:off x="6597370" y="928724"/>
            <a:ext cx="5" cy="1172526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" name="Straight Connector 21"/>
          <p:cNvSpPr/>
          <p:nvPr/>
        </p:nvSpPr>
        <p:spPr>
          <a:xfrm>
            <a:off x="12198831" y="928724"/>
            <a:ext cx="4" cy="1172526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" name="Straight Connector 59"/>
          <p:cNvSpPr/>
          <p:nvPr/>
        </p:nvSpPr>
        <p:spPr>
          <a:xfrm>
            <a:off x="23287736" y="928724"/>
            <a:ext cx="5" cy="1172526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" name="TextBox 27"/>
          <p:cNvSpPr txBox="1"/>
          <p:nvPr/>
        </p:nvSpPr>
        <p:spPr>
          <a:xfrm>
            <a:off x="2207072" y="994629"/>
            <a:ext cx="4510614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I.M. Sechenov First Moscow        State Medical University.</a:t>
            </a:r>
          </a:p>
        </p:txBody>
      </p:sp>
      <p:sp>
        <p:nvSpPr>
          <p:cNvPr id="177" name="TextBox 30"/>
          <p:cNvSpPr txBox="1"/>
          <p:nvPr/>
        </p:nvSpPr>
        <p:spPr>
          <a:xfrm>
            <a:off x="682269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178" name="TextBox 31"/>
          <p:cNvSpPr txBox="1"/>
          <p:nvPr/>
        </p:nvSpPr>
        <p:spPr>
          <a:xfrm>
            <a:off x="12407675" y="994629"/>
            <a:ext cx="4510615" cy="48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457200">
              <a:spcBef>
                <a:spcPts val="1600"/>
              </a:spcBef>
              <a:defRPr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Сравнение CNN и Transformer</a:t>
            </a:r>
          </a:p>
        </p:txBody>
      </p:sp>
      <p:pic>
        <p:nvPicPr>
          <p:cNvPr id="179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2" y="1094997"/>
            <a:ext cx="774824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/>
          <p:nvPr>
            <p:ph type="sldNum" sz="quarter" idx="2"/>
          </p:nvPr>
        </p:nvSpPr>
        <p:spPr>
          <a:xfrm>
            <a:off x="22203063" y="12835874"/>
            <a:ext cx="504540" cy="48390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сбор гум.помощи-06.png" descr="сбор гум.помощи-06.png"/>
          <p:cNvPicPr>
            <a:picLocks noChangeAspect="1"/>
          </p:cNvPicPr>
          <p:nvPr/>
        </p:nvPicPr>
        <p:blipFill>
          <a:blip r:embed="rId2">
            <a:extLst/>
          </a:blip>
          <a:srcRect l="0" t="4" r="0" b="4"/>
          <a:stretch>
            <a:fillRect/>
          </a:stretch>
        </p:blipFill>
        <p:spPr>
          <a:xfrm>
            <a:off x="0" y="-4"/>
            <a:ext cx="24384000" cy="1371600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4"/>
          <p:cNvSpPr/>
          <p:nvPr/>
        </p:nvSpPr>
        <p:spPr>
          <a:xfrm>
            <a:off x="265362" y="269797"/>
            <a:ext cx="23853276" cy="13204760"/>
          </a:xfrm>
          <a:prstGeom prst="rect">
            <a:avLst/>
          </a:prstGeom>
          <a:solidFill>
            <a:srgbClr val="FFFFFF"/>
          </a:solidFill>
          <a:ln w="3175">
            <a:solidFill>
              <a:srgbClr val="32538F"/>
            </a:solidFill>
            <a:miter/>
          </a:ln>
        </p:spPr>
        <p:txBody>
          <a:bodyPr lIns="91436" tIns="91436" rIns="91436" bIns="91436" anchor="ctr"/>
          <a:lstStyle/>
          <a:p>
            <a:pPr algn="ctr" defTabSz="1828800">
              <a:spcBef>
                <a:spcPts val="0"/>
              </a:spcBef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" name="Straight Connector 19"/>
          <p:cNvSpPr/>
          <p:nvPr/>
        </p:nvSpPr>
        <p:spPr>
          <a:xfrm>
            <a:off x="6597370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" name="Straight Connector 21"/>
          <p:cNvSpPr/>
          <p:nvPr/>
        </p:nvSpPr>
        <p:spPr>
          <a:xfrm>
            <a:off x="12198829" y="928724"/>
            <a:ext cx="6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" name="Straight Connector 59"/>
          <p:cNvSpPr/>
          <p:nvPr/>
        </p:nvSpPr>
        <p:spPr>
          <a:xfrm>
            <a:off x="23287736" y="928724"/>
            <a:ext cx="5" cy="1172525"/>
          </a:xfrm>
          <a:prstGeom prst="line">
            <a:avLst/>
          </a:prstGeom>
          <a:ln>
            <a:solidFill>
              <a:srgbClr val="102D69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" name="TextBox 27"/>
          <p:cNvSpPr txBox="1"/>
          <p:nvPr/>
        </p:nvSpPr>
        <p:spPr>
          <a:xfrm>
            <a:off x="220707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ФГАОУ ВО Первый МГМУ им. И. М. Сеченова</a:t>
            </a:r>
          </a:p>
        </p:txBody>
      </p:sp>
      <p:sp>
        <p:nvSpPr>
          <p:cNvPr id="8" name="TextBox 30"/>
          <p:cNvSpPr txBox="1"/>
          <p:nvPr/>
        </p:nvSpPr>
        <p:spPr>
          <a:xfrm>
            <a:off x="6822692" y="994629"/>
            <a:ext cx="4510613" cy="792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12407675" y="994629"/>
            <a:ext cx="4510615" cy="487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План презентации</a:t>
            </a:r>
          </a:p>
        </p:txBody>
      </p:sp>
      <p:pic>
        <p:nvPicPr>
          <p:cNvPr id="10" name="сбор гум.помощи-05.png" descr="сбор гум.помощи-0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5262" y="1094997"/>
            <a:ext cx="774824" cy="896555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Body Level One…"/>
          <p:cNvSpPr txBox="1"/>
          <p:nvPr>
            <p:ph type="body" idx="1"/>
          </p:nvPr>
        </p:nvSpPr>
        <p:spPr>
          <a:xfrm>
            <a:off x="1071390" y="2793806"/>
            <a:ext cx="20083102" cy="1582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Title Text"/>
          <p:cNvSpPr txBox="1"/>
          <p:nvPr>
            <p:ph type="title"/>
          </p:nvPr>
        </p:nvSpPr>
        <p:spPr>
          <a:xfrm>
            <a:off x="3653366" y="2743200"/>
            <a:ext cx="19507201" cy="9302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22203064" y="12835874"/>
            <a:ext cx="504540" cy="483902"/>
          </a:xfrm>
          <a:prstGeom prst="rect">
            <a:avLst/>
          </a:prstGeom>
          <a:ln w="12700">
            <a:miter lim="400000"/>
          </a:ln>
        </p:spPr>
        <p:txBody>
          <a:bodyPr wrap="none" lIns="91436" tIns="91436" rIns="91436" bIns="91436" anchor="ctr">
            <a:spAutoFit/>
          </a:bodyPr>
          <a:lstStyle>
            <a:lvl1pPr algn="r" defTabSz="1828800">
              <a:spcBef>
                <a:spcPts val="0"/>
              </a:spcBef>
              <a:defRPr sz="24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transition xmlns:p14="http://schemas.microsoft.com/office/powerpoint/2010/main" spd="med" advClick="1"/>
  <p:txStyles>
    <p:titleStyle>
      <a:lvl1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457200" marR="0" indent="-457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990600" marR="0" indent="-5334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554477" marR="0" indent="-640077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2082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5400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9972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4544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9116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368800" marR="0" indent="-711200" algn="l" defTabSz="1828800" rtl="0" latinLnBrk="0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56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828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tif"/><Relationship Id="rId3" Type="http://schemas.openxmlformats.org/officeDocument/2006/relationships/image" Target="../media/image4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706.03762" TargetMode="External"/><Relationship Id="rId3" Type="http://schemas.openxmlformats.org/officeDocument/2006/relationships/hyperlink" Target="https://arxiv.org/abs/2010.11929" TargetMode="External"/><Relationship Id="rId4" Type="http://schemas.openxmlformats.org/officeDocument/2006/relationships/hyperlink" Target="https://huggingface.co/docs/transformers/model_doc/vit" TargetMode="External"/><Relationship Id="rId5" Type="http://schemas.openxmlformats.org/officeDocument/2006/relationships/hyperlink" Target="https://github.com/rwightman/pytorch-image-models" TargetMode="External"/><Relationship Id="rId6" Type="http://schemas.openxmlformats.org/officeDocument/2006/relationships/hyperlink" Target="https://huggingface.co/docs/transformers/model_doc/deit" TargetMode="External"/><Relationship Id="rId7" Type="http://schemas.openxmlformats.org/officeDocument/2006/relationships/hyperlink" Target="https://arxiv.org/abs/2103.14030" TargetMode="External"/><Relationship Id="rId8" Type="http://schemas.openxmlformats.org/officeDocument/2006/relationships/hyperlink" Target="https://arxiv.org/abs/2005.12872" TargetMode="External"/><Relationship Id="rId9" Type="http://schemas.openxmlformats.org/officeDocument/2006/relationships/hyperlink" Target="https://arxiv.org/abs/2112.01527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Название факультета в две строки (16 pt)"/>
          <p:cNvSpPr txBox="1"/>
          <p:nvPr>
            <p:ph type="body" sz="quarter" idx="1"/>
          </p:nvPr>
        </p:nvSpPr>
        <p:spPr>
          <a:xfrm>
            <a:off x="4261479" y="2224144"/>
            <a:ext cx="7162818" cy="1408568"/>
          </a:xfrm>
          <a:prstGeom prst="rect">
            <a:avLst/>
          </a:prstGeom>
        </p:spPr>
        <p:txBody>
          <a:bodyPr/>
          <a:lstStyle>
            <a:lvl1pPr marL="0" indent="0" defTabSz="764437">
              <a:lnSpc>
                <a:spcPts val="4300"/>
              </a:lnSpc>
              <a:spcBef>
                <a:spcPts val="0"/>
              </a:spcBef>
              <a:buSzTx/>
              <a:buNone/>
              <a:defRPr sz="26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Передовая инженерная школа «Интеллектуальные системы тераностики»</a:t>
            </a:r>
          </a:p>
        </p:txBody>
      </p:sp>
      <p:sp>
        <p:nvSpPr>
          <p:cNvPr id="190" name="Название подразделения в две или три строки (12pt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795527">
              <a:lnSpc>
                <a:spcPts val="3600"/>
              </a:lnSpc>
              <a:spcBef>
                <a:spcPts val="0"/>
              </a:spcBef>
              <a:buSzTx/>
              <a:buNone/>
              <a:defRPr sz="20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ФГАОУ ВО Первый МГМУ им. И. М. Сеченова</a:t>
            </a:r>
          </a:p>
        </p:txBody>
      </p:sp>
      <p:sp>
        <p:nvSpPr>
          <p:cNvPr id="191" name="Москва 2022 (12pt)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795527">
              <a:lnSpc>
                <a:spcPts val="3600"/>
              </a:lnSpc>
              <a:spcBef>
                <a:spcPts val="0"/>
              </a:spcBef>
              <a:buSzTx/>
              <a:buNone/>
              <a:defRPr sz="20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Москва</a:t>
            </a:r>
            <a:br/>
            <a:r>
              <a:t>2026</a:t>
            </a:r>
          </a:p>
        </p:txBody>
      </p:sp>
      <p:sp>
        <p:nvSpPr>
          <p:cNvPr id="192" name="Название презентации может быть набрано в две или три строки (43 pt)"/>
          <p:cNvSpPr txBox="1"/>
          <p:nvPr>
            <p:ph type="body" idx="23"/>
          </p:nvPr>
        </p:nvSpPr>
        <p:spPr>
          <a:xfrm>
            <a:off x="2029011" y="5091534"/>
            <a:ext cx="12557305" cy="44358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914400">
              <a:lnSpc>
                <a:spcPts val="10000"/>
              </a:lnSpc>
              <a:spcBef>
                <a:spcPts val="0"/>
              </a:spcBef>
              <a:buSzTx/>
              <a:buNone/>
              <a:defRPr sz="77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Применение трансформеров в задачах компьютерного зрения</a:t>
            </a:r>
          </a:p>
        </p:txBody>
      </p:sp>
      <p:sp>
        <p:nvSpPr>
          <p:cNvPr id="193" name="Если нужно больше места,  то используйте подзаголовок (16 pt)"/>
          <p:cNvSpPr txBox="1"/>
          <p:nvPr>
            <p:ph type="body" idx="24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0" indent="0" defTabSz="548913">
              <a:lnSpc>
                <a:spcPts val="2400"/>
              </a:lnSpc>
              <a:spcBef>
                <a:spcPts val="0"/>
              </a:spcBef>
              <a:buSzTx/>
              <a:buNone/>
              <a:defRPr sz="22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Джерихов Алексей,</a:t>
            </a:r>
          </a:p>
          <a:p>
            <a:pPr marL="0" indent="0" defTabSz="548913">
              <a:lnSpc>
                <a:spcPts val="2400"/>
              </a:lnSpc>
              <a:spcBef>
                <a:spcPts val="0"/>
              </a:spcBef>
              <a:buSzTx/>
              <a:buNone/>
              <a:defRPr sz="22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</a:t>
            </a:r>
          </a:p>
          <a:p>
            <a:pPr marL="0" indent="0" defTabSz="548913">
              <a:lnSpc>
                <a:spcPts val="2400"/>
              </a:lnSpc>
              <a:spcBef>
                <a:spcPts val="0"/>
              </a:spcBef>
              <a:buSzTx/>
              <a:buNone/>
              <a:defRPr sz="22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Информационные системы и технологии,</a:t>
            </a:r>
          </a:p>
          <a:p>
            <a:pPr marL="0" indent="0" defTabSz="548913">
              <a:lnSpc>
                <a:spcPts val="2400"/>
              </a:lnSpc>
              <a:spcBef>
                <a:spcPts val="0"/>
              </a:spcBef>
              <a:buSzTx/>
              <a:buNone/>
              <a:defRPr sz="22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548913">
              <a:lnSpc>
                <a:spcPts val="2400"/>
              </a:lnSpc>
              <a:spcBef>
                <a:spcPts val="0"/>
              </a:spcBef>
              <a:buSzTx/>
              <a:buNone/>
              <a:defRPr sz="2200">
                <a:solidFill>
                  <a:srgbClr val="2253A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636-01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Oval 1" descr="Oval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99502" y="2691464"/>
            <a:ext cx="8333075" cy="8333072"/>
          </a:xfrm>
          <a:prstGeom prst="rect">
            <a:avLst/>
          </a:prstGeom>
          <a:ln w="12700">
            <a:miter lim="400000"/>
          </a:ln>
        </p:spPr>
      </p:pic>
      <p:sp>
        <p:nvSpPr>
          <p:cNvPr id="196" name="TextBox 63"/>
          <p:cNvSpPr txBox="1"/>
          <p:nvPr>
            <p:ph type="body" sz="quarter" idx="1"/>
          </p:nvPr>
        </p:nvSpPr>
        <p:spPr>
          <a:xfrm>
            <a:off x="1071391" y="2793805"/>
            <a:ext cx="20083100" cy="1582425"/>
          </a:xfrm>
          <a:prstGeom prst="rect">
            <a:avLst/>
          </a:prstGeom>
        </p:spPr>
        <p:txBody>
          <a:bodyPr/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План презентации</a:t>
            </a:r>
          </a:p>
        </p:txBody>
      </p:sp>
      <p:sp>
        <p:nvSpPr>
          <p:cNvPr id="197" name="TextBox 44"/>
          <p:cNvSpPr txBox="1"/>
          <p:nvPr>
            <p:ph type="body" idx="21"/>
          </p:nvPr>
        </p:nvSpPr>
        <p:spPr>
          <a:xfrm>
            <a:off x="1125837" y="4725596"/>
            <a:ext cx="13751871" cy="83330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marL="320840" indent="-320840" defTabSz="457200">
              <a:lnSpc>
                <a:spcPct val="100000"/>
              </a:lnSpc>
              <a:spcBef>
                <a:spcPts val="800"/>
              </a:spcBef>
              <a:buBlip>
                <a:blip r:embed="rId3"/>
              </a:buBlip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Теоретическая основа:</a:t>
            </a: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Что такое трансформер</a:t>
            </a: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Проблемы CNN</a:t>
            </a: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Сравнение CNN и Transformer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Модификации и применения:</a:t>
            </a: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Адаптация под изображения</a:t>
            </a: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Рост интереса к трансформерам</a:t>
            </a: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Виды трансформеров</a:t>
            </a: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FontTx/>
              <a:buAutoNum type="arabicPeriod" startAt="1"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Где используют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320840" indent="-320840" defTabSz="457200">
              <a:lnSpc>
                <a:spcPct val="100000"/>
              </a:lnSpc>
              <a:spcBef>
                <a:spcPts val="0"/>
              </a:spcBef>
              <a:buBlip>
                <a:blip r:embed="rId3"/>
              </a:buBlip>
              <a:defRPr sz="38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Ссылки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5"/>
          <p:cNvSpPr txBox="1"/>
          <p:nvPr>
            <p:ph type="body" sz="half" idx="1"/>
          </p:nvPr>
        </p:nvSpPr>
        <p:spPr>
          <a:xfrm>
            <a:off x="1069306" y="5687729"/>
            <a:ext cx="12656626" cy="6301249"/>
          </a:xfrm>
          <a:prstGeom prst="rect">
            <a:avLst/>
          </a:prstGeom>
        </p:spPr>
        <p:txBody>
          <a:bodyPr lIns="190500" tIns="190500" rIns="190500" bIns="190500"/>
          <a:lstStyle/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None/>
              <a:defRPr sz="2500">
                <a:latin typeface="+mj-lt"/>
                <a:ea typeface="+mj-ea"/>
                <a:cs typeface="+mj-cs"/>
                <a:sym typeface="Helvetica"/>
              </a:defRPr>
            </a:pPr>
            <a:r>
              <a:t>Появилась в 2017 году для текстов. </a:t>
            </a:r>
          </a:p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None/>
              <a:defRPr sz="2500">
                <a:latin typeface="+mj-lt"/>
                <a:ea typeface="+mj-ea"/>
                <a:cs typeface="+mj-cs"/>
                <a:sym typeface="Helvetica"/>
              </a:defRPr>
            </a:pPr>
            <a:r>
              <a:t>Механизм внимания позволяет модели смотреть</a:t>
            </a:r>
          </a:p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None/>
              <a:defRPr sz="2500">
                <a:latin typeface="+mj-lt"/>
                <a:ea typeface="+mj-ea"/>
                <a:cs typeface="+mj-cs"/>
                <a:sym typeface="Helvetica"/>
              </a:defRPr>
            </a:pPr>
            <a:r>
              <a:t> на все элементы последовательности</a:t>
            </a:r>
          </a:p>
          <a:p>
            <a:pPr marL="0" indent="0" defTabSz="25400">
              <a:lnSpc>
                <a:spcPct val="100000"/>
              </a:lnSpc>
              <a:spcBef>
                <a:spcPts val="2400"/>
              </a:spcBef>
              <a:buSzTx/>
              <a:buNone/>
              <a:defRPr sz="2500">
                <a:latin typeface="+mj-lt"/>
                <a:ea typeface="+mj-ea"/>
                <a:cs typeface="+mj-cs"/>
                <a:sym typeface="Helvetica"/>
              </a:defRPr>
            </a:pPr>
            <a:r>
              <a:t> одновременно и находить связи. </a:t>
            </a:r>
          </a:p>
        </p:txBody>
      </p:sp>
      <p:sp>
        <p:nvSpPr>
          <p:cNvPr id="200" name="TextBox 63"/>
          <p:cNvSpPr txBox="1"/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Что такое трансформер</a:t>
            </a:r>
          </a:p>
        </p:txBody>
      </p:sp>
      <p:sp>
        <p:nvSpPr>
          <p:cNvPr id="201" name="TextBox 22"/>
          <p:cNvSpPr txBox="1"/>
          <p:nvPr>
            <p:ph type="body" idx="23"/>
          </p:nvPr>
        </p:nvSpPr>
        <p:spPr>
          <a:xfrm>
            <a:off x="1128208" y="4365156"/>
            <a:ext cx="13100019" cy="38862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marL="0" indent="0" defTabSz="25400">
              <a:lnSpc>
                <a:spcPct val="100000"/>
              </a:lnSpc>
              <a:spcBef>
                <a:spcPts val="2400"/>
              </a:spcBef>
              <a:buSzTx/>
              <a:buNone/>
              <a:defRPr sz="35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Трансформер — архитектура на основе внимания.</a:t>
            </a:r>
          </a:p>
        </p:txBody>
      </p:sp>
      <p:pic>
        <p:nvPicPr>
          <p:cNvPr id="20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91774" y="5382926"/>
            <a:ext cx="14579602" cy="34798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63"/>
          <p:cNvSpPr txBox="1"/>
          <p:nvPr>
            <p:ph type="body" sz="quarter" idx="1"/>
          </p:nvPr>
        </p:nvSpPr>
        <p:spPr>
          <a:xfrm>
            <a:off x="1071391" y="2793805"/>
            <a:ext cx="20083100" cy="1582425"/>
          </a:xfrm>
          <a:prstGeom prst="rect">
            <a:avLst/>
          </a:prstGeom>
        </p:spPr>
        <p:txBody>
          <a:bodyPr/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Проблемы CNN</a:t>
            </a:r>
          </a:p>
        </p:txBody>
      </p:sp>
      <p:sp>
        <p:nvSpPr>
          <p:cNvPr id="205" name="1. Patient Care &amp; Safety…"/>
          <p:cNvSpPr txBox="1"/>
          <p:nvPr/>
        </p:nvSpPr>
        <p:spPr>
          <a:xfrm>
            <a:off x="1066800" y="4537585"/>
            <a:ext cx="9819611" cy="2494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marL="334210" indent="-334210" defTabSz="457200">
              <a:spcBef>
                <a:spcPts val="1600"/>
              </a:spcBef>
              <a:buSzPct val="100000"/>
              <a:buAutoNum type="arabicPeriod" startAt="1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Локальное восприятие</a:t>
            </a:r>
          </a:p>
          <a:p>
            <a: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250657" indent="-250657" defTabSz="457200">
              <a:spcBef>
                <a:spcPts val="160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CNN видит только маленький участок (3×3 или 5×5 пикселей)</a:t>
            </a:r>
          </a:p>
          <a:p>
            <a:pPr marL="130341" indent="-130341" defTabSz="457200">
              <a:spcBef>
                <a:spcPts val="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130341" indent="-130341" defTabSz="457200">
              <a:spcBef>
                <a:spcPts val="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Чтобы связать далёкие объекты, нужно много слоёв</a:t>
            </a:r>
          </a:p>
        </p:txBody>
      </p:sp>
      <p:sp>
        <p:nvSpPr>
          <p:cNvPr id="206" name="2. Medical Research &amp; Innovation…"/>
          <p:cNvSpPr txBox="1"/>
          <p:nvPr/>
        </p:nvSpPr>
        <p:spPr>
          <a:xfrm>
            <a:off x="1066798" y="8722996"/>
            <a:ext cx="10087347" cy="2900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2. Неэффективность на глобальных связях</a:t>
            </a:r>
          </a:p>
          <a:p>
            <a: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250657" indent="-250657" defTabSz="457200">
              <a:spcBef>
                <a:spcPts val="160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Если объекты далеко — сеть тратит ресурсы </a:t>
            </a:r>
          </a:p>
          <a:p>
            <a: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                    на «протаскивание» информации</a:t>
            </a:r>
          </a:p>
          <a:p>
            <a:pPr marL="250657" indent="-250657" defTabSz="457200">
              <a:spcBef>
                <a:spcPts val="160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Например: левый верхний угол и правый нижний угол картинки</a:t>
            </a:r>
          </a:p>
        </p:txBody>
      </p:sp>
      <p:sp>
        <p:nvSpPr>
          <p:cNvPr id="207" name="3. Public Health &amp; Surveillance…"/>
          <p:cNvSpPr txBox="1"/>
          <p:nvPr/>
        </p:nvSpPr>
        <p:spPr>
          <a:xfrm>
            <a:off x="13056500" y="4537585"/>
            <a:ext cx="8500622" cy="2316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3. Фиксированное поле зрения</a:t>
            </a:r>
          </a:p>
          <a:p>
            <a:pPr marL="250657" indent="-250657" defTabSz="457200">
              <a:spcBef>
                <a:spcPts val="160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250657" indent="-250657" defTabSz="457200">
              <a:spcBef>
                <a:spcPts val="160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Размер окна (kernel) задаётся заранее и не меняется</a:t>
            </a:r>
          </a:p>
          <a:p>
            <a:pPr marL="250657" indent="-250657" defTabSz="457200">
              <a:spcBef>
                <a:spcPts val="160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Не адаптируется под содержимое изображения</a:t>
            </a:r>
          </a:p>
        </p:txBody>
      </p:sp>
      <p:sp>
        <p:nvSpPr>
          <p:cNvPr id="208" name="4. Healthcare Operations &amp; Policy…"/>
          <p:cNvSpPr txBox="1"/>
          <p:nvPr/>
        </p:nvSpPr>
        <p:spPr>
          <a:xfrm>
            <a:off x="12905191" y="8722996"/>
            <a:ext cx="10302992" cy="2900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/>
          <a:p>
            <a: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4. Healthcare Operations &amp; Policy</a:t>
            </a:r>
          </a:p>
          <a:p>
            <a: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250657" indent="-250657" defTabSz="457200">
              <a:spcBef>
                <a:spcPts val="160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Трудно понять, на какие области картинки сеть реально смотрит</a:t>
            </a:r>
          </a:p>
          <a:p>
            <a: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250657" indent="-250657" defTabSz="457200">
              <a:spcBef>
                <a:spcPts val="1600"/>
              </a:spcBef>
              <a:buSzPct val="100000"/>
              <a:buChar char="•"/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Карты активации дают приблизительное понимание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 63"/>
          <p:cNvSpPr txBox="1"/>
          <p:nvPr>
            <p:ph type="body" sz="quarter" idx="1"/>
          </p:nvPr>
        </p:nvSpPr>
        <p:spPr>
          <a:xfrm>
            <a:off x="1071391" y="2793806"/>
            <a:ext cx="20083100" cy="1582424"/>
          </a:xfrm>
          <a:prstGeom prst="rect">
            <a:avLst/>
          </a:prstGeom>
        </p:spPr>
        <p:txBody>
          <a:bodyPr/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Сравнение CNN и Transformer</a:t>
            </a:r>
          </a:p>
        </p:txBody>
      </p:sp>
      <p:sp>
        <p:nvSpPr>
          <p:cNvPr id="211" name="Сравнение CNN и ViT (Vision Transformer) на ImageNet:"/>
          <p:cNvSpPr txBox="1"/>
          <p:nvPr/>
        </p:nvSpPr>
        <p:spPr>
          <a:xfrm>
            <a:off x="1145037" y="4086743"/>
            <a:ext cx="8399414" cy="563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Сравнение CNN и ViT (Vision Transformer) на ImageNet:</a:t>
            </a:r>
          </a:p>
        </p:txBody>
      </p:sp>
      <p:graphicFrame>
        <p:nvGraphicFramePr>
          <p:cNvPr id="212" name="Table 1"/>
          <p:cNvGraphicFramePr/>
          <p:nvPr/>
        </p:nvGraphicFramePr>
        <p:xfrm>
          <a:off x="1294441" y="4977896"/>
          <a:ext cx="21795114" cy="8048153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7265038"/>
                <a:gridCol w="7265038"/>
                <a:gridCol w="7265038"/>
              </a:tblGrid>
              <a:tr h="1149736">
                <a:tc>
                  <a:txBody>
                    <a:bodyPr/>
                    <a:lstStyle/>
                    <a:p>
                      <a:pPr algn="ctr" defTabSz="4572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Характеристика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381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ResNet-152 (CNN)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381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ViT-L/16 (Transformer)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381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</a:tr>
              <a:tr h="1149736">
                <a:tc>
                  <a:txBody>
                    <a:bodyPr/>
                    <a:lstStyle/>
                    <a:p>
                      <a:pPr algn="ctr" defTabSz="4572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Точность Top-1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381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78.6%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381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79.5%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381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9736">
                <a:tc>
                  <a:txBody>
                    <a:bodyPr/>
                    <a:lstStyle/>
                    <a:p>
                      <a:pPr algn="ctr" defTabSz="4572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Параметров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60 млн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304 млн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9736">
                <a:tc>
                  <a:txBody>
                    <a:bodyPr/>
                    <a:lstStyle/>
                    <a:p>
                      <a:pPr algn="ctr" defTabSz="4572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Требуется данных (изображений)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1.3 млн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300+ млн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9736">
                <a:tc>
                  <a:txBody>
                    <a:bodyPr/>
                    <a:lstStyle/>
                    <a:p>
                      <a:pPr algn="ctr" defTabSz="4572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Время обучения (на TPUv3)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~7 дней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~30 дней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9736">
                <a:tc>
                  <a:txBody>
                    <a:bodyPr/>
                    <a:lstStyle/>
                    <a:p>
                      <a:pPr algn="ctr" defTabSz="4572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Дальние связи за 1 шаг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Нет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Да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9736">
                <a:tc>
                  <a:txBody>
                    <a:bodyPr/>
                    <a:lstStyle/>
                    <a:p>
                      <a:pPr algn="ctr" defTabSz="4572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Карты внимания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Сложно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Легко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Box 17"/>
          <p:cNvSpPr txBox="1"/>
          <p:nvPr>
            <p:ph type="body" sz="quarter" idx="1"/>
          </p:nvPr>
        </p:nvSpPr>
        <p:spPr>
          <a:xfrm>
            <a:off x="1037232" y="2963421"/>
            <a:ext cx="11120278" cy="1026889"/>
          </a:xfrm>
          <a:prstGeom prst="rect">
            <a:avLst/>
          </a:prstGeom>
        </p:spPr>
        <p:txBody>
          <a:bodyPr/>
          <a:lstStyle>
            <a:lvl1pPr marL="0" indent="0" defTabSz="23637">
              <a:lnSpc>
                <a:spcPct val="100000"/>
              </a:lnSpc>
              <a:spcBef>
                <a:spcPts val="0"/>
              </a:spcBef>
              <a:buSzTx/>
              <a:buNone/>
              <a:defRPr sz="45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Адаптация под изображения</a:t>
            </a:r>
          </a:p>
        </p:txBody>
      </p:sp>
      <p:sp>
        <p:nvSpPr>
          <p:cNvPr id="215" name="Как трансформер увидел картинку"/>
          <p:cNvSpPr txBox="1"/>
          <p:nvPr/>
        </p:nvSpPr>
        <p:spPr>
          <a:xfrm>
            <a:off x="1151970" y="3948534"/>
            <a:ext cx="7979734" cy="563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defTabSz="457200">
              <a:spcBef>
                <a:spcPts val="160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Как трансформер увидел картинку</a:t>
            </a:r>
          </a:p>
        </p:txBody>
      </p:sp>
      <p:pic>
        <p:nvPicPr>
          <p:cNvPr id="21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71496" y="3357402"/>
            <a:ext cx="13234431" cy="8693013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Шаг 1. Разбиение на патчи…"/>
          <p:cNvSpPr txBox="1"/>
          <p:nvPr/>
        </p:nvSpPr>
        <p:spPr>
          <a:xfrm>
            <a:off x="1178736" y="4962178"/>
            <a:ext cx="9056783" cy="7802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Шаг 1. Разбиение на патчи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Картинка 224×224 режется на квадраты 16×16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Получается 196 маленьких кусочков (как «слова» в тексте)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Шаг 2. Преобразование в векторы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Каждый патч распрямляется в вектор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Линейный слой превращает его в эмбеддинг фиксированного размера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Шаг 3. Добавление позиции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Добавляется специальный токен [CLS] для классификации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Добавляются позиционные эмбеддинги (чтобы модель знала порядок)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Шаг 4. Подача в трансформер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Последовательность патчей обрабатывается механизмом внимания</a:t>
            </a:r>
          </a:p>
          <a:p>
            <a:pPr defTabSz="457200">
              <a:spcBef>
                <a:spcPts val="0"/>
              </a:spcBef>
              <a:defRPr sz="2500">
                <a:solidFill>
                  <a:srgbClr val="0F1115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   Выходной токен [CLS] идёт на классификацию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28"/>
          <p:cNvSpPr txBox="1"/>
          <p:nvPr>
            <p:ph type="body" sz="quarter" idx="1"/>
          </p:nvPr>
        </p:nvSpPr>
        <p:spPr>
          <a:xfrm>
            <a:off x="1071390" y="2793806"/>
            <a:ext cx="15527372" cy="1148082"/>
          </a:xfrm>
          <a:prstGeom prst="rect">
            <a:avLst/>
          </a:prstGeom>
        </p:spPr>
        <p:txBody>
          <a:bodyPr/>
          <a:lstStyle>
            <a:lvl1pPr marL="0" indent="0" defTabSz="1243583">
              <a:spcBef>
                <a:spcPts val="0"/>
              </a:spcBef>
              <a:buSzTx/>
              <a:buNone/>
              <a:defRPr sz="4800"/>
            </a:lvl1pPr>
          </a:lstStyle>
          <a:p>
            <a:pPr/>
            <a:r>
              <a:t>Рост интереса к трансформерам в компьютерном зрении</a:t>
            </a:r>
          </a:p>
        </p:txBody>
      </p:sp>
      <p:graphicFrame>
        <p:nvGraphicFramePr>
          <p:cNvPr id="220" name="Table 1"/>
          <p:cNvGraphicFramePr/>
          <p:nvPr/>
        </p:nvGraphicFramePr>
        <p:xfrm>
          <a:off x="2449128" y="4287542"/>
          <a:ext cx="19499408" cy="816105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9749703"/>
                <a:gridCol w="9749703"/>
              </a:tblGrid>
              <a:tr h="1165865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Год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Число публикаций по теме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</a:tr>
              <a:tr h="116586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2018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2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586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2019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5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586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2020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50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586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2021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300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586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2022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700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586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2023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2500">
                          <a:sym typeface="Helvetica"/>
                        </a:rPr>
                        <a:t>1100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63"/>
          <p:cNvSpPr txBox="1"/>
          <p:nvPr>
            <p:ph type="body" sz="quarter" idx="1"/>
          </p:nvPr>
        </p:nvSpPr>
        <p:spPr>
          <a:xfrm>
            <a:off x="1071391" y="2793806"/>
            <a:ext cx="20083100" cy="1582424"/>
          </a:xfrm>
          <a:prstGeom prst="rect">
            <a:avLst/>
          </a:prstGeom>
        </p:spPr>
        <p:txBody>
          <a:bodyPr/>
          <a:lstStyle>
            <a:lvl1pPr marL="0" indent="0" defTabSz="25400">
              <a:spcBef>
                <a:spcPts val="2400"/>
              </a:spcBef>
              <a:buSzTx/>
              <a:buNone/>
              <a:defRPr sz="48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Виды трансформеров</a:t>
            </a:r>
          </a:p>
        </p:txBody>
      </p:sp>
      <p:graphicFrame>
        <p:nvGraphicFramePr>
          <p:cNvPr id="223" name="Table 1"/>
          <p:cNvGraphicFramePr/>
          <p:nvPr/>
        </p:nvGraphicFramePr>
        <p:xfrm>
          <a:off x="1861945" y="4091123"/>
          <a:ext cx="20673773" cy="879810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5168443"/>
                <a:gridCol w="5168443"/>
                <a:gridCol w="5168443"/>
                <a:gridCol w="5168443"/>
              </a:tblGrid>
              <a:tr h="146635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Название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Год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Особенность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Для чего лучше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</a:tr>
              <a:tr h="146635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ViT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2020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Первый, базовый. Режет картинку на патчи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Классификация на больших данных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6635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DeiT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2020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Учится с дистилляцией от CNN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Когда мало данных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6635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Swin Transformer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2021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Иерархия + сдвигающиеся окна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Детекция, сегментация (лучший в 2021)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6635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DETR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2020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Детекция как set prediction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Поиск объектов без anchor-боксов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6635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2500">
                          <a:solidFill>
                            <a:srgbClr val="0F1115"/>
                          </a:solidFill>
                          <a:sym typeface="Helvetica"/>
                        </a:rPr>
                        <a:t>Mask2Former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94C2ED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sz="2500">
                          <a:solidFill>
                            <a:srgbClr val="0F1115"/>
                          </a:solidFill>
                          <a:sym typeface="Helvetica"/>
                        </a:rPr>
                        <a:t>2022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Универсальный (и сегментация, и детекция)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2500">
                          <a:solidFill>
                            <a:srgbClr val="0F1115"/>
                          </a:solidFill>
                          <a:sym typeface="Helvetica"/>
                        </a:defRPr>
                      </a:pPr>
                      <a:r>
                        <a:t>Любые задачи сегментации</a:t>
                      </a:r>
                    </a:p>
                  </a:txBody>
                  <a:tcPr marL="0" marR="0" marT="0" marB="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Применение трансформеров в CV-задачах"/>
          <p:cNvSpPr txBox="1"/>
          <p:nvPr/>
        </p:nvSpPr>
        <p:spPr>
          <a:xfrm>
            <a:off x="1002138" y="2994442"/>
            <a:ext cx="13017662" cy="889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91436" tIns="91436" rIns="91436" bIns="91436">
            <a:spAutoFit/>
          </a:bodyPr>
          <a:lstStyle>
            <a:lvl1pPr defTabSz="1828800">
              <a:lnSpc>
                <a:spcPct val="90000"/>
              </a:lnSpc>
              <a:spcBef>
                <a:spcPts val="2000"/>
              </a:spcBef>
              <a:defRPr sz="5600"/>
            </a:lvl1pPr>
          </a:lstStyle>
          <a:p>
            <a:pPr/>
            <a:r>
              <a:t>Применение трансформеров в CV-задачах</a:t>
            </a:r>
          </a:p>
        </p:txBody>
      </p:sp>
      <p:pic>
        <p:nvPicPr>
          <p:cNvPr id="22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5730" y="5873110"/>
            <a:ext cx="10687186" cy="50557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60382" y="5396093"/>
            <a:ext cx="9273980" cy="56486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26"/>
          <p:cNvSpPr txBox="1"/>
          <p:nvPr>
            <p:ph type="body" sz="quarter" idx="1"/>
          </p:nvPr>
        </p:nvSpPr>
        <p:spPr>
          <a:xfrm>
            <a:off x="6618923" y="3568143"/>
            <a:ext cx="11159819" cy="1714013"/>
          </a:xfrm>
          <a:prstGeom prst="rect">
            <a:avLst/>
          </a:prstGeom>
        </p:spPr>
        <p:txBody>
          <a:bodyPr/>
          <a:lstStyle>
            <a:lvl1pPr marL="0" indent="0" defTabSz="786383">
              <a:lnSpc>
                <a:spcPct val="100000"/>
              </a:lnSpc>
              <a:spcBef>
                <a:spcPts val="900"/>
              </a:spcBef>
              <a:buSzTx/>
              <a:buNone/>
              <a:defRPr sz="81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Спасибо за внимание!</a:t>
            </a:r>
          </a:p>
        </p:txBody>
      </p:sp>
      <p:sp>
        <p:nvSpPr>
          <p:cNvPr id="230" name="TextBox 23"/>
          <p:cNvSpPr txBox="1"/>
          <p:nvPr>
            <p:ph type="body" idx="26"/>
          </p:nvPr>
        </p:nvSpPr>
        <p:spPr>
          <a:xfrm>
            <a:off x="6925871" y="6372166"/>
            <a:ext cx="10545924" cy="579049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indent="-317500" defTabSz="457200">
              <a:lnSpc>
                <a:spcPct val="100000"/>
              </a:lnSpc>
              <a:spcBef>
                <a:spcPts val="0"/>
              </a:spcBef>
              <a:buClr>
                <a:srgbClr val="0F1115"/>
              </a:buClr>
              <a:buFontTx/>
              <a:buAutoNum type="arabicPeriod" startAt="1"/>
              <a:defRPr sz="25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Attention Is All You Need (2017)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https://arxiv.org/abs/1706.03762</a:t>
            </a:r>
          </a:p>
          <a:p>
            <a:pPr indent="-317500" defTabSz="457200">
              <a:lnSpc>
                <a:spcPct val="100000"/>
              </a:lnSpc>
              <a:spcBef>
                <a:spcPts val="0"/>
              </a:spcBef>
              <a:buClr>
                <a:srgbClr val="0F1115"/>
              </a:buClr>
              <a:buFontTx/>
              <a:buAutoNum type="arabicPeriod" startAt="1"/>
              <a:defRPr sz="25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"An Image is Worth 16x16 Words"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https://arxiv.org/abs/2010.11929</a:t>
            </a:r>
          </a:p>
          <a:p>
            <a:pPr indent="-317500" defTabSz="457200">
              <a:lnSpc>
                <a:spcPct val="100000"/>
              </a:lnSpc>
              <a:spcBef>
                <a:spcPts val="0"/>
              </a:spcBef>
              <a:buClr>
                <a:srgbClr val="0F1115"/>
              </a:buClr>
              <a:buFontTx/>
              <a:buAutoNum type="arabicPeriod" startAt="1"/>
              <a:defRPr sz="25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Hugging Face (модель ViT)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https://huggingface.co/docs/transformers/model_doc/vit</a:t>
            </a:r>
          </a:p>
          <a:p>
            <a:pPr indent="-317500" defTabSz="457200">
              <a:lnSpc>
                <a:spcPct val="100000"/>
              </a:lnSpc>
              <a:spcBef>
                <a:spcPts val="0"/>
              </a:spcBef>
              <a:buClr>
                <a:srgbClr val="0F1115"/>
              </a:buClr>
              <a:buFontTx/>
              <a:buAutoNum type="arabicPeriod" startAt="1"/>
              <a:defRPr sz="25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PyTorch Image Models (timm)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https://github.com/rwightman/pytorch-image-models</a:t>
            </a:r>
          </a:p>
          <a:p>
            <a:pPr indent="-317500" defTabSz="457200">
              <a:lnSpc>
                <a:spcPct val="100000"/>
              </a:lnSpc>
              <a:spcBef>
                <a:spcPts val="0"/>
              </a:spcBef>
              <a:buClr>
                <a:srgbClr val="0F1115"/>
              </a:buClr>
              <a:buFontTx/>
              <a:buAutoNum type="arabicPeriod" startAt="1"/>
              <a:defRPr sz="25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Hugging Face (документация DeiT)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 invalidUrl="" action="" tgtFrame="" tooltip="" history="1" highlightClick="0" endSnd="0"/>
              </a:rPr>
              <a:t>https://huggingface.co/docs/transformers/model_doc/deit</a:t>
            </a:r>
            <a:r>
              <a:t> </a:t>
            </a:r>
          </a:p>
          <a:p>
            <a:pPr indent="-317500" defTabSz="457200">
              <a:lnSpc>
                <a:spcPct val="100000"/>
              </a:lnSpc>
              <a:spcBef>
                <a:spcPts val="0"/>
              </a:spcBef>
              <a:buClr>
                <a:srgbClr val="0F1115"/>
              </a:buClr>
              <a:buFontTx/>
              <a:buAutoNum type="arabicPeriod" startAt="1"/>
              <a:defRPr sz="25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Swin Transformer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 invalidUrl="" action="" tgtFrame="" tooltip="" history="1" highlightClick="0" endSnd="0"/>
              </a:rPr>
              <a:t>https://arxiv.org/abs/2103.14030</a:t>
            </a:r>
          </a:p>
          <a:p>
            <a:pPr indent="-317500" defTabSz="457200">
              <a:lnSpc>
                <a:spcPct val="100000"/>
              </a:lnSpc>
              <a:spcBef>
                <a:spcPts val="0"/>
              </a:spcBef>
              <a:buClr>
                <a:srgbClr val="0F1115"/>
              </a:buClr>
              <a:buFontTx/>
              <a:buAutoNum type="arabicPeriod" startAt="1"/>
              <a:defRPr sz="25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End-to-End Object Detection with Transformers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8" invalidUrl="" action="" tgtFrame="" tooltip="" history="1" highlightClick="0" endSnd="0"/>
              </a:rPr>
              <a:t>https://arxiv.org/abs/2005.12872</a:t>
            </a:r>
          </a:p>
          <a:p>
            <a:pPr indent="-317500" defTabSz="457200">
              <a:lnSpc>
                <a:spcPct val="100000"/>
              </a:lnSpc>
              <a:spcBef>
                <a:spcPts val="0"/>
              </a:spcBef>
              <a:buClr>
                <a:srgbClr val="0F1115"/>
              </a:buClr>
              <a:buFontTx/>
              <a:buAutoNum type="arabicPeriod" startAt="1"/>
              <a:defRPr sz="2500">
                <a:solidFill>
                  <a:srgbClr val="0F111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Masked-attention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 invalidUrl="" action="" tgtFrame="" tooltip="" history="1" highlightClick="0" endSnd="0"/>
              </a:rPr>
              <a:t>https://arxiv.org/abs/2112.01527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6" tIns="91436" rIns="91436" bIns="91436" numCol="1" spcCol="38100" rtlCol="0" anchor="ctr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6" tIns="91436" rIns="91436" bIns="91436" numCol="1" spcCol="38100" rtlCol="0" anchor="t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6" tIns="91436" rIns="91436" bIns="91436" numCol="1" spcCol="38100" rtlCol="0" anchor="ctr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91436" tIns="91436" rIns="91436" bIns="91436" numCol="1" spcCol="38100" rtlCol="0" anchor="t" upright="0">
        <a:spAutoFit/>
      </a:bodyPr>
      <a:lstStyle>
        <a:defPPr marL="0" marR="0" indent="0" algn="l" defTabSz="25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