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3716000" cx="2438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Noto Sans SemiBold"/>
      <p:regular r:id="rId19"/>
      <p:bold r:id="rId20"/>
      <p:italic r:id="rId21"/>
      <p:boldItalic r:id="rId22"/>
    </p:embeddedFont>
    <p:embeddedFont>
      <p:font typeface="Noto Sans"/>
      <p:regular r:id="rId23"/>
      <p:bold r:id="rId24"/>
      <p:italic r:id="rId25"/>
      <p:boldItalic r:id="rId26"/>
    </p:embeddedFon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SemiBold-bold.fntdata"/><Relationship Id="rId22" Type="http://schemas.openxmlformats.org/officeDocument/2006/relationships/font" Target="fonts/NotoSansSemiBold-boldItalic.fntdata"/><Relationship Id="rId21" Type="http://schemas.openxmlformats.org/officeDocument/2006/relationships/font" Target="fonts/NotoSansSemiBold-italic.fntdata"/><Relationship Id="rId24" Type="http://schemas.openxmlformats.org/officeDocument/2006/relationships/font" Target="fonts/NotoSans-bold.fntdata"/><Relationship Id="rId23" Type="http://schemas.openxmlformats.org/officeDocument/2006/relationships/font" Target="fonts/Noto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-boldItalic.fntdata"/><Relationship Id="rId25" Type="http://schemas.openxmlformats.org/officeDocument/2006/relationships/font" Target="fonts/NotoSans-italic.fntdata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NotoSansSemiBold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Медицинские специалисты постоянно работают с большим количеством англоязычных материалов: научными статьями, клиническими рекомендациями, документацией и международными исследованиями.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Однако традиционные языковые курсы плохо решают эту задачу. Они используют общий контент, который практически не затрагивает специализированную медицинскую лексику. Кроме того, материал часто не связан с реальной работой врача, поэтому мотивация и эффективность обучения снижаются.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Также стандартные программы предполагают одинаковый темп обучения для всех, хотя у медицинских специалистов обычно очень ограничено свободное время.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В результате многие врачи тратят много усилий на изучение языка, но всё равно испытывают трудности при работе с профессиональными материалами.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 разработал интеллектуальную систему, которая создаёт персонализированные языковые упражнения на основе профессиональных материалов пользователя.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Врач может загрузить любой релевантный текст: научную статью, тезисы конференции, клинические рекомендации или другой документ, важный для его работы.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После этого система анализирует содержимое документа и формирует упражнения, основанные на реальной профессиональной лексике. Благодаря этому обучение строится не вокруг абстрактных тем из учебников, а вокруг материалов, с которыми специалист сталкивается в своей повседневной практике.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Теперь рассмотрим, как работает адаптивная часть системы.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Сначала слова ранжируются по частоте использования. Затем они распределяются по тематическим категориям, таким как работа, технологии, эмоции, повседневная жизнь и другим.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Мы начинаем со слов, которые встречаются чаще среднего уровня. Пользователь изучает фиксированное количество слов из каждой тематической группы, что обеспечивает равномерное развитие словарного запаса.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После каждого этапа система анализирует результаты. Если пользователь демонстрирует хорошие знания, сложность повышается. Если возникают трудности, система предлагает более простой уровень и дополнительную практику.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Этот цикл повторяется до тех пор, пока пользователь постепенно не переходит к более редкой и сложной лексике.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В результате обучение происходит последовательно, без перегрузки и с постоянной адаптацией под уровень конкретного пользователя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bdc58bfd9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Система реализована на основе микросервисной архитектуры. Основные компоненты написаны на Go и отвечают за обработку запросов, бизнес-логику и взаимодействие сервисов.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Пользователь загружает профессиональный текст (научные статьи, клинические рекомендации и др.) через API Gateway — единую точку входа в систему.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Сервис создания упражнений получает текст и запускает его обработку. Документы хранятся в отдельном сервисе на PostgreSQL.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Далее сервис анализа обрабатывает текст, выделяет ключевые слова и важную лексику с использованием модели paraphrase-multilingual-mpnet-base-v2 (Python).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Сервис словаря определяет уровень слов по шкале CEFR, а сервис перевода (Яндекс Переводчик API) обеспечивает перевод терминов.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Пользовательский сервис хранит изученную лексику и исключает её при формировании новых заданий, обеспечивая адаптивность обучения.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На основе этих данных сервис генерации формирует персонализированные упражнения и сохраняет результат в PostgreSQL.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Таким образом, система автоматически преобразует профессиональные тексты в адаптивные учебные задания с учётом уровня пользователя и его прогресса.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ebdc58bfd9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bdc58bfd9_0_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На данный момент реализован основной сценарий работы системы. Пользователь может загрузить текстовый документ, после чего система выполняет его анализ, выделяет лексику для изучения и автоматически формирует обучающие задания. Также реализовано хранение данных и взаимодействие между сервисами, необходимое для полного цикла обработки пользовательского материала. Данный функционал подтверждает работоспособность предложенного подхода и служит основой для дальнейшего развития системы.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ebdc58bfd9_0_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Основное преимущество системы заключается в том, что она помогает медицинским специалистам изучать профессиональный английский и латинский языки без необходимости тратить время на материалы, не связанные с их работой.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Пользователь изучает лексику непосредственно на основе научных статей, презентаций конференций, клинических рекомендаций и других профессиональных документов.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Благодаря этому процесс обучения становится более быстрым, удобным и интересным, поскольку весь изучаемый материал имеет практическую ценность.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В результате врачи чувствуют себя увереннее при чтении международных публикаций, участии в конференциях и общении с коллегами из других стран.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bdc58bfd9_0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В завершение хотелось бы рассказать о перспективах развития проекта.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В ближайшем будущем планируется расширение языковой поддержки, чтобы система могла использоваться не только для изучения английского и латинского языков. Также предполагается добавление упражнений, связанных с развитием разговорных навыков и восприятия речи на слух.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Ещё одним направлением развития является создание полноценной системы аналитики обучения. Она позволит университетам, медицинским учреждениям и преподавателям отслеживать прогресс пользователей и оценивать эффективность образовательного процесса.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Кроме того, в дальнейшем рассматривается возможность сотрудничества с образовательными организациями для поддержки непрерывного профессионального развития медицинских специалистов.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Таким образом, данный проект может стать не просто инструментом для изучения языка, а полноценной образовательной платформой, адаптированной под потребности медицинского сообщества.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Спасибо за внимание.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ebdc58bfd9_0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bdc58bfd9_0_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В завершение хотелось бы рассказать о перспективах развития проекта.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В ближайшем будущем планируется расширение языковой поддержки, чтобы система могла использоваться не только для изучения английского и латинского языков. Также предполагается добавление упражнений, связанных с развитием разговорных навыков и восприятия речи на слух.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Ещё одним направлением развития является создание полноценной системы аналитики обучения. Она позволит университетам, медицинским учреждениям и преподавателям отслеживать прогресс пользователей и оценивать эффективность образовательного процесса.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Кроме того, в дальнейшем рассматривается возможность сотрудничества с образовательными организациями для поддержки непрерывного профессионального развития медицинских специалистов.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Таким образом, данный проект может стать не просто инструментом для изучения языка, а полноценной образовательной платформой, адаптированной под потребности медицинского сообщества.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Спасибо за внимание.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ebdc58bfd9_0_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 showMasterSp="0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" id="16" name="Google Shape;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сбор гум.помощи-05.png" id="18" name="Google Shape;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cap="flat" cmpd="sng" w="25400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cap="flat" cmpd="sng" w="25400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cap="flat" cmpd="sng" w="25400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" name="Google Shape;22;p2"/>
          <p:cNvSpPr txBox="1"/>
          <p:nvPr>
            <p:ph idx="1" type="body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2" type="body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3" type="body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4" type="body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5" type="body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Изображение" id="27" name="Google Shape;27;p2"/>
          <p:cNvPicPr preferRelativeResize="0"/>
          <p:nvPr/>
        </p:nvPicPr>
        <p:blipFill rotWithShape="1">
          <a:blip r:embed="rId5">
            <a:alphaModFix amt="27474"/>
          </a:blip>
          <a:srcRect b="0" l="0" r="0" t="0"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1">
  <p:cSld name="Текст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idx="1" type="body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3" showMasterSp="0">
  <p:cSld name="Текст_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сбор гум.помощи-06.png" id="34" name="Google Shape;34;p4"/>
          <p:cNvPicPr preferRelativeResize="0"/>
          <p:nvPr/>
        </p:nvPicPr>
        <p:blipFill rotWithShape="1">
          <a:blip r:embed="rId2">
            <a:alphaModFix/>
          </a:blip>
          <a:srcRect b="3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2" type="body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сбор гум.помощи-05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1" showMasterSp="0">
  <p:cSld name="График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сбор гум.помощи-06.png" id="44" name="Google Shape;44;p5"/>
          <p:cNvPicPr preferRelativeResize="0"/>
          <p:nvPr/>
        </p:nvPicPr>
        <p:blipFill rotWithShape="1">
          <a:blip r:embed="rId2">
            <a:alphaModFix/>
          </a:blip>
          <a:srcRect b="3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3" type="body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9" name="Google Shape;49;p5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0" name="Google Shape;50;p5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1" name="Google Shape;51;p5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сбор гум.помощи-05.png" id="52" name="Google Shape;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showMasterSp="0">
  <p:cSld name="Пустой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сбор гум.помощи-06.png" id="55" name="Google Shape;55;p6"/>
          <p:cNvPicPr preferRelativeResize="0"/>
          <p:nvPr/>
        </p:nvPicPr>
        <p:blipFill rotWithShape="1">
          <a:blip r:embed="rId2">
            <a:alphaModFix/>
          </a:blip>
          <a:srcRect b="3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6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8" name="Google Shape;58;p6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9" name="Google Shape;59;p6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сбор гум.помощи-05.png"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2" showMasterSp="0">
  <p:cSld name="Текст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сбор гум.помощи-06.png" id="63" name="Google Shape;63;p7"/>
          <p:cNvPicPr preferRelativeResize="0"/>
          <p:nvPr/>
        </p:nvPicPr>
        <p:blipFill rotWithShape="1">
          <a:blip r:embed="rId2">
            <a:alphaModFix/>
          </a:blip>
          <a:srcRect b="3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>
            <p:ph idx="1" type="body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2" type="body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3" type="body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4" type="body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9" name="Google Shape;69;p7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0" name="Google Shape;70;p7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1" name="Google Shape;71;p7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сбор гум.помощи-05.png" id="72" name="Google Shape;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7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2" showMasterSp="0">
  <p:cSld name="График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сбор гум.помощи-06.png" id="75" name="Google Shape;75;p8"/>
          <p:cNvPicPr preferRelativeResize="0"/>
          <p:nvPr/>
        </p:nvPicPr>
        <p:blipFill rotWithShape="1">
          <a:blip r:embed="rId2">
            <a:alphaModFix/>
          </a:blip>
          <a:srcRect b="3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 txBox="1"/>
          <p:nvPr>
            <p:ph idx="1" type="body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2" type="body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3" type="body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0" name="Google Shape;80;p8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1" name="Google Shape;81;p8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2" name="Google Shape;82;p8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сбор гум.помощи-05.png" id="83" name="Google Shape;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фры" showMasterSp="0">
  <p:cSld name="Цифры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8600"/>
              <a:buFont typeface="Arial"/>
              <a:buNone/>
            </a:pPr>
            <a:r>
              <a:rPr b="0" i="0" lang="en-US" sz="8600" u="none" cap="none" strike="noStrik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br>
              <a:rPr b="0" i="0" lang="en-US" sz="8600" u="none" cap="none" strike="noStrik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600" u="none" cap="none" strike="noStrik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может быть набрано в две </a:t>
            </a:r>
            <a:br>
              <a:rPr b="0" i="0" lang="en-US" sz="8600" u="none" cap="none" strike="noStrik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600" u="none" cap="none" strike="noStrik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или три строки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9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нужно больше места, то используйте подзаголовок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сбор гум.помощи-06.png" id="88" name="Google Shape;88;p9"/>
          <p:cNvPicPr preferRelativeResize="0"/>
          <p:nvPr/>
        </p:nvPicPr>
        <p:blipFill rotWithShape="1">
          <a:blip r:embed="rId2">
            <a:alphaModFix/>
          </a:blip>
          <a:srcRect b="3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 txBox="1"/>
          <p:nvPr>
            <p:ph idx="1" type="body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2" type="body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3" type="body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4" type="body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5" type="body"/>
          </p:nvPr>
        </p:nvSpPr>
        <p:spPr>
          <a:xfrm>
            <a:off x="1071391" y="8351777"/>
            <a:ext cx="5434543" cy="17068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6" type="body"/>
          </p:nvPr>
        </p:nvSpPr>
        <p:spPr>
          <a:xfrm>
            <a:off x="8135580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7" type="body"/>
          </p:nvPr>
        </p:nvSpPr>
        <p:spPr>
          <a:xfrm>
            <a:off x="15110121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97" name="Google Shape;97;p9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8" name="Google Shape;98;p9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9" name="Google Shape;99;p9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сбор гум.помощи-05.png" id="100" name="Google Shape;1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1" showMasterSp="0">
  <p:cSld name="Таблица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сбор гум.помощи-06.png" id="103" name="Google Shape;103;p10"/>
          <p:cNvPicPr preferRelativeResize="0"/>
          <p:nvPr/>
        </p:nvPicPr>
        <p:blipFill rotWithShape="1">
          <a:blip r:embed="rId2">
            <a:alphaModFix/>
          </a:blip>
          <a:srcRect b="3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2" type="body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7" name="Google Shape;107;p10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8" name="Google Shape;108;p10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9" name="Google Shape;109;p10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сбор гум.помощи-05.png" id="110" name="Google Shape;1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0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" showMasterSp="0">
  <p:cSld name="Таблица_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сбор гум.помощи-06.png" id="113" name="Google Shape;113;p11"/>
          <p:cNvPicPr preferRelativeResize="0"/>
          <p:nvPr/>
        </p:nvPicPr>
        <p:blipFill rotWithShape="1">
          <a:blip r:embed="rId2">
            <a:alphaModFix/>
          </a:blip>
          <a:srcRect b="3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 txBox="1"/>
          <p:nvPr>
            <p:ph idx="1" type="body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2" type="body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сбор гум.помощи-05.png" id="117" name="Google Shape;1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9" name="Google Shape;119;p1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0" name="Google Shape;120;p1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3" showMasterSp="0">
  <p:cSld name="График_3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сбор гум.помощи-06.png" id="123" name="Google Shape;123;p12"/>
          <p:cNvPicPr preferRelativeResize="0"/>
          <p:nvPr/>
        </p:nvPicPr>
        <p:blipFill rotWithShape="1">
          <a:blip r:embed="rId2">
            <a:alphaModFix/>
          </a:blip>
          <a:srcRect b="3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 txBox="1"/>
          <p:nvPr>
            <p:ph idx="1" type="body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2" type="body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2"/>
          <p:cNvSpPr txBox="1"/>
          <p:nvPr>
            <p:ph idx="3" type="body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28" name="Google Shape;128;p12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сбор гум.помощи-05.png" id="131" name="Google Shape;1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сбор гум.помощи-06.png" id="6" name="Google Shape;6;p1"/>
          <p:cNvPicPr preferRelativeResize="0"/>
          <p:nvPr/>
        </p:nvPicPr>
        <p:blipFill rotWithShape="1">
          <a:blip r:embed="rId1">
            <a:alphaModFix/>
          </a:blip>
          <a:srcRect b="3" l="0" r="0" t="4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2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cap="flat" cmpd="sng" w="9525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сбор гум.помощи-05.png" id="11" name="Google Shape;11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84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842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842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842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842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842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842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842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/>
          <p:nvPr>
            <p:ph idx="1" type="body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ct val="54285"/>
              <a:buNone/>
            </a:pPr>
            <a:r>
              <a:rPr lang="en-US"/>
              <a:t>Advanced Engineering School Intelligent Theranostic Systems</a:t>
            </a:r>
            <a:endParaRPr/>
          </a:p>
        </p:txBody>
      </p:sp>
      <p:sp>
        <p:nvSpPr>
          <p:cNvPr id="138" name="Google Shape;138;p13"/>
          <p:cNvSpPr txBox="1"/>
          <p:nvPr>
            <p:ph idx="2" type="body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67669"/>
              <a:buNone/>
            </a:pPr>
            <a:r>
              <a:rPr lang="en-US"/>
              <a:t>I.M. Sechenov First Moscow State Medical University.</a:t>
            </a:r>
            <a:endParaRPr/>
          </a:p>
        </p:txBody>
      </p:sp>
      <p:sp>
        <p:nvSpPr>
          <p:cNvPr id="139" name="Google Shape;139;p13"/>
          <p:cNvSpPr txBox="1"/>
          <p:nvPr>
            <p:ph idx="3" type="body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7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088"/>
              <a:buFont typeface="Helvetica Neue"/>
              <a:buNone/>
            </a:pPr>
            <a:r>
              <a:rPr lang="en-US" sz="2088">
                <a:solidFill>
                  <a:srgbClr val="2253A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Moscow 2026</a:t>
            </a:r>
            <a:endParaRPr/>
          </a:p>
        </p:txBody>
      </p:sp>
      <p:sp>
        <p:nvSpPr>
          <p:cNvPr id="140" name="Google Shape;140;p13"/>
          <p:cNvSpPr txBox="1"/>
          <p:nvPr>
            <p:ph idx="4" type="body"/>
          </p:nvPr>
        </p:nvSpPr>
        <p:spPr>
          <a:xfrm>
            <a:off x="1906325" y="4429625"/>
            <a:ext cx="12149700" cy="38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4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Разработка системы генерации адаптивных упражнений для изучения иностранного языка на основе пользовательских текстов</a:t>
            </a:r>
            <a:r>
              <a:rPr b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4800">
              <a:solidFill>
                <a:schemeClr val="accen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29869"/>
              </a:lnSpc>
              <a:spcBef>
                <a:spcPts val="800"/>
              </a:spcBef>
              <a:spcAft>
                <a:spcPts val="0"/>
              </a:spcAft>
              <a:buClr>
                <a:srgbClr val="2253A1"/>
              </a:buClr>
              <a:buSzPct val="100000"/>
              <a:buFont typeface="Helvetica Neue"/>
              <a:buNone/>
            </a:pPr>
            <a:r>
              <a:t/>
            </a:r>
            <a:endParaRPr sz="7700">
              <a:solidFill>
                <a:srgbClr val="2253A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13"/>
          <p:cNvSpPr txBox="1"/>
          <p:nvPr>
            <p:ph idx="5" type="body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200"/>
              <a:buFont typeface="Helvetica Neue"/>
              <a:buNone/>
            </a:pPr>
            <a:r>
              <a:rPr lang="en-US" sz="2000">
                <a:solidFill>
                  <a:schemeClr val="accent1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Стрельцов Георгий</a:t>
            </a:r>
            <a:endParaRPr sz="2000">
              <a:solidFill>
                <a:schemeClr val="accen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200"/>
              <a:buFont typeface="Helvetica Neue"/>
              <a:buNone/>
            </a:pPr>
            <a:r>
              <a:rPr lang="en-US" sz="2000">
                <a:solidFill>
                  <a:schemeClr val="accent1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636-01</a:t>
            </a:r>
            <a:endParaRPr sz="2000">
              <a:solidFill>
                <a:schemeClr val="accen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" type="body"/>
          </p:nvPr>
        </p:nvSpPr>
        <p:spPr>
          <a:xfrm>
            <a:off x="1125816" y="2793806"/>
            <a:ext cx="200832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b="1" lang="en-US" sz="8000">
                <a:solidFill>
                  <a:schemeClr val="accent1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Проблема</a:t>
            </a:r>
            <a:endParaRPr b="1" sz="8000">
              <a:solidFill>
                <a:schemeClr val="accen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14"/>
          <p:cNvSpPr txBox="1"/>
          <p:nvPr>
            <p:ph idx="2" type="body"/>
          </p:nvPr>
        </p:nvSpPr>
        <p:spPr>
          <a:xfrm>
            <a:off x="1125825" y="4472900"/>
            <a:ext cx="10367400" cy="24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3500">
                <a:solidFill>
                  <a:schemeClr val="accent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Медицинские специалисты сталкиваются с серьёзным языковым барьером, который традиционные курсы не способны эффективно преодолеть.</a:t>
            </a:r>
            <a:endParaRPr sz="3500">
              <a:solidFill>
                <a:schemeClr val="accent1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Helvetica Neue"/>
              <a:buNone/>
            </a:pPr>
            <a:r>
              <a:t/>
            </a:r>
            <a:endParaRPr sz="3600">
              <a:solidFill>
                <a:schemeClr val="accent1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 b="7182" l="0" r="4852" t="21281"/>
          <a:stretch/>
        </p:blipFill>
        <p:spPr>
          <a:xfrm>
            <a:off x="14405600" y="0"/>
            <a:ext cx="9978399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1125825" y="7046900"/>
            <a:ext cx="12465000" cy="58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</a:rPr>
              <a:t>Недостатки традиционных методов:</a:t>
            </a:r>
            <a:endParaRPr sz="3300">
              <a:solidFill>
                <a:srgbClr val="2B3D4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B3D4F"/>
              </a:buClr>
              <a:buSzPts val="3000"/>
              <a:buFont typeface="Noto Sans"/>
              <a:buChar char="●"/>
            </a:pPr>
            <a:r>
              <a:rPr b="1" lang="en-US" sz="3000">
                <a:solidFill>
                  <a:schemeClr val="dk1"/>
                </a:solidFill>
              </a:rPr>
              <a:t>Обобщённый контент:</a:t>
            </a:r>
            <a:r>
              <a:rPr lang="en-US" sz="3000">
                <a:solidFill>
                  <a:schemeClr val="dk1"/>
                </a:solidFill>
              </a:rPr>
              <a:t> не охватывает сложную специализированную терминологию, необходимую для клинической практики и научной деятельности.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D4F"/>
              </a:buClr>
              <a:buSzPts val="3000"/>
              <a:buFont typeface="Noto Sans"/>
              <a:buChar char="●"/>
            </a:pPr>
            <a:r>
              <a:rPr b="1" lang="en-US" sz="3000">
                <a:solidFill>
                  <a:schemeClr val="dk1"/>
                </a:solidFill>
              </a:rPr>
              <a:t>Отсутствие релевантности:</a:t>
            </a:r>
            <a:r>
              <a:rPr lang="en-US" sz="3000">
                <a:solidFill>
                  <a:schemeClr val="dk1"/>
                </a:solidFill>
              </a:rPr>
              <a:t> материал не связан с повседневной работой врача, что снижает вовлечённость и ухудшает запоминание.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D4F"/>
              </a:buClr>
              <a:buSzPts val="3000"/>
              <a:buFont typeface="Noto Sans"/>
              <a:buChar char="●"/>
            </a:pPr>
            <a:r>
              <a:rPr b="1" lang="en-US" sz="3000">
                <a:solidFill>
                  <a:schemeClr val="dk1"/>
                </a:solidFill>
              </a:rPr>
              <a:t>Неэффективный темп обучения:</a:t>
            </a:r>
            <a:r>
              <a:rPr lang="en-US" sz="3000">
                <a:solidFill>
                  <a:schemeClr val="dk1"/>
                </a:solidFill>
              </a:rPr>
              <a:t> универсальные программы не могут адаптироваться к потребностям занятых специалистов и их индивидуальному графику.</a:t>
            </a:r>
            <a:endParaRPr sz="3000">
              <a:solidFill>
                <a:schemeClr val="dk1"/>
              </a:solidFill>
            </a:endParaRPr>
          </a:p>
          <a:p>
            <a:pPr indent="0" lvl="0" marL="457200" marR="5080" rtl="0" algn="l">
              <a:lnSpc>
                <a:spcPct val="1143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B3D4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1071400" y="2793800"/>
            <a:ext cx="218688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Решение</a:t>
            </a:r>
            <a:endParaRPr b="1" sz="7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72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2700" marR="5080" rtl="0" algn="l">
              <a:lnSpc>
                <a:spcPct val="1052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72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t/>
            </a:r>
            <a:endParaRPr b="1" sz="72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071400" y="6819900"/>
            <a:ext cx="9201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01 </a:t>
            </a:r>
            <a:endParaRPr b="0" i="0" sz="3600" u="none" cap="none" strike="noStrike">
              <a:solidFill>
                <a:schemeClr val="accent1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8470438" y="6906500"/>
            <a:ext cx="3000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02</a:t>
            </a:r>
            <a:endParaRPr b="0" i="0" sz="3600" u="none" cap="none" strike="noStrike">
              <a:solidFill>
                <a:schemeClr val="accent1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15869475" y="6819900"/>
            <a:ext cx="3000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03 </a:t>
            </a:r>
            <a:endParaRPr b="0" i="0" sz="3600" u="none" cap="none" strike="noStrike">
              <a:solidFill>
                <a:schemeClr val="accent1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071400" y="7503288"/>
            <a:ext cx="53469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accent1"/>
                </a:solidFill>
              </a:rPr>
              <a:t>Загрузка текста</a:t>
            </a:r>
            <a:endParaRPr b="1" sz="3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30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2700" marR="5080" rtl="0" algn="l">
              <a:lnSpc>
                <a:spcPct val="158461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1071400" y="8450000"/>
            <a:ext cx="6179100" cy="4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2B3D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Врач загружает любой релевантный текст: научную статью, тезисы конференции, клинические рекомендации или другой профессиональный материал.</a:t>
            </a:r>
            <a:endParaRPr b="0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 b="4534" l="2924" r="14450" t="43641"/>
          <a:stretch/>
        </p:blipFill>
        <p:spPr>
          <a:xfrm>
            <a:off x="15869487" y="-1807400"/>
            <a:ext cx="9900223" cy="669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8470438" y="7503288"/>
            <a:ext cx="53469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accent1"/>
                </a:solidFill>
              </a:rPr>
              <a:t>Анализ текста</a:t>
            </a:r>
            <a:endParaRPr b="1" sz="3000">
              <a:solidFill>
                <a:schemeClr val="accent1"/>
              </a:solidFill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accent1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accent1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8470438" y="8450000"/>
            <a:ext cx="6179100" cy="4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2B3D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Наш NLP-движок обрабатывает загруженный текст, выделяя ключевую медицинскую терминологию и основные концепции, содержащиеся в документе.</a:t>
            </a:r>
            <a:endParaRPr b="0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15869475" y="7503300"/>
            <a:ext cx="70707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accent1"/>
                </a:solidFill>
              </a:rPr>
              <a:t>Адаптивная генерация упражнений</a:t>
            </a:r>
            <a:endParaRPr b="1" sz="3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30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15869525" y="8450000"/>
            <a:ext cx="6179100" cy="55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2B3D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Система автоматически создаёт персонализированные упражнения: задания на изучение терминологии, сопоставление терминов и определений, а также упражнения на заполнение пропусков в предложениях.</a:t>
            </a:r>
            <a:endParaRPr b="0" i="0" sz="3000" u="none" cap="none" strike="noStrike">
              <a:solidFill>
                <a:srgbClr val="2B3D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58461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B3D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58461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B3D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15"/>
          <p:cNvSpPr txBox="1"/>
          <p:nvPr>
            <p:ph idx="2" type="body"/>
          </p:nvPr>
        </p:nvSpPr>
        <p:spPr>
          <a:xfrm>
            <a:off x="1071400" y="4512925"/>
            <a:ext cx="224052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accent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Интеллектуальная система, которая генерирует персонализированные упражнения для изучения языка на основе собственных документов врача.</a:t>
            </a:r>
            <a:endParaRPr sz="4000">
              <a:solidFill>
                <a:schemeClr val="accent1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12700" marR="5080" rtl="0" algn="l">
              <a:lnSpc>
                <a:spcPct val="1052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4000">
              <a:solidFill>
                <a:schemeClr val="accent1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/>
        </p:nvSpPr>
        <p:spPr>
          <a:xfrm>
            <a:off x="7629450" y="1616652"/>
            <a:ext cx="91251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Как это работает</a:t>
            </a:r>
            <a:endParaRPr b="1" i="0" sz="56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5613300" y="2888526"/>
            <a:ext cx="138453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B3D4F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Система анализирует тексты и создаёт адаптивные языковые упражнения.</a:t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t/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5537200" y="3954265"/>
            <a:ext cx="139215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B3D4F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Слова сортируются по частоте их употребления в языке.</a:t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8810550" y="4931352"/>
            <a:ext cx="6762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8848650" y="5906566"/>
            <a:ext cx="6686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8810550" y="7064952"/>
            <a:ext cx="6762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0" i="0" sz="5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8848650" y="8131752"/>
            <a:ext cx="6686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0" i="0" sz="5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11962207" y="3583202"/>
            <a:ext cx="459600" cy="33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11962211" y="4605112"/>
            <a:ext cx="459600" cy="33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11962196" y="5618129"/>
            <a:ext cx="459600" cy="33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5613300" y="4973958"/>
            <a:ext cx="138453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B3D4F"/>
                </a:solidFill>
              </a:rPr>
              <a:t>Мы начинаем с изучения слов с частотой употребления выше среднего.</a:t>
            </a:r>
            <a:endParaRPr sz="2400">
              <a:solidFill>
                <a:srgbClr val="2B3D4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4251925" y="6019450"/>
            <a:ext cx="154923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B3D4F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Слова группируются по темам: повседневная жизнь, работа, эмоции, технологии и другие области.</a:t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5689400" y="7008851"/>
            <a:ext cx="138453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B3D4F"/>
                </a:solidFill>
              </a:rPr>
              <a:t>Пользователь изучает фиксированное количество слов из каждой тематической категории</a:t>
            </a:r>
            <a:r>
              <a:rPr b="1" lang="en-US" sz="1100">
                <a:solidFill>
                  <a:schemeClr val="dk1"/>
                </a:solidFill>
              </a:rPr>
              <a:t>.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5231250" y="8090352"/>
            <a:ext cx="139215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B3D4F"/>
                </a:solidFill>
              </a:rPr>
              <a:t>На основе результатов пользователя:</a:t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1939463" y="9898511"/>
            <a:ext cx="105045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B3D4F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если пользователь успешно справляется с заданиями, уровень сложности повышается</a:t>
            </a:r>
            <a:endParaRPr b="0" i="0" sz="2400" u="none" cap="none" strike="noStrike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12443742" y="9898511"/>
            <a:ext cx="100008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B3D4F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если возникают трудности, система предлагает более простые упражнения для закрепления материала.</a:t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11962196" y="6614466"/>
            <a:ext cx="459600" cy="33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11962196" y="7760529"/>
            <a:ext cx="459600" cy="33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 rot="2700000">
            <a:off x="10167992" y="9171818"/>
            <a:ext cx="459478" cy="3343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 rot="-2079296">
            <a:off x="13869870" y="9171870"/>
            <a:ext cx="459523" cy="33420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7425" y="11206749"/>
            <a:ext cx="459600" cy="45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5269350" y="11206749"/>
            <a:ext cx="13845300" cy="15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B3D4F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Процесс повторяется до тех пор, </a:t>
            </a:r>
            <a:endParaRPr sz="2400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B3D4F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пока пользователь не освоит более редкую и специализированную лексику.</a:t>
            </a:r>
            <a:endParaRPr b="0" i="0" sz="2400" u="none" cap="none" strike="noStrike">
              <a:solidFill>
                <a:srgbClr val="2B3D4F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11962207" y="10526004"/>
            <a:ext cx="459600" cy="33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6763" y="1126975"/>
            <a:ext cx="16666426" cy="121586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746050" y="2420052"/>
            <a:ext cx="91251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Реализация:</a:t>
            </a:r>
            <a:endParaRPr b="1" i="0" sz="50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573875" y="3937250"/>
            <a:ext cx="5997300" cy="9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Go</a:t>
            </a:r>
            <a:r>
              <a:rPr lang="en-US" sz="2700">
                <a:solidFill>
                  <a:schemeClr val="dk1"/>
                </a:solidFill>
              </a:rPr>
              <a:t> → основная бизнес-логика системы и взаимодействие между микросервисами.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Python</a:t>
            </a:r>
            <a:r>
              <a:rPr lang="en-US" sz="2700">
                <a:solidFill>
                  <a:schemeClr val="dk1"/>
                </a:solidFill>
              </a:rPr>
              <a:t> → анализ текста и обработка естественного языка (NLP).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paraphrase-multilingual-mpnet-base-v2</a:t>
            </a:r>
            <a:r>
              <a:rPr lang="en-US" sz="2700">
                <a:solidFill>
                  <a:schemeClr val="dk1"/>
                </a:solidFill>
              </a:rPr>
              <a:t> → выделение ключевой лексики и семантический анализ текста.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Yandex Translate API</a:t>
            </a:r>
            <a:r>
              <a:rPr lang="en-US" sz="2700">
                <a:solidFill>
                  <a:schemeClr val="dk1"/>
                </a:solidFill>
              </a:rPr>
              <a:t> → автоматический перевод слов и терминов.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PostgreSQL</a:t>
            </a:r>
            <a:r>
              <a:rPr lang="en-US" sz="2700">
                <a:solidFill>
                  <a:schemeClr val="dk1"/>
                </a:solidFill>
              </a:rPr>
              <a:t> → хранение пользователей, текстов, слов и результатов обучения.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REST API</a:t>
            </a:r>
            <a:r>
              <a:rPr lang="en-US" sz="2700">
                <a:solidFill>
                  <a:schemeClr val="dk1"/>
                </a:solidFill>
              </a:rPr>
              <a:t> → обмен данными между клиентом и сервисами.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Микросервисная архитектура</a:t>
            </a:r>
            <a:r>
              <a:rPr lang="en-US" sz="2700">
                <a:solidFill>
                  <a:schemeClr val="dk1"/>
                </a:solidFill>
              </a:rPr>
              <a:t> → независимое развитие и масштабирование компонентов системы.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/>
        </p:nvSpPr>
        <p:spPr>
          <a:xfrm>
            <a:off x="918225" y="2477427"/>
            <a:ext cx="91251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Текущий функционал:</a:t>
            </a:r>
            <a:endParaRPr b="1" i="0" sz="50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" name="Google Shape;2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125" y="4258102"/>
            <a:ext cx="7867650" cy="73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15350" y="4292177"/>
            <a:ext cx="14940075" cy="7323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1071400" y="2599425"/>
            <a:ext cx="20420700" cy="14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Преимущества для медицинских специалистов</a:t>
            </a:r>
            <a:endParaRPr b="1" sz="6400">
              <a:solidFill>
                <a:schemeClr val="accent1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1071400" y="4354275"/>
            <a:ext cx="146181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3500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Врачи могут быстро улучшать свой профессиональный английский и латинский языки, не тратя время на изучение лишних и нерелевантных материалов.</a:t>
            </a:r>
            <a:endParaRPr b="0" i="0" sz="3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8836025" y="7011975"/>
            <a:ext cx="48099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2B3D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Это делает процесс обучения более быстрым, простым и интересным.</a:t>
            </a:r>
            <a:endParaRPr sz="3000">
              <a:solidFill>
                <a:srgbClr val="2B3D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2B3D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rgbClr val="2B3D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14676275" y="7011975"/>
            <a:ext cx="80865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2B3D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 результате медицинские специалисты чувствуют себя увереннее на международных мероприятиях и при общении с коллегами из других стран.</a:t>
            </a:r>
            <a:endParaRPr b="0" i="0" sz="5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1287700" y="7011975"/>
            <a:ext cx="6179100" cy="28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2B3D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Инструмент помогает осваивать новую лексику непосредственно на основе презентаций конференций, научных статей и международных клинических рекомендаций.</a:t>
            </a:r>
            <a:endParaRPr b="0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6" name="Google Shape;216;p19"/>
          <p:cNvPicPr preferRelativeResize="0"/>
          <p:nvPr/>
        </p:nvPicPr>
        <p:blipFill rotWithShape="1">
          <a:blip r:embed="rId3">
            <a:alphaModFix/>
          </a:blip>
          <a:srcRect b="1495" l="0" r="0" t="7875"/>
          <a:stretch/>
        </p:blipFill>
        <p:spPr>
          <a:xfrm rot="-5">
            <a:off x="19675108" y="9567502"/>
            <a:ext cx="5993791" cy="5955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1071400" y="2599425"/>
            <a:ext cx="15471000" cy="14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Будущее развитие и заключение</a:t>
            </a:r>
            <a:endParaRPr b="1" sz="7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7200">
              <a:solidFill>
                <a:schemeClr val="accent1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2700" marR="5080" rtl="0" algn="l">
              <a:lnSpc>
                <a:spcPct val="1052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72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t/>
            </a:r>
            <a:endParaRPr b="1" sz="72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071400" y="4467800"/>
            <a:ext cx="6082200" cy="1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accent1"/>
                </a:solidFill>
              </a:rPr>
              <a:t>В ближайших планах:</a:t>
            </a:r>
            <a:endParaRPr b="1" sz="40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40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1071400" y="5592450"/>
            <a:ext cx="6179100" cy="6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5080" rtl="0" algn="l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rgbClr val="2B3D4F"/>
              </a:buClr>
              <a:buSzPts val="3000"/>
              <a:buFont typeface="Helvetica Neue"/>
              <a:buChar char="●"/>
            </a:pPr>
            <a:r>
              <a:rPr lang="en-US" sz="3000">
                <a:solidFill>
                  <a:srgbClr val="2B3D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Добавление поддержки новых языков.</a:t>
            </a:r>
            <a:endParaRPr sz="3000">
              <a:solidFill>
                <a:srgbClr val="2B3D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19100" lvl="0" marL="457200" marR="5080" rtl="0" algn="l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rgbClr val="2B3D4F"/>
              </a:buClr>
              <a:buSzPts val="3000"/>
              <a:buFont typeface="Helvetica Neue"/>
              <a:buChar char="●"/>
            </a:pPr>
            <a:r>
              <a:rPr lang="en-US" sz="3000">
                <a:solidFill>
                  <a:srgbClr val="2B3D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Интеграция упражнений на основе распознавания и тренировки речи.</a:t>
            </a:r>
            <a:endParaRPr sz="3000">
              <a:solidFill>
                <a:srgbClr val="2B3D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19100" lvl="0" marL="457200" marR="5080" rtl="0" algn="l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rgbClr val="2B3D4F"/>
              </a:buClr>
              <a:buSzPts val="3000"/>
              <a:buFont typeface="Helvetica Neue"/>
              <a:buChar char="●"/>
            </a:pPr>
            <a:r>
              <a:rPr lang="en-US" sz="3000">
                <a:solidFill>
                  <a:srgbClr val="2B3D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Разработка полноценной панели аналитики обучения для медицинских университетов и клиник.</a:t>
            </a:r>
            <a:endParaRPr sz="3000">
              <a:solidFill>
                <a:srgbClr val="2B3D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080" rtl="0" algn="l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B3D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9680525" y="5592450"/>
            <a:ext cx="6706500" cy="48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5080" rtl="0" algn="l">
              <a:lnSpc>
                <a:spcPct val="158461"/>
              </a:lnSpc>
              <a:spcBef>
                <a:spcPts val="50"/>
              </a:spcBef>
              <a:spcAft>
                <a:spcPts val="0"/>
              </a:spcAft>
              <a:buClr>
                <a:srgbClr val="2B3D4F"/>
              </a:buClr>
              <a:buSzPts val="3000"/>
              <a:buFont typeface="Helvetica Neue"/>
              <a:buChar char="●"/>
            </a:pPr>
            <a:r>
              <a:rPr lang="en-US" sz="3000">
                <a:solidFill>
                  <a:srgbClr val="2B3D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Развитие сотрудничества с образовательными учреждениями для поддержки профессионального развития медицинских специалистов.</a:t>
            </a:r>
            <a:endParaRPr b="0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b="-24366" l="5965" r="34025" t="35698"/>
          <a:stretch/>
        </p:blipFill>
        <p:spPr>
          <a:xfrm flipH="1" rot="5400000">
            <a:off x="13661475" y="2566225"/>
            <a:ext cx="13369902" cy="791879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9583325" y="4467800"/>
            <a:ext cx="10317000" cy="20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accent1"/>
                </a:solidFill>
              </a:rPr>
              <a:t>Также планируется:</a:t>
            </a:r>
            <a:endParaRPr b="1" sz="40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1071400" y="2461350"/>
            <a:ext cx="15471000" cy="14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Список литературы</a:t>
            </a:r>
            <a:endParaRPr b="1" sz="7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7200">
              <a:solidFill>
                <a:schemeClr val="accent1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12700" marR="5080" rtl="0" algn="l">
              <a:lnSpc>
                <a:spcPct val="1052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72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t/>
            </a:r>
            <a:endParaRPr b="1" sz="72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1288750" y="4165425"/>
            <a:ext cx="17283000" cy="9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Brusilovsky, P. (2001). </a:t>
            </a:r>
            <a:r>
              <a:rPr i="1" lang="en-US" sz="2900">
                <a:solidFill>
                  <a:schemeClr val="dk1"/>
                </a:solidFill>
              </a:rPr>
              <a:t>Adaptive Hypermedia</a:t>
            </a:r>
            <a:r>
              <a:rPr lang="en-US" sz="2900">
                <a:solidFill>
                  <a:schemeClr val="dk1"/>
                </a:solidFill>
              </a:rPr>
              <a:t>. User Modeling and User-Adapted Interaction.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Aljaam, J. M., et al. (2017). </a:t>
            </a:r>
            <a:r>
              <a:rPr i="1" lang="en-US" sz="2900">
                <a:solidFill>
                  <a:schemeClr val="dk1"/>
                </a:solidFill>
              </a:rPr>
              <a:t>Adaptive Learning Systems: A Review</a:t>
            </a:r>
            <a:r>
              <a:rPr lang="en-US" sz="2900">
                <a:solidFill>
                  <a:schemeClr val="dk1"/>
                </a:solidFill>
              </a:rPr>
              <a:t>. IEEE Access.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Piech, C. et al. (2015). </a:t>
            </a:r>
            <a:r>
              <a:rPr i="1" lang="en-US" sz="2900">
                <a:solidFill>
                  <a:schemeClr val="dk1"/>
                </a:solidFill>
              </a:rPr>
              <a:t>Deep Knowledge Tracing</a:t>
            </a:r>
            <a:r>
              <a:rPr lang="en-US" sz="2900">
                <a:solidFill>
                  <a:schemeClr val="dk1"/>
                </a:solidFill>
              </a:rPr>
              <a:t>. NeurIPS.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VanLehn, K. (2006). </a:t>
            </a:r>
            <a:r>
              <a:rPr i="1" lang="en-US" sz="2900">
                <a:solidFill>
                  <a:schemeClr val="dk1"/>
                </a:solidFill>
              </a:rPr>
              <a:t>The Behavior of Tutoring Systems</a:t>
            </a:r>
            <a:r>
              <a:rPr lang="en-US" sz="2900">
                <a:solidFill>
                  <a:schemeClr val="dk1"/>
                </a:solidFill>
              </a:rPr>
              <a:t>. International Journal of Artificial Intelligence in Education.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Corbett, A. T., &amp; Anderson, J. R. (1994). </a:t>
            </a:r>
            <a:r>
              <a:rPr i="1" lang="en-US" sz="2900">
                <a:solidFill>
                  <a:schemeClr val="dk1"/>
                </a:solidFill>
              </a:rPr>
              <a:t>Knowledge Tracing</a:t>
            </a:r>
            <a:r>
              <a:rPr lang="en-US" sz="2900">
                <a:solidFill>
                  <a:schemeClr val="dk1"/>
                </a:solidFill>
              </a:rPr>
              <a:t>. User Modeling and User-Adapted Interaction.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Jurafsky, D., &amp; Martin, J. H. (2023). </a:t>
            </a:r>
            <a:r>
              <a:rPr i="1" lang="en-US" sz="2900">
                <a:solidFill>
                  <a:schemeClr val="dk1"/>
                </a:solidFill>
              </a:rPr>
              <a:t>Speech and Language Processing (3rd ed. draft)</a:t>
            </a:r>
            <a:r>
              <a:rPr lang="en-US" sz="2900">
                <a:solidFill>
                  <a:schemeClr val="dk1"/>
                </a:solidFill>
              </a:rPr>
              <a:t>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Goldberg, Y. (2017). </a:t>
            </a:r>
            <a:r>
              <a:rPr i="1" lang="en-US" sz="2900">
                <a:solidFill>
                  <a:schemeClr val="dk1"/>
                </a:solidFill>
              </a:rPr>
              <a:t>Neural Network Methods for Natural Language Processing</a:t>
            </a:r>
            <a:r>
              <a:rPr lang="en-US" sz="2900">
                <a:solidFill>
                  <a:schemeClr val="dk1"/>
                </a:solidFill>
              </a:rPr>
              <a:t>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Devlin, J. et al. (2019). </a:t>
            </a:r>
            <a:r>
              <a:rPr i="1" lang="en-US" sz="2900">
                <a:solidFill>
                  <a:schemeClr val="dk1"/>
                </a:solidFill>
              </a:rPr>
              <a:t>BERT: Pre-training of Deep Bidirectional Transformers for Language Understanding</a:t>
            </a:r>
            <a:r>
              <a:rPr lang="en-US" sz="2900">
                <a:solidFill>
                  <a:schemeClr val="dk1"/>
                </a:solidFill>
              </a:rPr>
              <a:t>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Vaswani, A. et al. (2017). </a:t>
            </a:r>
            <a:r>
              <a:rPr i="1" lang="en-US" sz="2900">
                <a:solidFill>
                  <a:schemeClr val="dk1"/>
                </a:solidFill>
              </a:rPr>
              <a:t>Attention Is All You Need</a:t>
            </a:r>
            <a:r>
              <a:rPr lang="en-US" sz="2900">
                <a:solidFill>
                  <a:schemeClr val="dk1"/>
                </a:solidFill>
              </a:rPr>
              <a:t>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Mikolov, T. et al. (2013). </a:t>
            </a:r>
            <a:r>
              <a:rPr i="1" lang="en-US" sz="2900">
                <a:solidFill>
                  <a:schemeClr val="dk1"/>
                </a:solidFill>
              </a:rPr>
              <a:t>Efficient Estimation of Word Representations in Vector Space</a:t>
            </a:r>
            <a:r>
              <a:rPr lang="en-US" sz="2900">
                <a:solidFill>
                  <a:schemeClr val="dk1"/>
                </a:solidFill>
              </a:rPr>
              <a:t>.</a:t>
            </a:r>
            <a:endParaRPr sz="2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3262" y="-1"/>
            <a:ext cx="11110742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1666850" y="3773150"/>
            <a:ext cx="12887700" cy="6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</a:t>
            </a:r>
            <a:r>
              <a:rPr b="1" i="0" lang="en-US" sz="9600" u="none" cap="none" strike="noStrike">
                <a:solidFill>
                  <a:schemeClr val="accent1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b="1" i="0" sz="9600" u="none" cap="none" strike="noStrike">
              <a:solidFill>
                <a:schemeClr val="accen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t/>
            </a:r>
            <a:endParaRPr b="1" i="0" sz="9600" u="none" cap="none" strike="noStrike">
              <a:solidFill>
                <a:schemeClr val="accen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