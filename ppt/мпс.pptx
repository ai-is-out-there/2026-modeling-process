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</p:sldIdLst>
  <p:sldSz cx="24384000" cy="13716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Helvetica Neue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E13E09-0D9A-48CB-9212-153354401433}">
  <a:tblStyle styleId="{C7E13E09-0D9A-48CB-9212-153354401433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8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739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6272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3570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333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618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5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Передовая инженерная школа «ИСТ»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технологии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4"/>
          </p:nvPr>
        </p:nvSpPr>
        <p:spPr>
          <a:xfrm>
            <a:off x="2029011" y="5091534"/>
            <a:ext cx="12557305" cy="44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29870"/>
              </a:lnSpc>
              <a:spcBef>
                <a:spcPts val="0"/>
              </a:spcBef>
              <a:buClr>
                <a:srgbClr val="2253A1"/>
              </a:buClr>
              <a:buSzPts val="7700"/>
              <a:buNone/>
            </a:pPr>
            <a:r>
              <a:rPr lang="ru-RU" sz="6000" b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Имитационное моделирование распространения эпидемии с учетом приобретенного иммунитета</a:t>
            </a:r>
            <a:endParaRPr lang="ru-RU" sz="6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9870"/>
              </a:lnSpc>
              <a:spcBef>
                <a:spcPts val="0"/>
              </a:spcBef>
              <a:buClr>
                <a:srgbClr val="2253A1"/>
              </a:buClr>
              <a:buSzPts val="7700"/>
              <a:buNone/>
            </a:pPr>
            <a:endParaRPr lang="ru-RU" sz="6000" dirty="0"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5"/>
          </p:nvPr>
        </p:nvSpPr>
        <p:spPr>
          <a:xfrm flipH="1">
            <a:off x="406398" y="9494373"/>
            <a:ext cx="7382934" cy="18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Font typeface="Helvetica Neue"/>
              <a:buNone/>
            </a:pPr>
            <a:r>
              <a:rPr lang="ru-RU" dirty="0"/>
              <a:t>  </a:t>
            </a:r>
            <a:endParaRPr dirty="0"/>
          </a:p>
          <a:p>
            <a:pPr marL="0" lvl="0" indent="0" algn="l" rtl="0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5600"/>
              <a:buFont typeface="Helvetica Neue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/>
        </p:nvSpPr>
        <p:spPr>
          <a:xfrm>
            <a:off x="6607017" y="842229"/>
            <a:ext cx="5584983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Имитационное моделирование распространения эпидемии с учетом приобретенного иммунитета 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12345329" y="1093247"/>
            <a:ext cx="4510613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ru-RU" sz="240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Актуальность и проблема 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2207071" y="994629"/>
            <a:ext cx="4510612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Информационные системы и технологии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r>
              <a:rPr lang="ru-RU"/>
              <a:t>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/>
          </a:p>
        </p:txBody>
      </p:sp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6427FF54-E525-4CB9-BBA2-9C666D318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1500" y="4966855"/>
            <a:ext cx="8345410" cy="560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61DCA6-5B0F-432C-B0C6-6A9136889DDA}"/>
              </a:ext>
            </a:extLst>
          </p:cNvPr>
          <p:cNvSpPr txBox="1"/>
          <p:nvPr/>
        </p:nvSpPr>
        <p:spPr>
          <a:xfrm>
            <a:off x="838200" y="3538829"/>
            <a:ext cx="15110270" cy="7035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1810511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rPr lang="ru-RU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подход, который позволяет автоматически настраивать параметры эпидемиологической модели SIRS с помощью метода главных компонент (PCA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defTabSz="1810511">
              <a:lnSpc>
                <a:spcPct val="100000"/>
              </a:lnSpc>
              <a:spcBef>
                <a:spcPts val="2300"/>
              </a:spcBef>
              <a:buSzTx/>
              <a:buFontTx/>
              <a:buNone/>
              <a:defRPr sz="1979">
                <a:latin typeface="+mn-lt"/>
                <a:ea typeface="+mn-ea"/>
                <a:cs typeface="+mn-cs"/>
                <a:sym typeface="Helvetica"/>
              </a:defRPr>
            </a:pPr>
            <a:r>
              <a:rPr lang="ru-RU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COVID-19 показал, что эпидемии развиваются несколькими волнами.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Иммунитет со временем ослабевает.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 инструменты для прогнозирования новых вспышек. 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Классические модели SIR и SEIR предполагают пожизненный иммунитет.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модели SIRS требуется сложная ручная настройка параметров.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Эпидемиологические данные содержат много взаимосвязанных признаков. </a:t>
            </a:r>
            <a:endParaRPr lang="en-US" sz="3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/>
        </p:nvSpPr>
        <p:spPr>
          <a:xfrm>
            <a:off x="6607017" y="504243"/>
            <a:ext cx="5584983" cy="1468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2300"/>
              </a:spcBef>
              <a:buSzPts val="1979"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Имитационное моделирование распространения эпидемии с учетом приобретенного иммунитета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Helvetica Neue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12407675" y="875417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ru-RU" sz="23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Модель 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SIRS</a:t>
            </a:r>
          </a:p>
        </p:txBody>
      </p:sp>
      <p:sp>
        <p:nvSpPr>
          <p:cNvPr id="71" name="Google Shape;71;p7"/>
          <p:cNvSpPr txBox="1"/>
          <p:nvPr/>
        </p:nvSpPr>
        <p:spPr>
          <a:xfrm>
            <a:off x="2207071" y="994629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Информационные системы и технологии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A9F447-665E-4462-9E91-DE82AE9D1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8" t="5600" r="3971" b="17164"/>
          <a:stretch/>
        </p:blipFill>
        <p:spPr bwMode="auto">
          <a:xfrm>
            <a:off x="7571683" y="6858000"/>
            <a:ext cx="7523019" cy="592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31E608-044E-48D4-A4AE-A9C5FFDA3053}"/>
              </a:ext>
            </a:extLst>
          </p:cNvPr>
          <p:cNvSpPr txBox="1"/>
          <p:nvPr/>
        </p:nvSpPr>
        <p:spPr>
          <a:xfrm>
            <a:off x="12589250" y="7292496"/>
            <a:ext cx="4510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— восприимчивые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D3B2F-16C6-4388-AF18-2EFBFD968CBC}"/>
              </a:ext>
            </a:extLst>
          </p:cNvPr>
          <p:cNvSpPr txBox="1"/>
          <p:nvPr/>
        </p:nvSpPr>
        <p:spPr>
          <a:xfrm>
            <a:off x="14410977" y="10966499"/>
            <a:ext cx="5377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— инфицированные</a:t>
            </a:r>
            <a:endParaRPr lang="ru-RU" sz="3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E73BF1-937B-4507-9A65-675740E1F083}"/>
              </a:ext>
            </a:extLst>
          </p:cNvPr>
          <p:cNvSpPr txBox="1"/>
          <p:nvPr/>
        </p:nvSpPr>
        <p:spPr>
          <a:xfrm>
            <a:off x="4275610" y="10966499"/>
            <a:ext cx="5441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— выздоровевшие</a:t>
            </a:r>
            <a:endParaRPr lang="ru-RU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EAC824-408D-4057-B4AC-36596FFF1741}"/>
              </a:ext>
            </a:extLst>
          </p:cNvPr>
          <p:cNvSpPr txBox="1"/>
          <p:nvPr/>
        </p:nvSpPr>
        <p:spPr>
          <a:xfrm>
            <a:off x="14662925" y="3561182"/>
            <a:ext cx="85656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Особенность модели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выздоровления иммунитет постепенно теряется, поэтому человек может снова стать восприимчивым к инфекции.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6D0606-B284-4FEB-A5A0-249C0ED2CC15}"/>
              </a:ext>
            </a:extLst>
          </p:cNvPr>
          <p:cNvSpPr txBox="1"/>
          <p:nvPr/>
        </p:nvSpPr>
        <p:spPr>
          <a:xfrm>
            <a:off x="746802" y="3322178"/>
            <a:ext cx="106008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модели SIRS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учитывать угасание иммунитета;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моделирует повторные волны заболевания;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лучше соответствует реальным данным по COVID-19 и сезонному гриппу;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подходит для долгосрочного прогнозирования эпидемической ситуации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456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/>
        </p:nvSpPr>
        <p:spPr>
          <a:xfrm>
            <a:off x="6717571" y="639578"/>
            <a:ext cx="547442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2300"/>
              </a:spcBef>
              <a:buSzPts val="1979"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Имитационное моделирование распространения эпидемии с учетом приобретенного иммунитета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Helvetica Neue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12407675" y="994629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ru-RU" sz="23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Метод главных компонент 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PCA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2207071" y="994629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Информационные системы и технологии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6A4B77-2D44-40C2-ADCB-08BAF735B16A}"/>
              </a:ext>
            </a:extLst>
          </p:cNvPr>
          <p:cNvSpPr txBox="1"/>
          <p:nvPr/>
        </p:nvSpPr>
        <p:spPr>
          <a:xfrm>
            <a:off x="914400" y="3127169"/>
            <a:ext cx="21716999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возникла необходимость использовать PCA?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Эпидемиологические данные содержат большое количество взаимосвязанных показателей. Например, число вакцинированных граждан напрямую связано с общим количеством вакцинаций, а показатели смертности могут зависеть от численности населения страны. Наличие таких зависимостей приводит к избыточности данных и усложняет работу моделей прогнозирования.</a:t>
            </a:r>
          </a:p>
          <a:p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делает PCA?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главных компонент преобразует исходные признаки в новое пространство независимых компонент, сохраняя основную информацию о данных.</a:t>
            </a:r>
          </a:p>
          <a:p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использования PCA: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уменьшение размерности данных;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мультиколлинеарности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признаков;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вычислительной нагрузки;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устойчивости модели;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большей части полезной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386481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/>
        </p:nvSpPr>
        <p:spPr>
          <a:xfrm>
            <a:off x="6607017" y="665018"/>
            <a:ext cx="5584983" cy="14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2300"/>
              </a:spcBef>
              <a:buSzPts val="1979"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Имитационное моделирование распространения эпидемии с учетом приобретенного иммунитета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Helvetica Neue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12407675" y="994629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ru-RU" sz="230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Исходные данные и результаты </a:t>
            </a:r>
            <a:r>
              <a:rPr lang="en-US" sz="230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PCA</a:t>
            </a:r>
            <a:endParaRPr sz="23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2207071" y="994629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Информационные системы и технологии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744AE9-2A98-4708-9520-5AB24565E42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346" y="3429000"/>
            <a:ext cx="10058399" cy="768927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D6E339-8805-4D70-8BB0-FC56B1DF9E68}"/>
              </a:ext>
            </a:extLst>
          </p:cNvPr>
          <p:cNvSpPr txBox="1"/>
          <p:nvPr/>
        </p:nvSpPr>
        <p:spPr>
          <a:xfrm>
            <a:off x="394855" y="2421640"/>
            <a:ext cx="13383491" cy="1024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исследовании были использованы следующие показатели:</a:t>
            </a:r>
            <a:b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численность населения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общее количество вакцинаций;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вакцинированных граждан;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полностью вакцинированных граждан;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количество смертей от COVID-19.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PCA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стандартизации данных и применения метода главных компонент было установлено, что: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главная компонента (PC1) характеризует масштаб страны и объем доступных ресурсов;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вторая главная компонента (PC2) отражает эффективность иммунной защиты и борьбы с эпидемией;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первые две компоненты объясняют 99,4% общей дисперсии данных.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диаграмме PCA каждая точка соответствует отдельной стране.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оси PC1 страны различаются по масштабу населения и объемам вакцинации.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оси PC2 наблюдается различие в эффективности противоэпидемических мероприятий.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Крупные страны, такие как США и Индия, располагаются отдельно от основной группы государств благодаря своим масштабам.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262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/>
        </p:nvSpPr>
        <p:spPr>
          <a:xfrm>
            <a:off x="12358255" y="988832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ru-RU" sz="230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Автоматическая калибровка параметров </a:t>
            </a:r>
            <a:r>
              <a:rPr lang="en-US" sz="230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SIRS-</a:t>
            </a:r>
            <a:r>
              <a:rPr lang="ru-RU" sz="230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модели</a:t>
            </a:r>
            <a:endParaRPr sz="23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2207071" y="994629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Информационные системы и технологии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Google Shape;69;p7">
            <a:extLst>
              <a:ext uri="{FF2B5EF4-FFF2-40B4-BE49-F238E27FC236}">
                <a16:creationId xmlns:a16="http://schemas.microsoft.com/office/drawing/2014/main" id="{4BD3FBAD-5530-467B-BC43-9774F99AD5C0}"/>
              </a:ext>
            </a:extLst>
          </p:cNvPr>
          <p:cNvSpPr txBox="1"/>
          <p:nvPr/>
        </p:nvSpPr>
        <p:spPr>
          <a:xfrm>
            <a:off x="6717571" y="505376"/>
            <a:ext cx="547442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2300"/>
              </a:spcBef>
              <a:buSzPts val="1979"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Имитационное моделирование распространения эпидемии с учетом приобретенного иммунитета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Helvetica Neue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77A73C-3410-466A-B700-7CF72F498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5661" y="3289884"/>
            <a:ext cx="10511703" cy="777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4AB4F4-BB25-4E15-B7AE-A80F0F73E099}"/>
              </a:ext>
            </a:extLst>
          </p:cNvPr>
          <p:cNvSpPr txBox="1"/>
          <p:nvPr/>
        </p:nvSpPr>
        <p:spPr>
          <a:xfrm>
            <a:off x="623303" y="2575485"/>
            <a:ext cx="129680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 алгоритма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применения метода PCA каждая страна получает координаты в пространстве главных компонент PC1 и PC2.</a:t>
            </a:r>
          </a:p>
          <a:p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значения используются для автоматического вычисления параметров эпидемиологической модели:</a:t>
            </a:r>
          </a:p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— коэффициент заражаемости;</a:t>
            </a:r>
          </a:p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— коэффициент выздоровления;</a:t>
            </a:r>
          </a:p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 — коэффициент угасания иммунитета.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732AFB-7DAD-4D12-A214-9C9982EA463E}"/>
              </a:ext>
            </a:extLst>
          </p:cNvPr>
          <p:cNvSpPr txBox="1"/>
          <p:nvPr/>
        </p:nvSpPr>
        <p:spPr>
          <a:xfrm>
            <a:off x="623303" y="6893199"/>
            <a:ext cx="124523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подхода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исключается ручной подбор параметров модели;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сокращается время настройки для каждого региона;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уменьшается вычислительная нагрузка;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появляется возможность оперативного прогнозирования новых волн заболевания.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Практический результат</a:t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PCA позволяет перейти от сложного процесса настройки модели к автоматическому расчету параметров на основе статистических данных. Благодаря этому модель может быть использована для анализа большого количества регионов в режиме реального времени.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642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/>
        </p:nvSpPr>
        <p:spPr>
          <a:xfrm>
            <a:off x="6717571" y="526537"/>
            <a:ext cx="5369307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Helvetica Neue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Имитационное моделирование распространения эпидемии с учетом приобретенного иммунитет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11228071" y="994629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ru-RU" sz="23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Выводы</a:t>
            </a:r>
          </a:p>
        </p:txBody>
      </p:sp>
      <p:sp>
        <p:nvSpPr>
          <p:cNvPr id="71" name="Google Shape;71;p7"/>
          <p:cNvSpPr txBox="1"/>
          <p:nvPr/>
        </p:nvSpPr>
        <p:spPr>
          <a:xfrm>
            <a:off x="2207071" y="994629"/>
            <a:ext cx="45105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Информационные системы и технологии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E101B0-F007-4F08-82E7-076418FAC5E3}"/>
              </a:ext>
            </a:extLst>
          </p:cNvPr>
          <p:cNvSpPr txBox="1"/>
          <p:nvPr/>
        </p:nvSpPr>
        <p:spPr>
          <a:xfrm>
            <a:off x="789709" y="2949476"/>
            <a:ext cx="22278109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 исследования</a:t>
            </a:r>
          </a:p>
          <a:p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Проведен анализ классических эпидемиологических моделей и показано, что модели SIR и SEIR не позволяют учитывать повторные волны заболеваемости.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Обоснована целесообразность использования модели SIRS, учитывающей постепенное угасание приобретенного иммунитета.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Для обработки эпидемиологических данных применен метод главных компонент (PCA), позволяющий снизить размерность данных и устранить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мультиколлинеарность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Установлено, что первые две главные компоненты объясняют 99,4% дисперсии исходных данных, сохраняя практически всю полезную информацию.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Разработан подход к автоматической калибровке параметров модели SIRS на основе результатов PCA.</a:t>
            </a:r>
          </a:p>
          <a:p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настройки эпидемиологических моделей;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вычислительных затрат;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скорости прогнозирования;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использования в системах поддержки принятия решений в здравоохранении.</a:t>
            </a:r>
          </a:p>
        </p:txBody>
      </p:sp>
    </p:spTree>
    <p:extLst>
      <p:ext uri="{BB962C8B-B14F-4D97-AF65-F5344CB8AC3E}">
        <p14:creationId xmlns:p14="http://schemas.microsoft.com/office/powerpoint/2010/main" val="1996654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733</Words>
  <Application>Microsoft Office PowerPoint</Application>
  <PresentationFormat>Произвольный</PresentationFormat>
  <Paragraphs>67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-apple-system</vt:lpstr>
      <vt:lpstr>Helvetica Neue</vt:lpstr>
      <vt:lpstr>Arial</vt:lpstr>
      <vt:lpstr>Times New Roman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xz_xzeev</dc:creator>
  <cp:lastModifiedBy>Tanya Radchuk</cp:lastModifiedBy>
  <cp:revision>25</cp:revision>
  <dcterms:modified xsi:type="dcterms:W3CDTF">2026-06-14T11:31:42Z</dcterms:modified>
</cp:coreProperties>
</file>